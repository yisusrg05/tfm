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24697" autoAdjust="0"/>
  </p:normalViewPr>
  <p:slideViewPr>
    <p:cSldViewPr snapToGrid="0">
      <p:cViewPr varScale="1">
        <p:scale>
          <a:sx n="27" d="100"/>
          <a:sy n="27" d="100"/>
        </p:scale>
        <p:origin x="404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r>
              <a:rPr lang="es-ES" sz="1725" b="1" noProof="0" dirty="0">
                <a:solidFill>
                  <a:srgbClr val="004479"/>
                </a:solidFill>
                <a:latin typeface="Malacitana-Sans"/>
                <a:ea typeface="Malacitana-Sans"/>
                <a:cs typeface="Malacitana-Sans"/>
              </a:rPr>
              <a:t>Riesgo acumulado por intento</a:t>
            </a:r>
          </a:p>
        </c:rich>
      </c:tx>
      <c:overlay val="0"/>
    </c:title>
    <c:autoTitleDeleted val="0"/>
    <c:plotArea>
      <c:layout/>
      <c:barChart>
        <c:barDir val="col"/>
        <c:grouping val="clustered"/>
        <c:varyColors val="0"/>
        <c:ser>
          <c:idx val="0"/>
          <c:order val="0"/>
          <c:tx>
            <c:v>Riesgo</c:v>
          </c:tx>
          <c:spPr>
            <a:solidFill>
              <a:srgbClr val="00AAD6"/>
            </a:solidFill>
          </c:spPr>
          <c:invertIfNegative val="1"/>
          <c:dLbls>
            <c:spPr>
              <a:noFill/>
              <a:ln>
                <a:noFill/>
              </a:ln>
              <a:effectLst/>
            </c:spPr>
            <c:txPr>
              <a:bodyPr anchorCtr="1"/>
              <a:lstStyle/>
              <a:p>
                <a:pPr>
                  <a:defRPr sz="1500">
                    <a:solidFill>
                      <a:srgbClr val="004479"/>
                    </a:solidFill>
                    <a:latin typeface="Malacitana-Sans"/>
                    <a:ea typeface="Malacitana-Sans"/>
                    <a:cs typeface="Malacitana-San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Data'!$A$2:$A$6</c:f>
              <c:numCache>
                <c:formatCode>General</c:formatCode>
                <c:ptCount val="5"/>
                <c:pt idx="0">
                  <c:v>1</c:v>
                </c:pt>
                <c:pt idx="1">
                  <c:v>2</c:v>
                </c:pt>
                <c:pt idx="2">
                  <c:v>3</c:v>
                </c:pt>
                <c:pt idx="3">
                  <c:v>4</c:v>
                </c:pt>
                <c:pt idx="4">
                  <c:v>5</c:v>
                </c:pt>
              </c:numCache>
            </c:numRef>
          </c:cat>
          <c:val>
            <c:numRef>
              <c:f>'Chart Data'!$B$2:$B$6</c:f>
              <c:numCache>
                <c:formatCode>General</c:formatCode>
                <c:ptCount val="5"/>
                <c:pt idx="0">
                  <c:v>0</c:v>
                </c:pt>
                <c:pt idx="1">
                  <c:v>25</c:v>
                </c:pt>
                <c:pt idx="2">
                  <c:v>50</c:v>
                </c:pt>
                <c:pt idx="3">
                  <c:v>75</c:v>
                </c:pt>
                <c:pt idx="4">
                  <c:v>100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983-4F44-B8D4-DDDDF4E22F69}"/>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title>
          <c:tx>
            <c:rich>
              <a:bodyPr/>
              <a:lstStyle/>
              <a:p>
                <a:r>
                  <a:rPr lang="es-ES" sz="1500" noProof="0" dirty="0">
                    <a:solidFill>
                      <a:srgbClr val="004479"/>
                    </a:solidFill>
                    <a:latin typeface="Malacitana-Sans"/>
                    <a:ea typeface="Malacitana-Sans"/>
                    <a:cs typeface="Malacitana-Sans"/>
                  </a:rPr>
                  <a:t>Intento adicional</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004479"/>
                </a:solidFill>
                <a:latin typeface="Malacitana-Sans"/>
                <a:ea typeface="Malacitana-Sans"/>
                <a:cs typeface="Malacitana-Sans"/>
              </a:defRPr>
            </a:pPr>
            <a:endParaRPr lang="es-ES"/>
          </a:p>
        </c:txPr>
        <c:crossAx val="48672768"/>
        <c:crosses val="autoZero"/>
        <c:auto val="1"/>
        <c:lblAlgn val="ctr"/>
        <c:lblOffset val="100"/>
        <c:noMultiLvlLbl val="1"/>
      </c:catAx>
      <c:valAx>
        <c:axId val="48672768"/>
        <c:scaling>
          <c:orientation val="minMax"/>
          <c:max val="100"/>
          <c:min val="0"/>
        </c:scaling>
        <c:delete val="0"/>
        <c:axPos val="l"/>
        <c:majorGridlines>
          <c:spPr>
            <a:ln w="9525">
              <a:solidFill>
                <a:srgbClr val="DAE5EB"/>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004479"/>
                </a:solidFill>
                <a:latin typeface="Malacitana-Sans"/>
                <a:ea typeface="Malacitana-Sans"/>
                <a:cs typeface="Malacitana-Sans"/>
              </a:defRPr>
            </a:pPr>
            <a:endParaRPr lang="es-ES"/>
          </a:p>
        </c:txPr>
        <c:crossAx val="48650112"/>
        <c:crosses val="autoZero"/>
        <c:crossBetween val="between"/>
        <c:majorUnit val="25"/>
      </c:valAx>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r>
              <a:rPr lang="es-ES" sz="1950" b="1" noProof="0" dirty="0">
                <a:solidFill>
                  <a:srgbClr val="004479"/>
                </a:solidFill>
                <a:latin typeface="Malacitana-Sans"/>
                <a:ea typeface="Malacitana-Sans"/>
                <a:cs typeface="Malacitana-Sans"/>
              </a:rPr>
              <a:t>Mediana por operación (ms)</a:t>
            </a:r>
          </a:p>
        </c:rich>
      </c:tx>
      <c:overlay val="0"/>
    </c:title>
    <c:autoTitleDeleted val="0"/>
    <c:plotArea>
      <c:layout/>
      <c:barChart>
        <c:barDir val="col"/>
        <c:grouping val="clustered"/>
        <c:varyColors val="0"/>
        <c:ser>
          <c:idx val="0"/>
          <c:order val="0"/>
          <c:tx>
            <c:v>Fase 1</c:v>
          </c:tx>
          <c:spPr>
            <a:solidFill>
              <a:srgbClr val="004479"/>
            </a:solidFill>
          </c:spPr>
          <c:invertIfNegative val="1"/>
          <c:dLbls>
            <c:spPr>
              <a:noFill/>
              <a:ln>
                <a:noFill/>
              </a:ln>
              <a:effectLst/>
            </c:spPr>
            <c:txPr>
              <a:bodyPr anchorCtr="1"/>
              <a:lstStyle/>
              <a:p>
                <a:pPr>
                  <a:defRPr sz="1500">
                    <a:solidFill>
                      <a:srgbClr val="004479"/>
                    </a:solidFill>
                    <a:latin typeface="Malacitana-Sans"/>
                    <a:ea typeface="Malacitana-Sans"/>
                    <a:cs typeface="Malacitana-San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Heartbeat</c:v>
                </c:pt>
                <c:pt idx="1">
                  <c:v>Manifiesto</c:v>
                </c:pt>
              </c:strCache>
            </c:strRef>
          </c:cat>
          <c:val>
            <c:numRef>
              <c:f>'Chart Data'!$B$2:$B$3</c:f>
              <c:numCache>
                <c:formatCode>0.000</c:formatCode>
                <c:ptCount val="2"/>
                <c:pt idx="0">
                  <c:v>9.3469999999999995</c:v>
                </c:pt>
                <c:pt idx="1">
                  <c:v>44.165999999999997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2FF-447C-931A-BB0F549FD4C5}"/>
            </c:ext>
          </c:extLst>
        </c:ser>
        <c:ser>
          <c:idx val="1"/>
          <c:order val="1"/>
          <c:tx>
            <c:v>Fase 2</c:v>
          </c:tx>
          <c:spPr>
            <a:solidFill>
              <a:srgbClr val="00AAD6"/>
            </a:solidFill>
          </c:spPr>
          <c:invertIfNegative val="1"/>
          <c:dLbls>
            <c:spPr>
              <a:noFill/>
              <a:ln>
                <a:noFill/>
              </a:ln>
              <a:effectLst/>
            </c:spPr>
            <c:txPr>
              <a:bodyPr anchorCtr="1"/>
              <a:lstStyle/>
              <a:p>
                <a:pPr>
                  <a:defRPr sz="1500">
                    <a:solidFill>
                      <a:srgbClr val="004479"/>
                    </a:solidFill>
                    <a:latin typeface="Malacitana-Sans"/>
                    <a:ea typeface="Malacitana-Sans"/>
                    <a:cs typeface="Malacitana-San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Heartbeat</c:v>
                </c:pt>
                <c:pt idx="1">
                  <c:v>Manifiesto</c:v>
                </c:pt>
              </c:strCache>
            </c:strRef>
          </c:cat>
          <c:val>
            <c:numRef>
              <c:f>'Chart Data'!$D$2:$D$3</c:f>
              <c:numCache>
                <c:formatCode>0.000</c:formatCode>
                <c:ptCount val="2"/>
                <c:pt idx="0">
                  <c:v>19.594999999999999</c:v>
                </c:pt>
                <c:pt idx="1">
                  <c:v>84.614000000000004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2FF-447C-931A-BB0F549FD4C5}"/>
            </c:ext>
          </c:extLst>
        </c:ser>
        <c:dLbls>
          <c:dLblPos val="outEnd"/>
          <c:showLegendKey val="0"/>
          <c:showVal val="1"/>
          <c:showCatName val="0"/>
          <c:showSerName val="0"/>
          <c:showPercent val="0"/>
          <c:showBubbleSize val="0"/>
        </c:dLbls>
        <c:gapWidth val="1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004479"/>
                </a:solidFill>
                <a:latin typeface="Malacitana-Sans"/>
                <a:ea typeface="Malacitana-Sans"/>
                <a:cs typeface="Malacitana-Sans"/>
              </a:defRPr>
            </a:pPr>
            <a:endParaRPr lang="es-ES"/>
          </a:p>
        </c:txPr>
        <c:crossAx val="48672768"/>
        <c:crosses val="autoZero"/>
        <c:auto val="1"/>
        <c:lblAlgn val="ctr"/>
        <c:lblOffset val="100"/>
        <c:noMultiLvlLbl val="1"/>
      </c:catAx>
      <c:valAx>
        <c:axId val="48672768"/>
        <c:scaling>
          <c:orientation val="minMax"/>
          <c:max val="100"/>
          <c:min val="0"/>
        </c:scaling>
        <c:delete val="0"/>
        <c:axPos val="l"/>
        <c:majorGridlines>
          <c:spPr>
            <a:ln w="9525">
              <a:solidFill>
                <a:srgbClr val="DAE5EB"/>
              </a:solidFill>
            </a:ln>
          </c:spPr>
        </c:majorGridlines>
        <c:numFmt formatCode="0.000" sourceLinked="1"/>
        <c:majorTickMark val="none"/>
        <c:minorTickMark val="none"/>
        <c:tickLblPos val="nextTo"/>
        <c:spPr>
          <a:ln w="9525">
            <a:solidFill>
              <a:srgbClr val="D4D4D4"/>
            </a:solidFill>
            <a:prstDash val="solid"/>
          </a:ln>
        </c:spPr>
        <c:txPr>
          <a:bodyPr anchorCtr="1"/>
          <a:lstStyle/>
          <a:p>
            <a:pPr>
              <a:defRPr sz="1500">
                <a:solidFill>
                  <a:srgbClr val="004479"/>
                </a:solidFill>
                <a:latin typeface="Malacitana-Sans"/>
                <a:ea typeface="Malacitana-Sans"/>
                <a:cs typeface="Malacitana-Sans"/>
              </a:defRPr>
            </a:pPr>
            <a:endParaRPr lang="es-ES"/>
          </a:p>
        </c:txPr>
        <c:crossAx val="48650112"/>
        <c:crosses val="autoZero"/>
        <c:crossBetween val="between"/>
        <c:majorUnit val="25"/>
      </c:valAx>
    </c:plotArea>
    <c:legend>
      <c:legendPos val="b"/>
      <c:overlay val="0"/>
      <c:txPr>
        <a:bodyPr anchorCtr="1"/>
        <a:lstStyle/>
        <a:p>
          <a:pPr>
            <a:defRPr sz="1500">
              <a:solidFill>
                <a:srgbClr val="004479"/>
              </a:solidFill>
              <a:latin typeface="Malacitana-Sans"/>
              <a:ea typeface="Malacitana-Sans"/>
              <a:cs typeface="Malacitana-Sans"/>
            </a:defRPr>
          </a:pPr>
          <a:endParaRPr lang="es-ES"/>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00:00–00:20.</a:t>
            </a:r>
          </a:p>
          <a:p>
            <a:endParaRPr/>
          </a:p>
          <a:p>
            <a:r>
              <a:t>Buenos días. Soy Jesús Ramírez Gálvez y presento mi Trabajo Fin de Máster sobre la evaluación de seguridad de ecosistemas Widevine DRM y el diseño de una arquitectura de defensa en profundidad para el streaming en directo.</a:t>
            </a:r>
          </a:p>
          <a:p>
            <a:endParaRPr/>
          </a:p>
          <a:p>
            <a:r>
              <a:t>Cerrar la introducción con la pregunta central y pasar directamente a los objetivos.</a:t>
            </a:r>
          </a:p>
          <a:p>
            <a:endParaRPr/>
          </a:p>
          <a:p>
            <a:r>
              <a:t>Fuente: Guion_defensa_TFM.docx, bloque 1. Capítulo 1 · Contexto, problema e hipótesis.</a:t>
            </a:r>
          </a:p>
          <a:p>
            <a:r>
              <a:t>
Créditos tipográficos: Malacitana© y Malacitana-Sans© son tipografías desarrolladas para la Universidad de Málaga con el soporte del proyecto de investigación “Mapas de Transferencias del Diseño” (2017-2019), Plan propio de la Universidad de Málaga. Fuente: https://www.uma.es/tipografia-malacitana/info/126321/descarga/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Tiempo: 00:20–01:00.</a:t>
            </a:r>
          </a:p>
          <a:p>
            <a:endParaRPr dirty="0"/>
          </a:p>
          <a:p>
            <a:r>
              <a:rPr dirty="0"/>
              <a:t>El punto de </a:t>
            </a:r>
            <a:r>
              <a:rPr dirty="0" err="1"/>
              <a:t>partida</a:t>
            </a:r>
            <a:r>
              <a:rPr dirty="0"/>
              <a:t> es un </a:t>
            </a:r>
            <a:r>
              <a:rPr dirty="0" err="1"/>
              <a:t>problema</a:t>
            </a:r>
            <a:r>
              <a:rPr dirty="0"/>
              <a:t> </a:t>
            </a:r>
            <a:r>
              <a:rPr dirty="0" err="1"/>
              <a:t>concreto</a:t>
            </a:r>
            <a:r>
              <a:rPr dirty="0"/>
              <a:t>: </a:t>
            </a:r>
            <a:r>
              <a:rPr dirty="0" err="1"/>
              <a:t>una</a:t>
            </a:r>
            <a:r>
              <a:rPr dirty="0"/>
              <a:t> </a:t>
            </a:r>
            <a:r>
              <a:rPr dirty="0" err="1"/>
              <a:t>plataforma</a:t>
            </a:r>
            <a:r>
              <a:rPr dirty="0"/>
              <a:t> </a:t>
            </a:r>
            <a:r>
              <a:rPr dirty="0" err="1"/>
              <a:t>puede</a:t>
            </a:r>
            <a:r>
              <a:rPr dirty="0"/>
              <a:t> </a:t>
            </a:r>
            <a:r>
              <a:rPr dirty="0" err="1"/>
              <a:t>distribuir</a:t>
            </a:r>
            <a:r>
              <a:rPr dirty="0"/>
              <a:t> </a:t>
            </a:r>
            <a:r>
              <a:rPr dirty="0" err="1"/>
              <a:t>vídeo</a:t>
            </a:r>
            <a:r>
              <a:rPr dirty="0"/>
              <a:t> </a:t>
            </a:r>
            <a:r>
              <a:rPr dirty="0" err="1"/>
              <a:t>cifrado</a:t>
            </a:r>
            <a:r>
              <a:rPr dirty="0"/>
              <a:t> y, </a:t>
            </a:r>
            <a:r>
              <a:rPr dirty="0" err="1"/>
              <a:t>aun</a:t>
            </a:r>
            <a:r>
              <a:rPr dirty="0"/>
              <a:t> </a:t>
            </a:r>
            <a:r>
              <a:rPr dirty="0" err="1"/>
              <a:t>así</a:t>
            </a:r>
            <a:r>
              <a:rPr dirty="0"/>
              <a:t>, </a:t>
            </a:r>
            <a:r>
              <a:rPr dirty="0" err="1"/>
              <a:t>permitir</a:t>
            </a:r>
            <a:r>
              <a:rPr dirty="0"/>
              <a:t> </a:t>
            </a:r>
            <a:r>
              <a:rPr dirty="0" err="1"/>
              <a:t>que</a:t>
            </a:r>
            <a:r>
              <a:rPr dirty="0"/>
              <a:t> se </a:t>
            </a:r>
            <a:r>
              <a:rPr dirty="0" err="1"/>
              <a:t>obtengan</a:t>
            </a:r>
            <a:r>
              <a:rPr dirty="0"/>
              <a:t> </a:t>
            </a:r>
            <a:r>
              <a:rPr dirty="0" err="1"/>
              <a:t>licencias</a:t>
            </a:r>
            <a:r>
              <a:rPr dirty="0"/>
              <a:t> o se </a:t>
            </a:r>
            <a:r>
              <a:rPr dirty="0" err="1"/>
              <a:t>utilice</a:t>
            </a:r>
            <a:r>
              <a:rPr dirty="0"/>
              <a:t> </a:t>
            </a:r>
            <a:r>
              <a:rPr dirty="0" err="1"/>
              <a:t>su</a:t>
            </a:r>
            <a:r>
              <a:rPr dirty="0"/>
              <a:t> </a:t>
            </a:r>
            <a:r>
              <a:rPr dirty="0" err="1"/>
              <a:t>infraestructura</a:t>
            </a:r>
            <a:r>
              <a:rPr dirty="0"/>
              <a:t> fuera del </a:t>
            </a:r>
            <a:r>
              <a:rPr dirty="0" err="1"/>
              <a:t>contexto</a:t>
            </a:r>
            <a:r>
              <a:rPr dirty="0"/>
              <a:t> </a:t>
            </a:r>
            <a:r>
              <a:rPr dirty="0" err="1"/>
              <a:t>autorizado</a:t>
            </a:r>
            <a:r>
              <a:rPr dirty="0"/>
              <a:t>. Esto </a:t>
            </a:r>
            <a:r>
              <a:rPr dirty="0" err="1"/>
              <a:t>afecta</a:t>
            </a:r>
            <a:r>
              <a:rPr dirty="0"/>
              <a:t> al </a:t>
            </a:r>
            <a:r>
              <a:rPr dirty="0" err="1"/>
              <a:t>acceso</a:t>
            </a:r>
            <a:r>
              <a:rPr dirty="0"/>
              <a:t> al </a:t>
            </a:r>
            <a:r>
              <a:rPr dirty="0" err="1"/>
              <a:t>contenido</a:t>
            </a:r>
            <a:r>
              <a:rPr dirty="0"/>
              <a:t>, al </a:t>
            </a:r>
            <a:r>
              <a:rPr dirty="0" err="1"/>
              <a:t>uso</a:t>
            </a:r>
            <a:r>
              <a:rPr dirty="0"/>
              <a:t> de las </a:t>
            </a:r>
            <a:r>
              <a:rPr dirty="0" err="1"/>
              <a:t>cuentas</a:t>
            </a:r>
            <a:r>
              <a:rPr dirty="0"/>
              <a:t> y al </a:t>
            </a:r>
            <a:r>
              <a:rPr dirty="0" err="1"/>
              <a:t>consumo</a:t>
            </a:r>
            <a:r>
              <a:rPr dirty="0"/>
              <a:t> de </a:t>
            </a:r>
            <a:r>
              <a:rPr dirty="0" err="1"/>
              <a:t>recursos</a:t>
            </a:r>
            <a:r>
              <a:rPr dirty="0"/>
              <a:t> de </a:t>
            </a:r>
            <a:r>
              <a:rPr dirty="0" err="1"/>
              <a:t>distribución</a:t>
            </a:r>
            <a:r>
              <a:rPr dirty="0"/>
              <a:t>.</a:t>
            </a:r>
          </a:p>
          <a:p>
            <a:endParaRPr dirty="0"/>
          </a:p>
          <a:p>
            <a:r>
              <a:rPr dirty="0"/>
              <a:t>La </a:t>
            </a:r>
            <a:r>
              <a:rPr dirty="0" err="1"/>
              <a:t>pregunta</a:t>
            </a:r>
            <a:r>
              <a:rPr dirty="0"/>
              <a:t> del </a:t>
            </a:r>
            <a:r>
              <a:rPr dirty="0" err="1"/>
              <a:t>trabajo</a:t>
            </a:r>
            <a:r>
              <a:rPr dirty="0"/>
              <a:t> es hasta </a:t>
            </a:r>
            <a:r>
              <a:rPr dirty="0" err="1"/>
              <a:t>qué</a:t>
            </a:r>
            <a:r>
              <a:rPr dirty="0"/>
              <a:t> punto </a:t>
            </a:r>
            <a:r>
              <a:rPr dirty="0" err="1"/>
              <a:t>Widevine</a:t>
            </a:r>
            <a:r>
              <a:rPr dirty="0"/>
              <a:t>, </a:t>
            </a:r>
            <a:r>
              <a:rPr dirty="0" err="1"/>
              <a:t>desplegado</a:t>
            </a:r>
            <a:r>
              <a:rPr dirty="0"/>
              <a:t> de forma </a:t>
            </a:r>
            <a:r>
              <a:rPr dirty="0" err="1"/>
              <a:t>aislada</a:t>
            </a:r>
            <a:r>
              <a:rPr dirty="0"/>
              <a:t>, </a:t>
            </a:r>
            <a:r>
              <a:rPr dirty="0" err="1"/>
              <a:t>ofrece</a:t>
            </a:r>
            <a:r>
              <a:rPr dirty="0"/>
              <a:t> </a:t>
            </a:r>
            <a:r>
              <a:rPr dirty="0" err="1"/>
              <a:t>seguridad</a:t>
            </a:r>
            <a:r>
              <a:rPr dirty="0"/>
              <a:t> </a:t>
            </a:r>
            <a:r>
              <a:rPr dirty="0" err="1"/>
              <a:t>suficiente</a:t>
            </a:r>
            <a:r>
              <a:rPr dirty="0"/>
              <a:t> </a:t>
            </a:r>
            <a:r>
              <a:rPr dirty="0" err="1"/>
              <a:t>frente</a:t>
            </a:r>
            <a:r>
              <a:rPr dirty="0"/>
              <a:t> a </a:t>
            </a:r>
            <a:r>
              <a:rPr dirty="0" err="1"/>
              <a:t>esos</a:t>
            </a:r>
            <a:r>
              <a:rPr dirty="0"/>
              <a:t> </a:t>
            </a:r>
            <a:r>
              <a:rPr dirty="0" err="1"/>
              <a:t>abusos</a:t>
            </a:r>
            <a:r>
              <a:rPr dirty="0"/>
              <a:t>. La </a:t>
            </a:r>
            <a:r>
              <a:rPr dirty="0" err="1"/>
              <a:t>hipótesis</a:t>
            </a:r>
            <a:r>
              <a:rPr dirty="0"/>
              <a:t> es </a:t>
            </a:r>
            <a:r>
              <a:rPr dirty="0" err="1"/>
              <a:t>que</a:t>
            </a:r>
            <a:r>
              <a:rPr dirty="0"/>
              <a:t> </a:t>
            </a:r>
            <a:r>
              <a:rPr dirty="0" err="1"/>
              <a:t>necesita</a:t>
            </a:r>
            <a:r>
              <a:rPr dirty="0"/>
              <a:t> </a:t>
            </a:r>
            <a:r>
              <a:rPr dirty="0" err="1"/>
              <a:t>controles</a:t>
            </a:r>
            <a:r>
              <a:rPr dirty="0"/>
              <a:t> </a:t>
            </a:r>
            <a:r>
              <a:rPr dirty="0" err="1"/>
              <a:t>adicionales</a:t>
            </a:r>
            <a:r>
              <a:rPr dirty="0"/>
              <a:t> de </a:t>
            </a:r>
            <a:r>
              <a:rPr dirty="0" err="1"/>
              <a:t>identidad</a:t>
            </a:r>
            <a:r>
              <a:rPr dirty="0"/>
              <a:t>, </a:t>
            </a:r>
            <a:r>
              <a:rPr dirty="0" err="1"/>
              <a:t>autorización</a:t>
            </a:r>
            <a:r>
              <a:rPr dirty="0"/>
              <a:t>, </a:t>
            </a:r>
            <a:r>
              <a:rPr dirty="0" err="1"/>
              <a:t>sesiones</a:t>
            </a:r>
            <a:r>
              <a:rPr dirty="0"/>
              <a:t> y </a:t>
            </a:r>
            <a:r>
              <a:rPr dirty="0" err="1"/>
              <a:t>detección</a:t>
            </a:r>
            <a:r>
              <a:rPr dirty="0"/>
              <a:t>. Para </a:t>
            </a:r>
            <a:r>
              <a:rPr dirty="0" err="1"/>
              <a:t>contrastarla</a:t>
            </a:r>
            <a:r>
              <a:rPr dirty="0"/>
              <a:t> he </a:t>
            </a:r>
            <a:r>
              <a:rPr dirty="0" err="1"/>
              <a:t>construido</a:t>
            </a:r>
            <a:r>
              <a:rPr dirty="0"/>
              <a:t> un </a:t>
            </a:r>
            <a:r>
              <a:rPr dirty="0" err="1"/>
              <a:t>laboratorio</a:t>
            </a:r>
            <a:r>
              <a:rPr dirty="0"/>
              <a:t>, </a:t>
            </a:r>
            <a:r>
              <a:rPr dirty="0" err="1"/>
              <a:t>auditado</a:t>
            </a:r>
            <a:r>
              <a:rPr dirty="0"/>
              <a:t> </a:t>
            </a:r>
            <a:r>
              <a:rPr dirty="0" err="1"/>
              <a:t>su</a:t>
            </a:r>
            <a:r>
              <a:rPr dirty="0"/>
              <a:t> </a:t>
            </a:r>
            <a:r>
              <a:rPr dirty="0" err="1"/>
              <a:t>configuración</a:t>
            </a:r>
            <a:r>
              <a:rPr dirty="0"/>
              <a:t> </a:t>
            </a:r>
            <a:r>
              <a:rPr dirty="0" err="1"/>
              <a:t>inicial</a:t>
            </a:r>
            <a:r>
              <a:rPr dirty="0"/>
              <a:t> y </a:t>
            </a:r>
            <a:r>
              <a:rPr dirty="0" err="1"/>
              <a:t>evaluado</a:t>
            </a:r>
            <a:r>
              <a:rPr dirty="0"/>
              <a:t> dos </a:t>
            </a:r>
            <a:r>
              <a:rPr dirty="0" err="1"/>
              <a:t>etapas</a:t>
            </a:r>
            <a:r>
              <a:rPr dirty="0"/>
              <a:t> de </a:t>
            </a:r>
            <a:r>
              <a:rPr dirty="0" err="1"/>
              <a:t>mejora</a:t>
            </a:r>
            <a:r>
              <a:rPr dirty="0"/>
              <a:t>.</a:t>
            </a:r>
          </a:p>
          <a:p>
            <a:endParaRPr dirty="0"/>
          </a:p>
          <a:p>
            <a:r>
              <a:rPr dirty="0" err="1"/>
              <a:t>Cerrar</a:t>
            </a:r>
            <a:r>
              <a:rPr dirty="0"/>
              <a:t> la </a:t>
            </a:r>
            <a:r>
              <a:rPr dirty="0" err="1"/>
              <a:t>introducción</a:t>
            </a:r>
            <a:r>
              <a:rPr dirty="0"/>
              <a:t> con la </a:t>
            </a:r>
            <a:r>
              <a:rPr dirty="0" err="1"/>
              <a:t>pregunta</a:t>
            </a:r>
            <a:r>
              <a:rPr dirty="0"/>
              <a:t> central y pasar </a:t>
            </a:r>
            <a:r>
              <a:rPr dirty="0" err="1"/>
              <a:t>directamente</a:t>
            </a:r>
            <a:r>
              <a:rPr dirty="0"/>
              <a:t> a </a:t>
            </a:r>
            <a:r>
              <a:rPr dirty="0" err="1"/>
              <a:t>los</a:t>
            </a:r>
            <a:r>
              <a:rPr dirty="0"/>
              <a:t> </a:t>
            </a:r>
            <a:r>
              <a:rPr dirty="0" err="1"/>
              <a:t>objetivos</a:t>
            </a:r>
            <a:r>
              <a:rPr dirty="0"/>
              <a:t>.</a:t>
            </a:r>
          </a:p>
          <a:p>
            <a:endParaRPr dirty="0"/>
          </a:p>
          <a:p>
            <a:r>
              <a:rPr dirty="0"/>
              <a:t>Fuente: Guion_defensa_TFM.docx, </a:t>
            </a:r>
            <a:r>
              <a:rPr dirty="0" err="1"/>
              <a:t>bloque</a:t>
            </a:r>
            <a:r>
              <a:rPr dirty="0"/>
              <a:t> 1. </a:t>
            </a:r>
            <a:r>
              <a:rPr dirty="0" err="1"/>
              <a:t>Capítulo</a:t>
            </a:r>
            <a:r>
              <a:rPr dirty="0"/>
              <a:t> 1 · </a:t>
            </a:r>
            <a:r>
              <a:rPr dirty="0" err="1"/>
              <a:t>Contexto</a:t>
            </a:r>
            <a:r>
              <a:rPr dirty="0"/>
              <a:t>, </a:t>
            </a:r>
            <a:r>
              <a:rPr dirty="0" err="1"/>
              <a:t>problema</a:t>
            </a:r>
            <a:r>
              <a:rPr dirty="0"/>
              <a:t> e </a:t>
            </a:r>
            <a:r>
              <a:rPr dirty="0" err="1"/>
              <a:t>hipótesis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Tiempo: 01:00–02:45.</a:t>
            </a:r>
          </a:p>
          <a:p>
            <a:endParaRPr dirty="0"/>
          </a:p>
          <a:p>
            <a:r>
              <a:rPr dirty="0"/>
              <a:t>El </a:t>
            </a:r>
            <a:r>
              <a:rPr dirty="0" err="1"/>
              <a:t>objetivo</a:t>
            </a:r>
            <a:r>
              <a:rPr dirty="0"/>
              <a:t> general ha </a:t>
            </a:r>
            <a:r>
              <a:rPr dirty="0" err="1"/>
              <a:t>sido</a:t>
            </a:r>
            <a:r>
              <a:rPr dirty="0"/>
              <a:t> </a:t>
            </a:r>
            <a:r>
              <a:rPr dirty="0" err="1"/>
              <a:t>diseñar</a:t>
            </a:r>
            <a:r>
              <a:rPr dirty="0"/>
              <a:t>, </a:t>
            </a:r>
            <a:r>
              <a:rPr dirty="0" err="1"/>
              <a:t>implementar</a:t>
            </a:r>
            <a:r>
              <a:rPr dirty="0"/>
              <a:t> y </a:t>
            </a:r>
            <a:r>
              <a:rPr dirty="0" err="1"/>
              <a:t>auditar</a:t>
            </a:r>
            <a:r>
              <a:rPr dirty="0"/>
              <a:t> un </a:t>
            </a:r>
            <a:r>
              <a:rPr dirty="0" err="1"/>
              <a:t>entorno</a:t>
            </a:r>
            <a:r>
              <a:rPr dirty="0"/>
              <a:t> experimental OTT con </a:t>
            </a:r>
            <a:r>
              <a:rPr dirty="0" err="1"/>
              <a:t>Widevine</a:t>
            </a:r>
            <a:r>
              <a:rPr dirty="0"/>
              <a:t> para </a:t>
            </a:r>
            <a:r>
              <a:rPr dirty="0" err="1"/>
              <a:t>estudiar</a:t>
            </a:r>
            <a:r>
              <a:rPr dirty="0"/>
              <a:t> sus </a:t>
            </a:r>
            <a:r>
              <a:rPr dirty="0" err="1"/>
              <a:t>límites</a:t>
            </a:r>
            <a:r>
              <a:rPr dirty="0"/>
              <a:t> de </a:t>
            </a:r>
            <a:r>
              <a:rPr dirty="0" err="1"/>
              <a:t>seguridad</a:t>
            </a:r>
            <a:r>
              <a:rPr dirty="0"/>
              <a:t> y </a:t>
            </a:r>
            <a:r>
              <a:rPr dirty="0" err="1"/>
              <a:t>desarrollar</a:t>
            </a:r>
            <a:r>
              <a:rPr dirty="0"/>
              <a:t> </a:t>
            </a:r>
            <a:r>
              <a:rPr dirty="0" err="1"/>
              <a:t>capas</a:t>
            </a:r>
            <a:r>
              <a:rPr dirty="0"/>
              <a:t> </a:t>
            </a:r>
            <a:r>
              <a:rPr dirty="0" err="1"/>
              <a:t>adicionales</a:t>
            </a:r>
            <a:r>
              <a:rPr dirty="0"/>
              <a:t> de defensa. La </a:t>
            </a:r>
            <a:r>
              <a:rPr dirty="0" err="1"/>
              <a:t>aplicación</a:t>
            </a:r>
            <a:r>
              <a:rPr dirty="0"/>
              <a:t> </a:t>
            </a:r>
            <a:r>
              <a:rPr dirty="0" err="1"/>
              <a:t>prevista</a:t>
            </a:r>
            <a:r>
              <a:rPr dirty="0"/>
              <a:t> es la </a:t>
            </a:r>
            <a:r>
              <a:rPr dirty="0" err="1"/>
              <a:t>protección</a:t>
            </a:r>
            <a:r>
              <a:rPr dirty="0"/>
              <a:t> del streaming </a:t>
            </a:r>
            <a:r>
              <a:rPr dirty="0" err="1"/>
              <a:t>en</a:t>
            </a:r>
            <a:r>
              <a:rPr dirty="0"/>
              <a:t> </a:t>
            </a:r>
            <a:r>
              <a:rPr dirty="0" err="1"/>
              <a:t>directo</a:t>
            </a:r>
            <a:r>
              <a:rPr dirty="0"/>
              <a:t>, </a:t>
            </a:r>
            <a:r>
              <a:rPr dirty="0" err="1"/>
              <a:t>aunque</a:t>
            </a:r>
            <a:r>
              <a:rPr dirty="0"/>
              <a:t> la </a:t>
            </a:r>
            <a:r>
              <a:rPr dirty="0" err="1"/>
              <a:t>validación</a:t>
            </a:r>
            <a:r>
              <a:rPr dirty="0"/>
              <a:t> del </a:t>
            </a:r>
            <a:r>
              <a:rPr dirty="0" err="1"/>
              <a:t>prototipo</a:t>
            </a:r>
            <a:r>
              <a:rPr dirty="0"/>
              <a:t> </a:t>
            </a:r>
            <a:r>
              <a:rPr dirty="0" err="1"/>
              <a:t>utiliza</a:t>
            </a:r>
            <a:r>
              <a:rPr dirty="0"/>
              <a:t> </a:t>
            </a:r>
            <a:r>
              <a:rPr dirty="0" err="1"/>
              <a:t>vídeos</a:t>
            </a:r>
            <a:r>
              <a:rPr dirty="0"/>
              <a:t> bajo </a:t>
            </a:r>
            <a:r>
              <a:rPr dirty="0" err="1"/>
              <a:t>demanda</a:t>
            </a:r>
            <a:r>
              <a:rPr dirty="0"/>
              <a:t> para </a:t>
            </a:r>
            <a:r>
              <a:rPr dirty="0" err="1"/>
              <a:t>aislar</a:t>
            </a:r>
            <a:r>
              <a:rPr dirty="0"/>
              <a:t> </a:t>
            </a:r>
            <a:r>
              <a:rPr dirty="0" err="1"/>
              <a:t>los</a:t>
            </a:r>
            <a:r>
              <a:rPr dirty="0"/>
              <a:t> </a:t>
            </a:r>
            <a:r>
              <a:rPr dirty="0" err="1"/>
              <a:t>controles</a:t>
            </a:r>
            <a:r>
              <a:rPr dirty="0"/>
              <a:t> de </a:t>
            </a:r>
            <a:r>
              <a:rPr dirty="0" err="1"/>
              <a:t>acceso</a:t>
            </a:r>
            <a:r>
              <a:rPr dirty="0"/>
              <a:t>.</a:t>
            </a:r>
          </a:p>
          <a:p>
            <a:endParaRPr dirty="0"/>
          </a:p>
          <a:p>
            <a:r>
              <a:rPr dirty="0"/>
              <a:t>Este </a:t>
            </a:r>
            <a:r>
              <a:rPr dirty="0" err="1"/>
              <a:t>objetivo</a:t>
            </a:r>
            <a:r>
              <a:rPr dirty="0"/>
              <a:t> se </a:t>
            </a:r>
            <a:r>
              <a:rPr dirty="0" err="1"/>
              <a:t>concreta</a:t>
            </a:r>
            <a:r>
              <a:rPr dirty="0"/>
              <a:t> </a:t>
            </a:r>
            <a:r>
              <a:rPr dirty="0" err="1"/>
              <a:t>en</a:t>
            </a:r>
            <a:r>
              <a:rPr dirty="0"/>
              <a:t> cuatro </a:t>
            </a:r>
            <a:r>
              <a:rPr dirty="0" err="1"/>
              <a:t>objetivos</a:t>
            </a:r>
            <a:r>
              <a:rPr dirty="0"/>
              <a:t> </a:t>
            </a:r>
            <a:r>
              <a:rPr dirty="0" err="1"/>
              <a:t>específicos</a:t>
            </a:r>
            <a:r>
              <a:rPr dirty="0"/>
              <a:t>. El primero es </a:t>
            </a:r>
            <a:r>
              <a:rPr dirty="0" err="1"/>
              <a:t>desplegar</a:t>
            </a:r>
            <a:r>
              <a:rPr dirty="0"/>
              <a:t> </a:t>
            </a:r>
            <a:r>
              <a:rPr dirty="0" err="1"/>
              <a:t>una</a:t>
            </a:r>
            <a:r>
              <a:rPr dirty="0"/>
              <a:t> </a:t>
            </a:r>
            <a:r>
              <a:rPr dirty="0" err="1"/>
              <a:t>infraestructura</a:t>
            </a:r>
            <a:r>
              <a:rPr dirty="0"/>
              <a:t> </a:t>
            </a:r>
            <a:r>
              <a:rPr dirty="0" err="1"/>
              <a:t>contenerizada</a:t>
            </a:r>
            <a:r>
              <a:rPr dirty="0"/>
              <a:t> </a:t>
            </a:r>
            <a:r>
              <a:rPr dirty="0" err="1"/>
              <a:t>que</a:t>
            </a:r>
            <a:r>
              <a:rPr dirty="0"/>
              <a:t> </a:t>
            </a:r>
            <a:r>
              <a:rPr dirty="0" err="1"/>
              <a:t>represente</a:t>
            </a:r>
            <a:r>
              <a:rPr dirty="0"/>
              <a:t> la </a:t>
            </a:r>
            <a:r>
              <a:rPr dirty="0" err="1"/>
              <a:t>cadena</a:t>
            </a:r>
            <a:r>
              <a:rPr dirty="0"/>
              <a:t> de </a:t>
            </a:r>
            <a:r>
              <a:rPr dirty="0" err="1"/>
              <a:t>distribución</a:t>
            </a:r>
            <a:r>
              <a:rPr dirty="0"/>
              <a:t>: </a:t>
            </a:r>
            <a:r>
              <a:rPr dirty="0" err="1"/>
              <a:t>empaquetado</a:t>
            </a:r>
            <a:r>
              <a:rPr dirty="0"/>
              <a:t> y </a:t>
            </a:r>
            <a:r>
              <a:rPr dirty="0" err="1"/>
              <a:t>cifrado</a:t>
            </a:r>
            <a:r>
              <a:rPr dirty="0"/>
              <a:t> CENC, </a:t>
            </a:r>
            <a:r>
              <a:rPr dirty="0" err="1"/>
              <a:t>origen</a:t>
            </a:r>
            <a:r>
              <a:rPr dirty="0"/>
              <a:t>, CDN y </a:t>
            </a:r>
            <a:r>
              <a:rPr dirty="0" err="1"/>
              <a:t>reproducción</a:t>
            </a:r>
            <a:r>
              <a:rPr dirty="0"/>
              <a:t>. El </a:t>
            </a:r>
            <a:r>
              <a:rPr dirty="0" err="1"/>
              <a:t>segundo</a:t>
            </a:r>
            <a:r>
              <a:rPr dirty="0"/>
              <a:t> es </a:t>
            </a:r>
            <a:r>
              <a:rPr dirty="0" err="1"/>
              <a:t>auditar</a:t>
            </a:r>
            <a:r>
              <a:rPr dirty="0"/>
              <a:t> el </a:t>
            </a:r>
            <a:r>
              <a:rPr dirty="0" err="1"/>
              <a:t>intercambio</a:t>
            </a:r>
            <a:r>
              <a:rPr dirty="0"/>
              <a:t> de </a:t>
            </a:r>
            <a:r>
              <a:rPr dirty="0" err="1"/>
              <a:t>licencias</a:t>
            </a:r>
            <a:r>
              <a:rPr dirty="0"/>
              <a:t> entre </a:t>
            </a:r>
            <a:r>
              <a:rPr dirty="0" err="1"/>
              <a:t>cliente</a:t>
            </a:r>
            <a:r>
              <a:rPr dirty="0"/>
              <a:t>, </a:t>
            </a:r>
            <a:r>
              <a:rPr dirty="0" err="1"/>
              <a:t>módulo</a:t>
            </a:r>
            <a:r>
              <a:rPr dirty="0"/>
              <a:t> de </a:t>
            </a:r>
            <a:r>
              <a:rPr dirty="0" err="1"/>
              <a:t>descifrado</a:t>
            </a:r>
            <a:r>
              <a:rPr dirty="0"/>
              <a:t> y </a:t>
            </a:r>
            <a:r>
              <a:rPr dirty="0" err="1"/>
              <a:t>servidor</a:t>
            </a:r>
            <a:r>
              <a:rPr dirty="0"/>
              <a:t>, e </a:t>
            </a:r>
            <a:r>
              <a:rPr dirty="0" err="1"/>
              <a:t>identificar</a:t>
            </a:r>
            <a:r>
              <a:rPr dirty="0"/>
              <a:t> </a:t>
            </a:r>
            <a:r>
              <a:rPr dirty="0" err="1"/>
              <a:t>rutas</a:t>
            </a:r>
            <a:r>
              <a:rPr dirty="0"/>
              <a:t> de </a:t>
            </a:r>
            <a:r>
              <a:rPr dirty="0" err="1"/>
              <a:t>abuso</a:t>
            </a:r>
            <a:r>
              <a:rPr dirty="0"/>
              <a:t> </a:t>
            </a:r>
            <a:r>
              <a:rPr dirty="0" err="1"/>
              <a:t>reproducibles</a:t>
            </a:r>
            <a:r>
              <a:rPr dirty="0"/>
              <a:t>.</a:t>
            </a:r>
          </a:p>
          <a:p>
            <a:endParaRPr dirty="0"/>
          </a:p>
          <a:p>
            <a:r>
              <a:rPr dirty="0"/>
              <a:t>El </a:t>
            </a:r>
            <a:r>
              <a:rPr dirty="0" err="1"/>
              <a:t>tercero</a:t>
            </a:r>
            <a:r>
              <a:rPr dirty="0"/>
              <a:t> es </a:t>
            </a:r>
            <a:r>
              <a:rPr dirty="0" err="1"/>
              <a:t>desarrollar</a:t>
            </a:r>
            <a:r>
              <a:rPr dirty="0"/>
              <a:t> un proxy con </a:t>
            </a:r>
            <a:r>
              <a:rPr dirty="0" err="1"/>
              <a:t>autorización</a:t>
            </a:r>
            <a:r>
              <a:rPr dirty="0"/>
              <a:t> </a:t>
            </a:r>
            <a:r>
              <a:rPr dirty="0" err="1"/>
              <a:t>dinámica</a:t>
            </a:r>
            <a:r>
              <a:rPr dirty="0"/>
              <a:t>, de modo </a:t>
            </a:r>
            <a:r>
              <a:rPr dirty="0" err="1"/>
              <a:t>que</a:t>
            </a:r>
            <a:r>
              <a:rPr dirty="0"/>
              <a:t> la </a:t>
            </a:r>
            <a:r>
              <a:rPr dirty="0" err="1"/>
              <a:t>entrega</a:t>
            </a:r>
            <a:r>
              <a:rPr dirty="0"/>
              <a:t> de </a:t>
            </a:r>
            <a:r>
              <a:rPr dirty="0" err="1"/>
              <a:t>licencias</a:t>
            </a:r>
            <a:r>
              <a:rPr dirty="0"/>
              <a:t> </a:t>
            </a:r>
            <a:r>
              <a:rPr dirty="0" err="1"/>
              <a:t>dependa</a:t>
            </a:r>
            <a:r>
              <a:rPr dirty="0"/>
              <a:t> de la </a:t>
            </a:r>
            <a:r>
              <a:rPr dirty="0" err="1"/>
              <a:t>identidad</a:t>
            </a:r>
            <a:r>
              <a:rPr dirty="0"/>
              <a:t> y </a:t>
            </a:r>
            <a:r>
              <a:rPr dirty="0" err="1"/>
              <a:t>los</a:t>
            </a:r>
            <a:r>
              <a:rPr dirty="0"/>
              <a:t> </a:t>
            </a:r>
            <a:r>
              <a:rPr dirty="0" err="1"/>
              <a:t>permisos</a:t>
            </a:r>
            <a:r>
              <a:rPr dirty="0"/>
              <a:t> del </a:t>
            </a:r>
            <a:r>
              <a:rPr dirty="0" err="1"/>
              <a:t>usuario</a:t>
            </a:r>
            <a:r>
              <a:rPr dirty="0"/>
              <a:t>. El </a:t>
            </a:r>
            <a:r>
              <a:rPr dirty="0" err="1"/>
              <a:t>cuarto</a:t>
            </a:r>
            <a:r>
              <a:rPr dirty="0"/>
              <a:t> es </a:t>
            </a:r>
            <a:r>
              <a:rPr dirty="0" err="1"/>
              <a:t>incorporar</a:t>
            </a:r>
            <a:r>
              <a:rPr dirty="0"/>
              <a:t> control de </a:t>
            </a:r>
            <a:r>
              <a:rPr dirty="0" err="1"/>
              <a:t>concurrencia</a:t>
            </a:r>
            <a:r>
              <a:rPr dirty="0"/>
              <a:t> y </a:t>
            </a:r>
            <a:r>
              <a:rPr dirty="0" err="1"/>
              <a:t>detección</a:t>
            </a:r>
            <a:r>
              <a:rPr dirty="0"/>
              <a:t> de </a:t>
            </a:r>
            <a:r>
              <a:rPr dirty="0" err="1"/>
              <a:t>anomalías</a:t>
            </a:r>
            <a:r>
              <a:rPr dirty="0"/>
              <a:t>, con </a:t>
            </a:r>
            <a:r>
              <a:rPr dirty="0" err="1"/>
              <a:t>capacidad</a:t>
            </a:r>
            <a:r>
              <a:rPr dirty="0"/>
              <a:t> para </a:t>
            </a:r>
            <a:r>
              <a:rPr dirty="0" err="1"/>
              <a:t>bloquear</a:t>
            </a:r>
            <a:r>
              <a:rPr dirty="0"/>
              <a:t> </a:t>
            </a:r>
            <a:r>
              <a:rPr dirty="0" err="1"/>
              <a:t>accesos</a:t>
            </a:r>
            <a:r>
              <a:rPr dirty="0"/>
              <a:t> y </a:t>
            </a:r>
            <a:r>
              <a:rPr dirty="0" err="1"/>
              <a:t>comprobar</a:t>
            </a:r>
            <a:r>
              <a:rPr dirty="0"/>
              <a:t> </a:t>
            </a:r>
            <a:r>
              <a:rPr dirty="0" err="1"/>
              <a:t>posteriormente</a:t>
            </a:r>
            <a:r>
              <a:rPr dirty="0"/>
              <a:t> la </a:t>
            </a:r>
            <a:r>
              <a:rPr dirty="0" err="1"/>
              <a:t>recuperación</a:t>
            </a:r>
            <a:r>
              <a:rPr dirty="0"/>
              <a:t>.</a:t>
            </a:r>
          </a:p>
          <a:p>
            <a:endParaRPr dirty="0"/>
          </a:p>
          <a:p>
            <a:r>
              <a:rPr dirty="0" err="1"/>
              <a:t>Conviene</a:t>
            </a:r>
            <a:r>
              <a:rPr dirty="0"/>
              <a:t> </a:t>
            </a:r>
            <a:r>
              <a:rPr dirty="0" err="1"/>
              <a:t>precisar</a:t>
            </a:r>
            <a:r>
              <a:rPr dirty="0"/>
              <a:t> </a:t>
            </a:r>
            <a:r>
              <a:rPr dirty="0" err="1"/>
              <a:t>cómo</a:t>
            </a:r>
            <a:r>
              <a:rPr dirty="0"/>
              <a:t> se </a:t>
            </a:r>
            <a:r>
              <a:rPr dirty="0" err="1"/>
              <a:t>materializaron</a:t>
            </a:r>
            <a:r>
              <a:rPr dirty="0"/>
              <a:t> </a:t>
            </a:r>
            <a:r>
              <a:rPr dirty="0" err="1"/>
              <a:t>algunos</a:t>
            </a:r>
            <a:r>
              <a:rPr dirty="0"/>
              <a:t> </a:t>
            </a:r>
            <a:r>
              <a:rPr dirty="0" err="1"/>
              <a:t>elementos</a:t>
            </a:r>
            <a:r>
              <a:rPr dirty="0"/>
              <a:t> del </a:t>
            </a:r>
            <a:r>
              <a:rPr dirty="0" err="1"/>
              <a:t>planteamiento</a:t>
            </a:r>
            <a:r>
              <a:rPr dirty="0"/>
              <a:t> </a:t>
            </a:r>
            <a:r>
              <a:rPr dirty="0" err="1"/>
              <a:t>inicial</a:t>
            </a:r>
            <a:r>
              <a:rPr dirty="0"/>
              <a:t>. Se </a:t>
            </a:r>
            <a:r>
              <a:rPr dirty="0" err="1"/>
              <a:t>implementaron</a:t>
            </a:r>
            <a:r>
              <a:rPr dirty="0"/>
              <a:t> </a:t>
            </a:r>
            <a:r>
              <a:rPr dirty="0" err="1"/>
              <a:t>credenciales</a:t>
            </a:r>
            <a:r>
              <a:rPr dirty="0"/>
              <a:t> </a:t>
            </a:r>
            <a:r>
              <a:rPr dirty="0" err="1"/>
              <a:t>firmadas</a:t>
            </a:r>
            <a:r>
              <a:rPr dirty="0"/>
              <a:t> de </a:t>
            </a:r>
            <a:r>
              <a:rPr dirty="0" err="1"/>
              <a:t>formato</a:t>
            </a:r>
            <a:r>
              <a:rPr dirty="0"/>
              <a:t> </a:t>
            </a:r>
            <a:r>
              <a:rPr dirty="0" err="1"/>
              <a:t>simplificado</a:t>
            </a:r>
            <a:r>
              <a:rPr dirty="0"/>
              <a:t> y </a:t>
            </a:r>
            <a:r>
              <a:rPr dirty="0" err="1"/>
              <a:t>permisos</a:t>
            </a:r>
            <a:r>
              <a:rPr dirty="0"/>
              <a:t> </a:t>
            </a:r>
            <a:r>
              <a:rPr dirty="0" err="1"/>
              <a:t>por</a:t>
            </a:r>
            <a:r>
              <a:rPr dirty="0"/>
              <a:t> </a:t>
            </a:r>
            <a:r>
              <a:rPr dirty="0" err="1"/>
              <a:t>activo</a:t>
            </a:r>
            <a:r>
              <a:rPr dirty="0"/>
              <a:t>, sin </a:t>
            </a:r>
            <a:r>
              <a:rPr dirty="0" err="1"/>
              <a:t>integrar</a:t>
            </a:r>
            <a:r>
              <a:rPr dirty="0"/>
              <a:t> un </a:t>
            </a:r>
            <a:r>
              <a:rPr dirty="0" err="1"/>
              <a:t>proveedor</a:t>
            </a:r>
            <a:r>
              <a:rPr dirty="0"/>
              <a:t> </a:t>
            </a:r>
            <a:r>
              <a:rPr dirty="0" err="1"/>
              <a:t>completo</a:t>
            </a:r>
            <a:r>
              <a:rPr dirty="0"/>
              <a:t> de </a:t>
            </a:r>
            <a:r>
              <a:rPr dirty="0" err="1"/>
              <a:t>identidad</a:t>
            </a:r>
            <a:r>
              <a:rPr dirty="0"/>
              <a:t> o </a:t>
            </a:r>
            <a:r>
              <a:rPr dirty="0" err="1"/>
              <a:t>suscripciones</a:t>
            </a:r>
            <a:r>
              <a:rPr dirty="0"/>
              <a:t>. La </a:t>
            </a:r>
            <a:r>
              <a:rPr dirty="0" err="1"/>
              <a:t>ubicación</a:t>
            </a:r>
            <a:r>
              <a:rPr dirty="0"/>
              <a:t> </a:t>
            </a:r>
            <a:r>
              <a:rPr dirty="0" err="1"/>
              <a:t>geográfica</a:t>
            </a:r>
            <a:r>
              <a:rPr dirty="0"/>
              <a:t> se </a:t>
            </a:r>
            <a:r>
              <a:rPr dirty="0" err="1"/>
              <a:t>acotó</a:t>
            </a:r>
            <a:r>
              <a:rPr dirty="0"/>
              <a:t> a </a:t>
            </a:r>
            <a:r>
              <a:rPr dirty="0" err="1"/>
              <a:t>utilizar</a:t>
            </a:r>
            <a:r>
              <a:rPr dirty="0"/>
              <a:t> la IP </a:t>
            </a:r>
            <a:r>
              <a:rPr dirty="0" err="1"/>
              <a:t>como</a:t>
            </a:r>
            <a:r>
              <a:rPr dirty="0"/>
              <a:t> </a:t>
            </a:r>
            <a:r>
              <a:rPr dirty="0" err="1"/>
              <a:t>señal</a:t>
            </a:r>
            <a:r>
              <a:rPr dirty="0"/>
              <a:t> de </a:t>
            </a:r>
            <a:r>
              <a:rPr dirty="0" err="1"/>
              <a:t>correlación</a:t>
            </a:r>
            <a:r>
              <a:rPr dirty="0"/>
              <a:t>. Los </a:t>
            </a:r>
            <a:r>
              <a:rPr dirty="0" err="1"/>
              <a:t>bloqueos</a:t>
            </a:r>
            <a:r>
              <a:rPr dirty="0"/>
              <a:t> se </a:t>
            </a:r>
            <a:r>
              <a:rPr dirty="0" err="1"/>
              <a:t>aplicaron</a:t>
            </a:r>
            <a:r>
              <a:rPr dirty="0"/>
              <a:t> a </a:t>
            </a:r>
            <a:r>
              <a:rPr dirty="0" err="1"/>
              <a:t>cuentas</a:t>
            </a:r>
            <a:r>
              <a:rPr dirty="0"/>
              <a:t> y </a:t>
            </a:r>
            <a:r>
              <a:rPr dirty="0" err="1"/>
              <a:t>dispositivos</a:t>
            </a:r>
            <a:r>
              <a:rPr dirty="0"/>
              <a:t>. </a:t>
            </a:r>
            <a:r>
              <a:rPr dirty="0" err="1"/>
              <a:t>Estas</a:t>
            </a:r>
            <a:r>
              <a:rPr dirty="0"/>
              <a:t> </a:t>
            </a:r>
            <a:r>
              <a:rPr dirty="0" err="1"/>
              <a:t>decisiones</a:t>
            </a:r>
            <a:r>
              <a:rPr dirty="0"/>
              <a:t> </a:t>
            </a:r>
            <a:r>
              <a:rPr dirty="0" err="1"/>
              <a:t>delimitan</a:t>
            </a:r>
            <a:r>
              <a:rPr dirty="0"/>
              <a:t> el </a:t>
            </a:r>
            <a:r>
              <a:rPr dirty="0" err="1"/>
              <a:t>alcance</a:t>
            </a:r>
            <a:r>
              <a:rPr dirty="0"/>
              <a:t> real de </a:t>
            </a:r>
            <a:r>
              <a:rPr dirty="0" err="1"/>
              <a:t>los</a:t>
            </a:r>
            <a:r>
              <a:rPr dirty="0"/>
              <a:t> </a:t>
            </a:r>
            <a:r>
              <a:rPr dirty="0" err="1"/>
              <a:t>objetivos</a:t>
            </a:r>
            <a:r>
              <a:rPr dirty="0"/>
              <a:t> </a:t>
            </a:r>
            <a:r>
              <a:rPr dirty="0" err="1"/>
              <a:t>alcanzados</a:t>
            </a:r>
            <a:r>
              <a:rPr dirty="0"/>
              <a:t>.</a:t>
            </a:r>
          </a:p>
          <a:p>
            <a:endParaRPr dirty="0"/>
          </a:p>
          <a:p>
            <a:r>
              <a:rPr dirty="0" err="1"/>
              <a:t>Enumerar</a:t>
            </a:r>
            <a:r>
              <a:rPr dirty="0"/>
              <a:t> </a:t>
            </a:r>
            <a:r>
              <a:rPr dirty="0" err="1"/>
              <a:t>los</a:t>
            </a:r>
            <a:r>
              <a:rPr dirty="0"/>
              <a:t> cuatro </a:t>
            </a:r>
            <a:r>
              <a:rPr dirty="0" err="1"/>
              <a:t>objetivos</a:t>
            </a:r>
            <a:r>
              <a:rPr dirty="0"/>
              <a:t> con </a:t>
            </a:r>
            <a:r>
              <a:rPr dirty="0" err="1"/>
              <a:t>claridad</a:t>
            </a:r>
            <a:r>
              <a:rPr dirty="0"/>
              <a:t>. No </a:t>
            </a:r>
            <a:r>
              <a:rPr dirty="0" err="1"/>
              <a:t>presentar</a:t>
            </a:r>
            <a:r>
              <a:rPr dirty="0"/>
              <a:t> </a:t>
            </a:r>
            <a:r>
              <a:rPr dirty="0" err="1"/>
              <a:t>geolocalización</a:t>
            </a:r>
            <a:r>
              <a:rPr dirty="0"/>
              <a:t> </a:t>
            </a:r>
            <a:r>
              <a:rPr dirty="0" err="1"/>
              <a:t>ni</a:t>
            </a:r>
            <a:r>
              <a:rPr dirty="0"/>
              <a:t> JWT </a:t>
            </a:r>
            <a:r>
              <a:rPr dirty="0" err="1"/>
              <a:t>estándar</a:t>
            </a:r>
            <a:r>
              <a:rPr dirty="0"/>
              <a:t> </a:t>
            </a:r>
            <a:r>
              <a:rPr dirty="0" err="1"/>
              <a:t>como</a:t>
            </a:r>
            <a:r>
              <a:rPr dirty="0"/>
              <a:t> </a:t>
            </a:r>
            <a:r>
              <a:rPr dirty="0" err="1"/>
              <a:t>funciones</a:t>
            </a:r>
            <a:r>
              <a:rPr dirty="0"/>
              <a:t> </a:t>
            </a:r>
            <a:r>
              <a:rPr dirty="0" err="1"/>
              <a:t>implementadas</a:t>
            </a:r>
            <a:r>
              <a:rPr dirty="0"/>
              <a:t>.</a:t>
            </a:r>
          </a:p>
          <a:p>
            <a:endParaRPr dirty="0"/>
          </a:p>
          <a:p>
            <a:r>
              <a:rPr dirty="0"/>
              <a:t>Fuente: Guion_defensa_TFM.docx, </a:t>
            </a:r>
            <a:r>
              <a:rPr dirty="0" err="1"/>
              <a:t>bloque</a:t>
            </a:r>
            <a:r>
              <a:rPr dirty="0"/>
              <a:t> 2. </a:t>
            </a:r>
            <a:r>
              <a:rPr dirty="0" err="1"/>
              <a:t>Capítulo</a:t>
            </a:r>
            <a:r>
              <a:rPr dirty="0"/>
              <a:t> 1 · </a:t>
            </a:r>
            <a:r>
              <a:rPr dirty="0" err="1"/>
              <a:t>Objetivos</a:t>
            </a:r>
            <a:r>
              <a:rPr dirty="0"/>
              <a:t> y </a:t>
            </a:r>
            <a:r>
              <a:rPr dirty="0" err="1"/>
              <a:t>capítulo</a:t>
            </a:r>
            <a:r>
              <a:rPr dirty="0"/>
              <a:t> 8 · </a:t>
            </a:r>
            <a:r>
              <a:rPr dirty="0" err="1"/>
              <a:t>Cumplimiento</a:t>
            </a:r>
            <a:r>
              <a:rPr dirty="0"/>
              <a:t> de </a:t>
            </a:r>
            <a:r>
              <a:rPr dirty="0" err="1"/>
              <a:t>objetivos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Tiempo: 02:45–04:15.</a:t>
            </a:r>
          </a:p>
          <a:p>
            <a:endParaRPr dirty="0"/>
          </a:p>
          <a:p>
            <a:r>
              <a:rPr dirty="0"/>
              <a:t>La </a:t>
            </a:r>
            <a:r>
              <a:rPr dirty="0" err="1"/>
              <a:t>metodología</a:t>
            </a:r>
            <a:r>
              <a:rPr dirty="0"/>
              <a:t> ha </a:t>
            </a:r>
            <a:r>
              <a:rPr dirty="0" err="1"/>
              <a:t>sido</a:t>
            </a:r>
            <a:r>
              <a:rPr dirty="0"/>
              <a:t> experimental, incremental e </a:t>
            </a:r>
            <a:r>
              <a:rPr dirty="0" err="1"/>
              <a:t>iterativa</a:t>
            </a:r>
            <a:r>
              <a:rPr dirty="0"/>
              <a:t>. Primero </a:t>
            </a:r>
            <a:r>
              <a:rPr dirty="0" err="1"/>
              <a:t>construí</a:t>
            </a:r>
            <a:r>
              <a:rPr dirty="0"/>
              <a:t> </a:t>
            </a:r>
            <a:r>
              <a:rPr dirty="0" err="1"/>
              <a:t>una</a:t>
            </a:r>
            <a:r>
              <a:rPr dirty="0"/>
              <a:t> </a:t>
            </a:r>
            <a:r>
              <a:rPr dirty="0" err="1"/>
              <a:t>línea</a:t>
            </a:r>
            <a:r>
              <a:rPr dirty="0"/>
              <a:t> base </a:t>
            </a:r>
            <a:r>
              <a:rPr dirty="0" err="1"/>
              <a:t>funcional</a:t>
            </a:r>
            <a:r>
              <a:rPr dirty="0"/>
              <a:t>, la Fase 0. </a:t>
            </a:r>
            <a:r>
              <a:rPr dirty="0" err="1"/>
              <a:t>Después</a:t>
            </a:r>
            <a:r>
              <a:rPr dirty="0"/>
              <a:t> </a:t>
            </a:r>
            <a:r>
              <a:rPr dirty="0" err="1"/>
              <a:t>realicé</a:t>
            </a:r>
            <a:r>
              <a:rPr dirty="0"/>
              <a:t> </a:t>
            </a:r>
            <a:r>
              <a:rPr dirty="0" err="1"/>
              <a:t>una</a:t>
            </a:r>
            <a:r>
              <a:rPr dirty="0"/>
              <a:t> </a:t>
            </a:r>
            <a:r>
              <a:rPr dirty="0" err="1"/>
              <a:t>auditoría</a:t>
            </a:r>
            <a:r>
              <a:rPr dirty="0"/>
              <a:t> para </a:t>
            </a:r>
            <a:r>
              <a:rPr dirty="0" err="1"/>
              <a:t>identificar</a:t>
            </a:r>
            <a:r>
              <a:rPr dirty="0"/>
              <a:t> </a:t>
            </a:r>
            <a:r>
              <a:rPr dirty="0" err="1"/>
              <a:t>debilidades</a:t>
            </a:r>
            <a:r>
              <a:rPr dirty="0"/>
              <a:t> observables. A </a:t>
            </a:r>
            <a:r>
              <a:rPr dirty="0" err="1"/>
              <a:t>partir</a:t>
            </a:r>
            <a:r>
              <a:rPr dirty="0"/>
              <a:t> de </a:t>
            </a:r>
            <a:r>
              <a:rPr dirty="0" err="1"/>
              <a:t>ellas</a:t>
            </a:r>
            <a:r>
              <a:rPr dirty="0"/>
              <a:t> </a:t>
            </a:r>
            <a:r>
              <a:rPr dirty="0" err="1"/>
              <a:t>incorporé</a:t>
            </a:r>
            <a:r>
              <a:rPr dirty="0"/>
              <a:t> </a:t>
            </a:r>
            <a:r>
              <a:rPr dirty="0" err="1"/>
              <a:t>prevención</a:t>
            </a:r>
            <a:r>
              <a:rPr dirty="0"/>
              <a:t> </a:t>
            </a:r>
            <a:r>
              <a:rPr dirty="0" err="1"/>
              <a:t>en</a:t>
            </a:r>
            <a:r>
              <a:rPr dirty="0"/>
              <a:t> la Fase 1 y </a:t>
            </a:r>
            <a:r>
              <a:rPr dirty="0" err="1"/>
              <a:t>detección</a:t>
            </a:r>
            <a:r>
              <a:rPr dirty="0"/>
              <a:t> y </a:t>
            </a:r>
            <a:r>
              <a:rPr dirty="0" err="1"/>
              <a:t>respuesta</a:t>
            </a:r>
            <a:r>
              <a:rPr dirty="0"/>
              <a:t> </a:t>
            </a:r>
            <a:r>
              <a:rPr dirty="0" err="1"/>
              <a:t>en</a:t>
            </a:r>
            <a:r>
              <a:rPr dirty="0"/>
              <a:t> la Fase 2. Cada </a:t>
            </a:r>
            <a:r>
              <a:rPr dirty="0" err="1"/>
              <a:t>etapa</a:t>
            </a:r>
            <a:r>
              <a:rPr dirty="0"/>
              <a:t> se </a:t>
            </a:r>
            <a:r>
              <a:rPr dirty="0" err="1"/>
              <a:t>contrastó</a:t>
            </a:r>
            <a:r>
              <a:rPr dirty="0"/>
              <a:t> </a:t>
            </a:r>
            <a:r>
              <a:rPr dirty="0" err="1"/>
              <a:t>mediante</a:t>
            </a:r>
            <a:r>
              <a:rPr dirty="0"/>
              <a:t> </a:t>
            </a:r>
            <a:r>
              <a:rPr dirty="0" err="1"/>
              <a:t>pruebas</a:t>
            </a:r>
            <a:r>
              <a:rPr dirty="0"/>
              <a:t> y </a:t>
            </a:r>
            <a:r>
              <a:rPr dirty="0" err="1"/>
              <a:t>regresiones</a:t>
            </a:r>
            <a:r>
              <a:rPr dirty="0"/>
              <a:t>.</a:t>
            </a:r>
          </a:p>
          <a:p>
            <a:endParaRPr dirty="0"/>
          </a:p>
          <a:p>
            <a:r>
              <a:rPr dirty="0"/>
              <a:t>La </a:t>
            </a:r>
            <a:r>
              <a:rPr dirty="0" err="1"/>
              <a:t>auditoría</a:t>
            </a:r>
            <a:r>
              <a:rPr dirty="0"/>
              <a:t> </a:t>
            </a:r>
            <a:r>
              <a:rPr dirty="0" err="1"/>
              <a:t>combina</a:t>
            </a:r>
            <a:r>
              <a:rPr dirty="0"/>
              <a:t> </a:t>
            </a:r>
            <a:r>
              <a:rPr dirty="0" err="1"/>
              <a:t>caja</a:t>
            </a:r>
            <a:r>
              <a:rPr dirty="0"/>
              <a:t> </a:t>
            </a:r>
            <a:r>
              <a:rPr dirty="0" err="1"/>
              <a:t>negra</a:t>
            </a:r>
            <a:r>
              <a:rPr dirty="0"/>
              <a:t> y </a:t>
            </a:r>
            <a:r>
              <a:rPr dirty="0" err="1"/>
              <a:t>caja</a:t>
            </a:r>
            <a:r>
              <a:rPr dirty="0"/>
              <a:t> gris. La </a:t>
            </a:r>
            <a:r>
              <a:rPr dirty="0" err="1"/>
              <a:t>primera</a:t>
            </a:r>
            <a:r>
              <a:rPr dirty="0"/>
              <a:t> </a:t>
            </a:r>
            <a:r>
              <a:rPr dirty="0" err="1"/>
              <a:t>observa</a:t>
            </a:r>
            <a:r>
              <a:rPr dirty="0"/>
              <a:t> lo </a:t>
            </a:r>
            <a:r>
              <a:rPr dirty="0" err="1"/>
              <a:t>que</a:t>
            </a:r>
            <a:r>
              <a:rPr dirty="0"/>
              <a:t> </a:t>
            </a:r>
            <a:r>
              <a:rPr dirty="0" err="1"/>
              <a:t>puede</a:t>
            </a:r>
            <a:r>
              <a:rPr dirty="0"/>
              <a:t> </a:t>
            </a:r>
            <a:r>
              <a:rPr dirty="0" err="1"/>
              <a:t>hacer</a:t>
            </a:r>
            <a:r>
              <a:rPr dirty="0"/>
              <a:t> un </a:t>
            </a:r>
            <a:r>
              <a:rPr dirty="0" err="1"/>
              <a:t>cliente</a:t>
            </a:r>
            <a:r>
              <a:rPr dirty="0"/>
              <a:t> </a:t>
            </a:r>
            <a:r>
              <a:rPr dirty="0" err="1"/>
              <a:t>desde</a:t>
            </a:r>
            <a:r>
              <a:rPr dirty="0"/>
              <a:t> las interfaces </a:t>
            </a:r>
            <a:r>
              <a:rPr dirty="0" err="1"/>
              <a:t>públicas</a:t>
            </a:r>
            <a:r>
              <a:rPr dirty="0"/>
              <a:t>. La </a:t>
            </a:r>
            <a:r>
              <a:rPr dirty="0" err="1"/>
              <a:t>segunda</a:t>
            </a:r>
            <a:r>
              <a:rPr dirty="0"/>
              <a:t> </a:t>
            </a:r>
            <a:r>
              <a:rPr dirty="0" err="1"/>
              <a:t>utiliza</a:t>
            </a:r>
            <a:r>
              <a:rPr dirty="0"/>
              <a:t> el </a:t>
            </a:r>
            <a:r>
              <a:rPr dirty="0" err="1"/>
              <a:t>conocimiento</a:t>
            </a:r>
            <a:r>
              <a:rPr dirty="0"/>
              <a:t> de las </a:t>
            </a:r>
            <a:r>
              <a:rPr dirty="0" err="1"/>
              <a:t>rutas</a:t>
            </a:r>
            <a:r>
              <a:rPr dirty="0"/>
              <a:t>, </a:t>
            </a:r>
            <a:r>
              <a:rPr dirty="0" err="1"/>
              <a:t>los</a:t>
            </a:r>
            <a:r>
              <a:rPr dirty="0"/>
              <a:t> </a:t>
            </a:r>
            <a:r>
              <a:rPr dirty="0" err="1"/>
              <a:t>contenedores</a:t>
            </a:r>
            <a:r>
              <a:rPr dirty="0"/>
              <a:t> y la </a:t>
            </a:r>
            <a:r>
              <a:rPr dirty="0" err="1"/>
              <a:t>lógica</a:t>
            </a:r>
            <a:r>
              <a:rPr dirty="0"/>
              <a:t> del </a:t>
            </a:r>
            <a:r>
              <a:rPr dirty="0" err="1"/>
              <a:t>servidor</a:t>
            </a:r>
            <a:r>
              <a:rPr dirty="0"/>
              <a:t> para </a:t>
            </a:r>
            <a:r>
              <a:rPr dirty="0" err="1"/>
              <a:t>explicar</a:t>
            </a:r>
            <a:r>
              <a:rPr dirty="0"/>
              <a:t> </a:t>
            </a:r>
            <a:r>
              <a:rPr dirty="0" err="1"/>
              <a:t>los</a:t>
            </a:r>
            <a:r>
              <a:rPr dirty="0"/>
              <a:t> </a:t>
            </a:r>
            <a:r>
              <a:rPr dirty="0" err="1"/>
              <a:t>resultados</a:t>
            </a:r>
            <a:r>
              <a:rPr dirty="0"/>
              <a:t>. En las </a:t>
            </a:r>
            <a:r>
              <a:rPr dirty="0" err="1"/>
              <a:t>pruebas</a:t>
            </a:r>
            <a:r>
              <a:rPr dirty="0"/>
              <a:t> </a:t>
            </a:r>
            <a:r>
              <a:rPr dirty="0" err="1"/>
              <a:t>negativas</a:t>
            </a:r>
            <a:r>
              <a:rPr dirty="0"/>
              <a:t> se </a:t>
            </a:r>
            <a:r>
              <a:rPr dirty="0" err="1"/>
              <a:t>modifica</a:t>
            </a:r>
            <a:r>
              <a:rPr dirty="0"/>
              <a:t> </a:t>
            </a:r>
            <a:r>
              <a:rPr dirty="0" err="1"/>
              <a:t>una</a:t>
            </a:r>
            <a:r>
              <a:rPr dirty="0"/>
              <a:t> </a:t>
            </a:r>
            <a:r>
              <a:rPr dirty="0" err="1"/>
              <a:t>condición</a:t>
            </a:r>
            <a:r>
              <a:rPr dirty="0"/>
              <a:t> </a:t>
            </a:r>
            <a:r>
              <a:rPr dirty="0" err="1"/>
              <a:t>cada</a:t>
            </a:r>
            <a:r>
              <a:rPr dirty="0"/>
              <a:t> </a:t>
            </a:r>
            <a:r>
              <a:rPr dirty="0" err="1"/>
              <a:t>vez</a:t>
            </a:r>
            <a:r>
              <a:rPr dirty="0"/>
              <a:t> y se </a:t>
            </a:r>
            <a:r>
              <a:rPr dirty="0" err="1"/>
              <a:t>parte</a:t>
            </a:r>
            <a:r>
              <a:rPr dirty="0"/>
              <a:t> de un </a:t>
            </a:r>
            <a:r>
              <a:rPr dirty="0" err="1"/>
              <a:t>estado</a:t>
            </a:r>
            <a:r>
              <a:rPr dirty="0"/>
              <a:t> </a:t>
            </a:r>
            <a:r>
              <a:rPr dirty="0" err="1"/>
              <a:t>conocido</a:t>
            </a:r>
            <a:r>
              <a:rPr dirty="0"/>
              <a:t>.</a:t>
            </a:r>
          </a:p>
          <a:p>
            <a:endParaRPr dirty="0"/>
          </a:p>
          <a:p>
            <a:r>
              <a:rPr dirty="0"/>
              <a:t>El </a:t>
            </a:r>
            <a:r>
              <a:rPr dirty="0" err="1"/>
              <a:t>trabajo</a:t>
            </a:r>
            <a:r>
              <a:rPr dirty="0"/>
              <a:t> </a:t>
            </a:r>
            <a:r>
              <a:rPr dirty="0" err="1"/>
              <a:t>aporta</a:t>
            </a:r>
            <a:r>
              <a:rPr dirty="0"/>
              <a:t> cuatro </a:t>
            </a:r>
            <a:r>
              <a:rPr dirty="0" err="1"/>
              <a:t>resultados</a:t>
            </a:r>
            <a:r>
              <a:rPr dirty="0"/>
              <a:t>: un </a:t>
            </a:r>
            <a:r>
              <a:rPr dirty="0" err="1"/>
              <a:t>laboratorio</a:t>
            </a:r>
            <a:r>
              <a:rPr dirty="0"/>
              <a:t> reproducible; </a:t>
            </a:r>
            <a:r>
              <a:rPr dirty="0" err="1"/>
              <a:t>una</a:t>
            </a:r>
            <a:r>
              <a:rPr dirty="0"/>
              <a:t> </a:t>
            </a:r>
            <a:r>
              <a:rPr dirty="0" err="1"/>
              <a:t>caracterización</a:t>
            </a:r>
            <a:r>
              <a:rPr dirty="0"/>
              <a:t> experimental de </a:t>
            </a:r>
            <a:r>
              <a:rPr dirty="0" err="1"/>
              <a:t>los</a:t>
            </a:r>
            <a:r>
              <a:rPr dirty="0"/>
              <a:t> </a:t>
            </a:r>
            <a:r>
              <a:rPr dirty="0" err="1"/>
              <a:t>límites</a:t>
            </a:r>
            <a:r>
              <a:rPr dirty="0"/>
              <a:t> de la </a:t>
            </a:r>
            <a:r>
              <a:rPr dirty="0" err="1"/>
              <a:t>integración</a:t>
            </a:r>
            <a:r>
              <a:rPr dirty="0"/>
              <a:t> </a:t>
            </a:r>
            <a:r>
              <a:rPr dirty="0" err="1"/>
              <a:t>Widevine</a:t>
            </a:r>
            <a:r>
              <a:rPr dirty="0"/>
              <a:t>; </a:t>
            </a:r>
            <a:r>
              <a:rPr dirty="0" err="1"/>
              <a:t>una</a:t>
            </a:r>
            <a:r>
              <a:rPr dirty="0"/>
              <a:t> </a:t>
            </a:r>
            <a:r>
              <a:rPr dirty="0" err="1"/>
              <a:t>arquitectura</a:t>
            </a:r>
            <a:r>
              <a:rPr dirty="0"/>
              <a:t> </a:t>
            </a:r>
            <a:r>
              <a:rPr dirty="0" err="1"/>
              <a:t>defensiva</a:t>
            </a:r>
            <a:r>
              <a:rPr dirty="0"/>
              <a:t> </a:t>
            </a:r>
            <a:r>
              <a:rPr dirty="0" err="1"/>
              <a:t>implementada</a:t>
            </a:r>
            <a:r>
              <a:rPr dirty="0"/>
              <a:t> </a:t>
            </a:r>
            <a:r>
              <a:rPr dirty="0" err="1"/>
              <a:t>en</a:t>
            </a:r>
            <a:r>
              <a:rPr dirty="0"/>
              <a:t> dos </a:t>
            </a:r>
            <a:r>
              <a:rPr dirty="0" err="1"/>
              <a:t>etapas</a:t>
            </a:r>
            <a:r>
              <a:rPr dirty="0"/>
              <a:t>; y </a:t>
            </a:r>
            <a:r>
              <a:rPr dirty="0" err="1"/>
              <a:t>una</a:t>
            </a:r>
            <a:r>
              <a:rPr dirty="0"/>
              <a:t> </a:t>
            </a:r>
            <a:r>
              <a:rPr dirty="0" err="1"/>
              <a:t>evaluación</a:t>
            </a:r>
            <a:r>
              <a:rPr dirty="0"/>
              <a:t> </a:t>
            </a:r>
            <a:r>
              <a:rPr dirty="0" err="1"/>
              <a:t>comparativa</a:t>
            </a:r>
            <a:r>
              <a:rPr dirty="0"/>
              <a:t> con </a:t>
            </a:r>
            <a:r>
              <a:rPr dirty="0" err="1"/>
              <a:t>evidencias</a:t>
            </a:r>
            <a:r>
              <a:rPr dirty="0"/>
              <a:t> </a:t>
            </a:r>
            <a:r>
              <a:rPr dirty="0" err="1"/>
              <a:t>organizadas</a:t>
            </a:r>
            <a:r>
              <a:rPr dirty="0"/>
              <a:t>.</a:t>
            </a:r>
          </a:p>
          <a:p>
            <a:endParaRPr dirty="0"/>
          </a:p>
          <a:p>
            <a:r>
              <a:rPr dirty="0"/>
              <a:t>Las </a:t>
            </a:r>
            <a:r>
              <a:rPr dirty="0" err="1"/>
              <a:t>evidencias</a:t>
            </a:r>
            <a:r>
              <a:rPr dirty="0"/>
              <a:t> </a:t>
            </a:r>
            <a:r>
              <a:rPr dirty="0" err="1"/>
              <a:t>combinan</a:t>
            </a:r>
            <a:r>
              <a:rPr dirty="0"/>
              <a:t> </a:t>
            </a:r>
            <a:r>
              <a:rPr dirty="0" err="1"/>
              <a:t>reproducción</a:t>
            </a:r>
            <a:r>
              <a:rPr dirty="0"/>
              <a:t> real </a:t>
            </a:r>
            <a:r>
              <a:rPr dirty="0" err="1"/>
              <a:t>en</a:t>
            </a:r>
            <a:r>
              <a:rPr dirty="0"/>
              <a:t> </a:t>
            </a:r>
            <a:r>
              <a:rPr dirty="0" err="1"/>
              <a:t>navegador</a:t>
            </a:r>
            <a:r>
              <a:rPr dirty="0"/>
              <a:t>, </a:t>
            </a:r>
            <a:r>
              <a:rPr dirty="0" err="1"/>
              <a:t>códigos</a:t>
            </a:r>
            <a:r>
              <a:rPr dirty="0"/>
              <a:t> HTTP, </a:t>
            </a:r>
            <a:r>
              <a:rPr dirty="0" err="1"/>
              <a:t>capturas</a:t>
            </a:r>
            <a:r>
              <a:rPr dirty="0"/>
              <a:t> de red, logs y </a:t>
            </a:r>
            <a:r>
              <a:rPr dirty="0" err="1"/>
              <a:t>estados</a:t>
            </a:r>
            <a:r>
              <a:rPr dirty="0"/>
              <a:t> JSON. También se </a:t>
            </a:r>
            <a:r>
              <a:rPr dirty="0" err="1"/>
              <a:t>conservan</a:t>
            </a:r>
            <a:r>
              <a:rPr dirty="0"/>
              <a:t> scripts y </a:t>
            </a:r>
            <a:r>
              <a:rPr dirty="0" err="1"/>
              <a:t>huellas</a:t>
            </a:r>
            <a:r>
              <a:rPr dirty="0"/>
              <a:t> SHA-256. </a:t>
            </a:r>
            <a:r>
              <a:rPr dirty="0" err="1"/>
              <a:t>Así</a:t>
            </a:r>
            <a:r>
              <a:rPr dirty="0"/>
              <a:t>, </a:t>
            </a:r>
            <a:r>
              <a:rPr dirty="0" err="1"/>
              <a:t>una</a:t>
            </a:r>
            <a:r>
              <a:rPr dirty="0"/>
              <a:t> </a:t>
            </a:r>
            <a:r>
              <a:rPr dirty="0" err="1"/>
              <a:t>captura</a:t>
            </a:r>
            <a:r>
              <a:rPr dirty="0"/>
              <a:t> de </a:t>
            </a:r>
            <a:r>
              <a:rPr dirty="0" err="1"/>
              <a:t>pantalla</a:t>
            </a:r>
            <a:r>
              <a:rPr dirty="0"/>
              <a:t> se </a:t>
            </a:r>
            <a:r>
              <a:rPr dirty="0" err="1"/>
              <a:t>puede</a:t>
            </a:r>
            <a:r>
              <a:rPr dirty="0"/>
              <a:t> </a:t>
            </a:r>
            <a:r>
              <a:rPr dirty="0" err="1"/>
              <a:t>contrastar</a:t>
            </a:r>
            <a:r>
              <a:rPr dirty="0"/>
              <a:t> con lo </a:t>
            </a:r>
            <a:r>
              <a:rPr dirty="0" err="1"/>
              <a:t>que</a:t>
            </a:r>
            <a:r>
              <a:rPr dirty="0"/>
              <a:t> </a:t>
            </a:r>
            <a:r>
              <a:rPr dirty="0" err="1"/>
              <a:t>recibió</a:t>
            </a:r>
            <a:r>
              <a:rPr dirty="0"/>
              <a:t> el </a:t>
            </a:r>
            <a:r>
              <a:rPr dirty="0" err="1"/>
              <a:t>servidor</a:t>
            </a:r>
            <a:r>
              <a:rPr dirty="0"/>
              <a:t> y, </a:t>
            </a:r>
            <a:r>
              <a:rPr dirty="0" err="1"/>
              <a:t>en</a:t>
            </a:r>
            <a:r>
              <a:rPr dirty="0"/>
              <a:t> la </a:t>
            </a:r>
            <a:r>
              <a:rPr dirty="0" err="1"/>
              <a:t>última</a:t>
            </a:r>
            <a:r>
              <a:rPr dirty="0"/>
              <a:t> </a:t>
            </a:r>
            <a:r>
              <a:rPr dirty="0" err="1"/>
              <a:t>fase</a:t>
            </a:r>
            <a:r>
              <a:rPr dirty="0"/>
              <a:t>, con el </a:t>
            </a:r>
            <a:r>
              <a:rPr dirty="0" err="1"/>
              <a:t>cambio</a:t>
            </a:r>
            <a:r>
              <a:rPr dirty="0"/>
              <a:t> de </a:t>
            </a:r>
            <a:r>
              <a:rPr dirty="0" err="1"/>
              <a:t>estado</a:t>
            </a:r>
            <a:r>
              <a:rPr dirty="0"/>
              <a:t> </a:t>
            </a:r>
            <a:r>
              <a:rPr dirty="0" err="1"/>
              <a:t>que</a:t>
            </a:r>
            <a:r>
              <a:rPr dirty="0"/>
              <a:t> </a:t>
            </a:r>
            <a:r>
              <a:rPr dirty="0" err="1"/>
              <a:t>produjo</a:t>
            </a:r>
            <a:r>
              <a:rPr dirty="0"/>
              <a:t>.</a:t>
            </a:r>
          </a:p>
          <a:p>
            <a:endParaRPr dirty="0"/>
          </a:p>
          <a:p>
            <a:r>
              <a:rPr dirty="0" err="1"/>
              <a:t>Explicar</a:t>
            </a:r>
            <a:r>
              <a:rPr dirty="0"/>
              <a:t> el </a:t>
            </a:r>
            <a:r>
              <a:rPr dirty="0" err="1"/>
              <a:t>método</a:t>
            </a:r>
            <a:r>
              <a:rPr dirty="0"/>
              <a:t> </a:t>
            </a:r>
            <a:r>
              <a:rPr dirty="0" err="1"/>
              <a:t>como</a:t>
            </a:r>
            <a:r>
              <a:rPr dirty="0"/>
              <a:t> </a:t>
            </a:r>
            <a:r>
              <a:rPr dirty="0" err="1"/>
              <a:t>construir</a:t>
            </a:r>
            <a:r>
              <a:rPr dirty="0"/>
              <a:t>, </a:t>
            </a:r>
            <a:r>
              <a:rPr dirty="0" err="1"/>
              <a:t>observar</a:t>
            </a:r>
            <a:r>
              <a:rPr dirty="0"/>
              <a:t>, </a:t>
            </a:r>
            <a:r>
              <a:rPr dirty="0" err="1"/>
              <a:t>corregir</a:t>
            </a:r>
            <a:r>
              <a:rPr dirty="0"/>
              <a:t> y </a:t>
            </a:r>
            <a:r>
              <a:rPr dirty="0" err="1"/>
              <a:t>volver</a:t>
            </a:r>
            <a:r>
              <a:rPr dirty="0"/>
              <a:t> a </a:t>
            </a:r>
            <a:r>
              <a:rPr dirty="0" err="1"/>
              <a:t>comprobar</a:t>
            </a:r>
            <a:r>
              <a:rPr dirty="0"/>
              <a:t>.</a:t>
            </a:r>
          </a:p>
          <a:p>
            <a:endParaRPr dirty="0"/>
          </a:p>
          <a:p>
            <a:r>
              <a:rPr dirty="0"/>
              <a:t>Fuente: Guion_defensa_TFM.docx, </a:t>
            </a:r>
            <a:r>
              <a:rPr dirty="0" err="1"/>
              <a:t>bloque</a:t>
            </a:r>
            <a:r>
              <a:rPr dirty="0"/>
              <a:t> 3. </a:t>
            </a:r>
            <a:r>
              <a:rPr dirty="0" err="1"/>
              <a:t>Capítulo</a:t>
            </a:r>
            <a:r>
              <a:rPr dirty="0"/>
              <a:t> 1 · </a:t>
            </a:r>
            <a:r>
              <a:rPr dirty="0" err="1"/>
              <a:t>Metodología</a:t>
            </a:r>
            <a:r>
              <a:rPr dirty="0"/>
              <a:t> y </a:t>
            </a:r>
            <a:r>
              <a:rPr dirty="0" err="1"/>
              <a:t>contribuciones</a:t>
            </a:r>
            <a:r>
              <a:rPr dirty="0"/>
              <a:t> y </a:t>
            </a:r>
            <a:r>
              <a:rPr dirty="0" err="1"/>
              <a:t>anexo</a:t>
            </a:r>
            <a:r>
              <a:rPr dirty="0"/>
              <a:t>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04:15–05:30.</a:t>
            </a:r>
          </a:p>
          <a:p>
            <a:endParaRPr/>
          </a:p>
          <a:p>
            <a:r>
              <a:t>El laboratorio separa el plano de medios, que entrega manifiestos y segmentos, del plano de control, que decide quién puede acceder. Docker permite desplegar y reiniciar cada fase. Shaka Player reproduce el vídeo; Varnish actúa como frontal; Nginx sirve el contenido local; y un proxy reenvía las solicitudes al servicio Widevine de pruebas. Redis se incorpora en la última fase.</a:t>
            </a:r>
          </a:p>
          <a:p>
            <a:endParaRPr/>
          </a:p>
          <a:p>
            <a:r>
              <a:t>Se utilizan dos activos con funciones diferentes. El activo Widevine público permite comprobar un intercambio real de licencias y la reproducción mediante el módulo de descifrado del navegador. El activo CENC local, con una clave conocida de laboratorio, permite controlar y observar la entrega de segmentos.</a:t>
            </a:r>
          </a:p>
          <a:p>
            <a:endParaRPr/>
          </a:p>
          <a:p>
            <a:r>
              <a:t>En el diagrama, la Fase 1 refuerza el perímetro y la autorización. La Fase 2 añade estado, eventos y respuesta. Esta distribución permite comparar las mejoras manteniendo el flujo de reproducción como referencia.</a:t>
            </a:r>
          </a:p>
          <a:p>
            <a:endParaRPr/>
          </a:p>
          <a:p>
            <a:r>
              <a:t>Dedicar la explicación al papel de las capas. No recorrer puertos, contenedores o endpoints uno por uno.</a:t>
            </a:r>
          </a:p>
          <a:p>
            <a:endParaRPr/>
          </a:p>
          <a:p>
            <a:r>
              <a:t>Fuente: Guion_defensa_TFM.docx, bloque 4. Capítulos 3 y 5 · Arquitectura general y defensa en profundidad.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Tiempo: 05:30–07:30.</a:t>
            </a:r>
          </a:p>
          <a:p>
            <a:endParaRPr dirty="0"/>
          </a:p>
          <a:p>
            <a:r>
              <a:rPr dirty="0"/>
              <a:t>La Fase 0 es </a:t>
            </a:r>
            <a:r>
              <a:rPr dirty="0" err="1"/>
              <a:t>una</a:t>
            </a:r>
            <a:r>
              <a:rPr dirty="0"/>
              <a:t> </a:t>
            </a:r>
            <a:r>
              <a:rPr dirty="0" err="1"/>
              <a:t>configuración</a:t>
            </a:r>
            <a:r>
              <a:rPr dirty="0"/>
              <a:t> </a:t>
            </a:r>
            <a:r>
              <a:rPr dirty="0" err="1"/>
              <a:t>deliberadamente</a:t>
            </a:r>
            <a:r>
              <a:rPr dirty="0"/>
              <a:t> </a:t>
            </a:r>
            <a:r>
              <a:rPr dirty="0" err="1"/>
              <a:t>permisiva</a:t>
            </a:r>
            <a:r>
              <a:rPr dirty="0"/>
              <a:t>, </a:t>
            </a:r>
            <a:r>
              <a:rPr dirty="0" err="1"/>
              <a:t>pero</a:t>
            </a:r>
            <a:r>
              <a:rPr dirty="0"/>
              <a:t> </a:t>
            </a:r>
            <a:r>
              <a:rPr dirty="0" err="1"/>
              <a:t>funcional</a:t>
            </a:r>
            <a:r>
              <a:rPr dirty="0"/>
              <a:t>. El </a:t>
            </a:r>
            <a:r>
              <a:rPr dirty="0" err="1"/>
              <a:t>cliente</a:t>
            </a:r>
            <a:r>
              <a:rPr dirty="0"/>
              <a:t> </a:t>
            </a:r>
            <a:r>
              <a:rPr dirty="0" err="1"/>
              <a:t>oficial</a:t>
            </a:r>
            <a:r>
              <a:rPr dirty="0"/>
              <a:t> </a:t>
            </a:r>
            <a:r>
              <a:rPr dirty="0" err="1"/>
              <a:t>autentica</a:t>
            </a:r>
            <a:r>
              <a:rPr dirty="0"/>
              <a:t> al </a:t>
            </a:r>
            <a:r>
              <a:rPr dirty="0" err="1"/>
              <a:t>usuario</a:t>
            </a:r>
            <a:r>
              <a:rPr dirty="0"/>
              <a:t> y </a:t>
            </a:r>
            <a:r>
              <a:rPr dirty="0" err="1"/>
              <a:t>comprueba</a:t>
            </a:r>
            <a:r>
              <a:rPr dirty="0"/>
              <a:t> </a:t>
            </a:r>
            <a:r>
              <a:rPr dirty="0" err="1"/>
              <a:t>si</a:t>
            </a:r>
            <a:r>
              <a:rPr dirty="0"/>
              <a:t> </a:t>
            </a:r>
            <a:r>
              <a:rPr dirty="0" err="1"/>
              <a:t>tiene</a:t>
            </a:r>
            <a:r>
              <a:rPr dirty="0"/>
              <a:t> </a:t>
            </a:r>
            <a:r>
              <a:rPr dirty="0" err="1"/>
              <a:t>permiso</a:t>
            </a:r>
            <a:r>
              <a:rPr dirty="0"/>
              <a:t> para </a:t>
            </a:r>
            <a:r>
              <a:rPr dirty="0" err="1"/>
              <a:t>reproducir</a:t>
            </a:r>
            <a:r>
              <a:rPr dirty="0"/>
              <a:t> el </a:t>
            </a:r>
            <a:r>
              <a:rPr dirty="0" err="1"/>
              <a:t>activo</a:t>
            </a:r>
            <a:r>
              <a:rPr dirty="0"/>
              <a:t>. Primero </a:t>
            </a:r>
            <a:r>
              <a:rPr dirty="0" err="1"/>
              <a:t>verifiqué</a:t>
            </a:r>
            <a:r>
              <a:rPr dirty="0"/>
              <a:t> </a:t>
            </a:r>
            <a:r>
              <a:rPr dirty="0" err="1"/>
              <a:t>que</a:t>
            </a:r>
            <a:r>
              <a:rPr dirty="0"/>
              <a:t> la </a:t>
            </a:r>
            <a:r>
              <a:rPr dirty="0" err="1"/>
              <a:t>cuenta</a:t>
            </a:r>
            <a:r>
              <a:rPr dirty="0"/>
              <a:t> </a:t>
            </a:r>
            <a:r>
              <a:rPr dirty="0" err="1"/>
              <a:t>autorizada</a:t>
            </a:r>
            <a:r>
              <a:rPr dirty="0"/>
              <a:t> </a:t>
            </a:r>
            <a:r>
              <a:rPr dirty="0" err="1"/>
              <a:t>reproducía</a:t>
            </a:r>
            <a:r>
              <a:rPr dirty="0"/>
              <a:t> </a:t>
            </a:r>
            <a:r>
              <a:rPr dirty="0" err="1"/>
              <a:t>Widevine</a:t>
            </a:r>
            <a:r>
              <a:rPr dirty="0"/>
              <a:t> y el </a:t>
            </a:r>
            <a:r>
              <a:rPr dirty="0" err="1"/>
              <a:t>contenido</a:t>
            </a:r>
            <a:r>
              <a:rPr dirty="0"/>
              <a:t> local, y </a:t>
            </a:r>
            <a:r>
              <a:rPr dirty="0" err="1"/>
              <a:t>que</a:t>
            </a:r>
            <a:r>
              <a:rPr dirty="0"/>
              <a:t> la </a:t>
            </a:r>
            <a:r>
              <a:rPr dirty="0" err="1"/>
              <a:t>cuenta</a:t>
            </a:r>
            <a:r>
              <a:rPr dirty="0"/>
              <a:t> sin </a:t>
            </a:r>
            <a:r>
              <a:rPr dirty="0" err="1"/>
              <a:t>permisos</a:t>
            </a:r>
            <a:r>
              <a:rPr dirty="0"/>
              <a:t> </a:t>
            </a:r>
            <a:r>
              <a:rPr dirty="0" err="1"/>
              <a:t>recibía</a:t>
            </a:r>
            <a:r>
              <a:rPr dirty="0"/>
              <a:t> </a:t>
            </a:r>
            <a:r>
              <a:rPr dirty="0" err="1"/>
              <a:t>una</a:t>
            </a:r>
            <a:r>
              <a:rPr dirty="0"/>
              <a:t> </a:t>
            </a:r>
            <a:r>
              <a:rPr dirty="0" err="1"/>
              <a:t>denegación</a:t>
            </a:r>
            <a:r>
              <a:rPr dirty="0"/>
              <a:t>. Esto </a:t>
            </a:r>
            <a:r>
              <a:rPr dirty="0" err="1"/>
              <a:t>establece</a:t>
            </a:r>
            <a:r>
              <a:rPr dirty="0"/>
              <a:t> </a:t>
            </a:r>
            <a:r>
              <a:rPr dirty="0" err="1"/>
              <a:t>que</a:t>
            </a:r>
            <a:r>
              <a:rPr dirty="0"/>
              <a:t> el </a:t>
            </a:r>
            <a:r>
              <a:rPr dirty="0" err="1"/>
              <a:t>flujo</a:t>
            </a:r>
            <a:r>
              <a:rPr dirty="0"/>
              <a:t> </a:t>
            </a:r>
            <a:r>
              <a:rPr dirty="0" err="1"/>
              <a:t>legítimo</a:t>
            </a:r>
            <a:r>
              <a:rPr dirty="0"/>
              <a:t> </a:t>
            </a:r>
            <a:r>
              <a:rPr dirty="0" err="1"/>
              <a:t>funciona</a:t>
            </a:r>
            <a:r>
              <a:rPr dirty="0"/>
              <a:t>.</a:t>
            </a:r>
          </a:p>
          <a:p>
            <a:endParaRPr dirty="0"/>
          </a:p>
          <a:p>
            <a:r>
              <a:rPr dirty="0"/>
              <a:t>La </a:t>
            </a:r>
            <a:r>
              <a:rPr dirty="0" err="1"/>
              <a:t>auditoría</a:t>
            </a:r>
            <a:r>
              <a:rPr dirty="0"/>
              <a:t> </a:t>
            </a:r>
            <a:r>
              <a:rPr dirty="0" err="1"/>
              <a:t>encontró</a:t>
            </a:r>
            <a:r>
              <a:rPr dirty="0"/>
              <a:t> dos caminos </a:t>
            </a:r>
            <a:r>
              <a:rPr dirty="0" err="1"/>
              <a:t>hacia</a:t>
            </a:r>
            <a:r>
              <a:rPr dirty="0"/>
              <a:t> las </a:t>
            </a:r>
            <a:r>
              <a:rPr dirty="0" err="1"/>
              <a:t>licencias</a:t>
            </a:r>
            <a:r>
              <a:rPr dirty="0"/>
              <a:t>. La </a:t>
            </a:r>
            <a:r>
              <a:rPr dirty="0" err="1"/>
              <a:t>ruta</a:t>
            </a:r>
            <a:r>
              <a:rPr dirty="0"/>
              <a:t> </a:t>
            </a:r>
            <a:r>
              <a:rPr dirty="0" err="1"/>
              <a:t>oficial</a:t>
            </a:r>
            <a:r>
              <a:rPr dirty="0"/>
              <a:t> </a:t>
            </a:r>
            <a:r>
              <a:rPr dirty="0" err="1"/>
              <a:t>exigía</a:t>
            </a:r>
            <a:r>
              <a:rPr dirty="0"/>
              <a:t> </a:t>
            </a:r>
            <a:r>
              <a:rPr dirty="0" err="1"/>
              <a:t>identidad</a:t>
            </a:r>
            <a:r>
              <a:rPr dirty="0"/>
              <a:t> y </a:t>
            </a:r>
            <a:r>
              <a:rPr dirty="0" err="1"/>
              <a:t>autorización</a:t>
            </a:r>
            <a:r>
              <a:rPr dirty="0"/>
              <a:t>. Sin embargo, la </a:t>
            </a:r>
            <a:r>
              <a:rPr dirty="0" err="1"/>
              <a:t>ruta</a:t>
            </a:r>
            <a:r>
              <a:rPr dirty="0"/>
              <a:t> </a:t>
            </a:r>
            <a:r>
              <a:rPr dirty="0" err="1"/>
              <a:t>alternativa</a:t>
            </a:r>
            <a:r>
              <a:rPr dirty="0"/>
              <a:t>, </a:t>
            </a:r>
            <a:r>
              <a:rPr dirty="0" err="1"/>
              <a:t>denominada</a:t>
            </a:r>
            <a:r>
              <a:rPr dirty="0"/>
              <a:t> license no auth, </a:t>
            </a:r>
            <a:r>
              <a:rPr dirty="0" err="1"/>
              <a:t>aceptaba</a:t>
            </a:r>
            <a:r>
              <a:rPr dirty="0"/>
              <a:t> el </a:t>
            </a:r>
            <a:r>
              <a:rPr dirty="0" err="1"/>
              <a:t>mensaje</a:t>
            </a:r>
            <a:r>
              <a:rPr dirty="0"/>
              <a:t> </a:t>
            </a:r>
            <a:r>
              <a:rPr dirty="0" err="1"/>
              <a:t>generado</a:t>
            </a:r>
            <a:r>
              <a:rPr dirty="0"/>
              <a:t> </a:t>
            </a:r>
            <a:r>
              <a:rPr dirty="0" err="1"/>
              <a:t>por</a:t>
            </a:r>
            <a:r>
              <a:rPr dirty="0"/>
              <a:t> el </a:t>
            </a:r>
            <a:r>
              <a:rPr dirty="0" err="1"/>
              <a:t>módulo</a:t>
            </a:r>
            <a:r>
              <a:rPr dirty="0"/>
              <a:t> DRM y lo </a:t>
            </a:r>
            <a:r>
              <a:rPr dirty="0" err="1"/>
              <a:t>reenviaba</a:t>
            </a:r>
            <a:r>
              <a:rPr dirty="0"/>
              <a:t> sin </a:t>
            </a:r>
            <a:r>
              <a:rPr dirty="0" err="1"/>
              <a:t>comprobar</a:t>
            </a:r>
            <a:r>
              <a:rPr dirty="0"/>
              <a:t> </a:t>
            </a:r>
            <a:r>
              <a:rPr dirty="0" err="1"/>
              <a:t>usuario</a:t>
            </a:r>
            <a:r>
              <a:rPr dirty="0"/>
              <a:t> </a:t>
            </a:r>
            <a:r>
              <a:rPr dirty="0" err="1"/>
              <a:t>ni</a:t>
            </a:r>
            <a:r>
              <a:rPr dirty="0"/>
              <a:t> </a:t>
            </a:r>
            <a:r>
              <a:rPr dirty="0" err="1"/>
              <a:t>permisos</a:t>
            </a:r>
            <a:r>
              <a:rPr dirty="0"/>
              <a:t>.</a:t>
            </a:r>
          </a:p>
          <a:p>
            <a:endParaRPr dirty="0"/>
          </a:p>
          <a:p>
            <a:r>
              <a:rPr dirty="0"/>
              <a:t>La </a:t>
            </a:r>
            <a:r>
              <a:rPr dirty="0" err="1"/>
              <a:t>prueba</a:t>
            </a:r>
            <a:r>
              <a:rPr dirty="0"/>
              <a:t> </a:t>
            </a:r>
            <a:r>
              <a:rPr dirty="0" err="1"/>
              <a:t>consistió</a:t>
            </a:r>
            <a:r>
              <a:rPr dirty="0"/>
              <a:t> </a:t>
            </a:r>
            <a:r>
              <a:rPr dirty="0" err="1"/>
              <a:t>en</a:t>
            </a:r>
            <a:r>
              <a:rPr dirty="0"/>
              <a:t> </a:t>
            </a:r>
            <a:r>
              <a:rPr dirty="0" err="1"/>
              <a:t>configurar</a:t>
            </a:r>
            <a:r>
              <a:rPr dirty="0"/>
              <a:t> un </a:t>
            </a:r>
            <a:r>
              <a:rPr dirty="0" err="1"/>
              <a:t>reproductor</a:t>
            </a:r>
            <a:r>
              <a:rPr dirty="0"/>
              <a:t> </a:t>
            </a:r>
            <a:r>
              <a:rPr dirty="0" err="1"/>
              <a:t>externo</a:t>
            </a:r>
            <a:r>
              <a:rPr dirty="0"/>
              <a:t> con el </a:t>
            </a:r>
            <a:r>
              <a:rPr dirty="0" err="1"/>
              <a:t>manifiesto</a:t>
            </a:r>
            <a:r>
              <a:rPr dirty="0"/>
              <a:t> </a:t>
            </a:r>
            <a:r>
              <a:rPr dirty="0" err="1"/>
              <a:t>público</a:t>
            </a:r>
            <a:r>
              <a:rPr dirty="0"/>
              <a:t> y </a:t>
            </a:r>
            <a:r>
              <a:rPr dirty="0" err="1"/>
              <a:t>esa</a:t>
            </a:r>
            <a:r>
              <a:rPr dirty="0"/>
              <a:t> </a:t>
            </a:r>
            <a:r>
              <a:rPr dirty="0" err="1"/>
              <a:t>ruta</a:t>
            </a:r>
            <a:r>
              <a:rPr dirty="0"/>
              <a:t> </a:t>
            </a:r>
            <a:r>
              <a:rPr dirty="0" err="1"/>
              <a:t>alternativa</a:t>
            </a:r>
            <a:r>
              <a:rPr dirty="0"/>
              <a:t>, sin </a:t>
            </a:r>
            <a:r>
              <a:rPr dirty="0" err="1"/>
              <a:t>iniciar</a:t>
            </a:r>
            <a:r>
              <a:rPr dirty="0"/>
              <a:t> </a:t>
            </a:r>
            <a:r>
              <a:rPr dirty="0" err="1"/>
              <a:t>sesión</a:t>
            </a:r>
            <a:r>
              <a:rPr dirty="0"/>
              <a:t> </a:t>
            </a:r>
            <a:r>
              <a:rPr dirty="0" err="1"/>
              <a:t>en</a:t>
            </a:r>
            <a:r>
              <a:rPr dirty="0"/>
              <a:t> la </a:t>
            </a:r>
            <a:r>
              <a:rPr dirty="0" err="1"/>
              <a:t>plataforma</a:t>
            </a:r>
            <a:r>
              <a:rPr dirty="0"/>
              <a:t>. El </a:t>
            </a:r>
            <a:r>
              <a:rPr dirty="0" err="1"/>
              <a:t>navegador</a:t>
            </a:r>
            <a:r>
              <a:rPr dirty="0"/>
              <a:t> </a:t>
            </a:r>
            <a:r>
              <a:rPr dirty="0" err="1"/>
              <a:t>obtuvo</a:t>
            </a:r>
            <a:r>
              <a:rPr dirty="0"/>
              <a:t> dos </a:t>
            </a:r>
            <a:r>
              <a:rPr dirty="0" err="1"/>
              <a:t>respuestas</a:t>
            </a:r>
            <a:r>
              <a:rPr dirty="0"/>
              <a:t> </a:t>
            </a:r>
            <a:r>
              <a:rPr dirty="0" err="1"/>
              <a:t>válidas</a:t>
            </a:r>
            <a:r>
              <a:rPr dirty="0"/>
              <a:t> de </a:t>
            </a:r>
            <a:r>
              <a:rPr dirty="0" err="1"/>
              <a:t>licencia</a:t>
            </a:r>
            <a:r>
              <a:rPr dirty="0"/>
              <a:t> y </a:t>
            </a:r>
            <a:r>
              <a:rPr dirty="0" err="1"/>
              <a:t>reprodujo</a:t>
            </a:r>
            <a:r>
              <a:rPr dirty="0"/>
              <a:t> el </a:t>
            </a:r>
            <a:r>
              <a:rPr dirty="0" err="1"/>
              <a:t>vídeo</a:t>
            </a:r>
            <a:r>
              <a:rPr dirty="0"/>
              <a:t>. El </a:t>
            </a:r>
            <a:r>
              <a:rPr dirty="0" err="1"/>
              <a:t>tráfico</a:t>
            </a:r>
            <a:r>
              <a:rPr dirty="0"/>
              <a:t> </a:t>
            </a:r>
            <a:r>
              <a:rPr dirty="0" err="1"/>
              <a:t>confirmó</a:t>
            </a:r>
            <a:r>
              <a:rPr dirty="0"/>
              <a:t> dos </a:t>
            </a:r>
            <a:r>
              <a:rPr dirty="0" err="1"/>
              <a:t>peticiones</a:t>
            </a:r>
            <a:r>
              <a:rPr dirty="0"/>
              <a:t> de </a:t>
            </a:r>
            <a:r>
              <a:rPr dirty="0" err="1"/>
              <a:t>licencia</a:t>
            </a:r>
            <a:r>
              <a:rPr dirty="0"/>
              <a:t> con </a:t>
            </a:r>
            <a:r>
              <a:rPr dirty="0" err="1"/>
              <a:t>respuesta</a:t>
            </a:r>
            <a:r>
              <a:rPr dirty="0"/>
              <a:t> HTTP 200 y sin </a:t>
            </a:r>
            <a:r>
              <a:rPr dirty="0" err="1"/>
              <a:t>autenticación</a:t>
            </a:r>
            <a:r>
              <a:rPr dirty="0"/>
              <a:t> previa.</a:t>
            </a:r>
          </a:p>
          <a:p>
            <a:endParaRPr dirty="0"/>
          </a:p>
          <a:p>
            <a:r>
              <a:rPr dirty="0"/>
              <a:t>Este </a:t>
            </a:r>
            <a:r>
              <a:rPr dirty="0" err="1"/>
              <a:t>resultado</a:t>
            </a:r>
            <a:r>
              <a:rPr dirty="0"/>
              <a:t> </a:t>
            </a:r>
            <a:r>
              <a:rPr dirty="0" err="1"/>
              <a:t>demuestra</a:t>
            </a:r>
            <a:r>
              <a:rPr dirty="0"/>
              <a:t> un </a:t>
            </a:r>
            <a:r>
              <a:rPr dirty="0" err="1"/>
              <a:t>fallo</a:t>
            </a:r>
            <a:r>
              <a:rPr dirty="0"/>
              <a:t> de </a:t>
            </a:r>
            <a:r>
              <a:rPr dirty="0" err="1"/>
              <a:t>integración</a:t>
            </a:r>
            <a:r>
              <a:rPr dirty="0"/>
              <a:t>: el </a:t>
            </a:r>
            <a:r>
              <a:rPr dirty="0" err="1"/>
              <a:t>servicio</a:t>
            </a:r>
            <a:r>
              <a:rPr dirty="0"/>
              <a:t> </a:t>
            </a:r>
            <a:r>
              <a:rPr dirty="0" err="1"/>
              <a:t>permite</a:t>
            </a:r>
            <a:r>
              <a:rPr dirty="0"/>
              <a:t> </a:t>
            </a:r>
            <a:r>
              <a:rPr dirty="0" err="1"/>
              <a:t>obtener</a:t>
            </a:r>
            <a:r>
              <a:rPr dirty="0"/>
              <a:t> </a:t>
            </a:r>
            <a:r>
              <a:rPr dirty="0" err="1"/>
              <a:t>una</a:t>
            </a:r>
            <a:r>
              <a:rPr dirty="0"/>
              <a:t> </a:t>
            </a:r>
            <a:r>
              <a:rPr dirty="0" err="1"/>
              <a:t>licencia</a:t>
            </a:r>
            <a:r>
              <a:rPr dirty="0"/>
              <a:t> fuera de </a:t>
            </a:r>
            <a:r>
              <a:rPr dirty="0" err="1"/>
              <a:t>su</a:t>
            </a:r>
            <a:r>
              <a:rPr dirty="0"/>
              <a:t> </a:t>
            </a:r>
            <a:r>
              <a:rPr dirty="0" err="1"/>
              <a:t>política</a:t>
            </a:r>
            <a:r>
              <a:rPr dirty="0"/>
              <a:t> de </a:t>
            </a:r>
            <a:r>
              <a:rPr dirty="0" err="1"/>
              <a:t>acceso</a:t>
            </a:r>
            <a:r>
              <a:rPr dirty="0"/>
              <a:t>. </a:t>
            </a:r>
            <a:r>
              <a:rPr dirty="0" err="1"/>
              <a:t>Widevine</a:t>
            </a:r>
            <a:r>
              <a:rPr dirty="0"/>
              <a:t> </a:t>
            </a:r>
            <a:r>
              <a:rPr dirty="0" err="1"/>
              <a:t>sigue</a:t>
            </a:r>
            <a:r>
              <a:rPr dirty="0"/>
              <a:t> </a:t>
            </a:r>
            <a:r>
              <a:rPr dirty="0" err="1"/>
              <a:t>procesando</a:t>
            </a:r>
            <a:r>
              <a:rPr dirty="0"/>
              <a:t> la </a:t>
            </a:r>
            <a:r>
              <a:rPr dirty="0" err="1"/>
              <a:t>licencia</a:t>
            </a:r>
            <a:r>
              <a:rPr dirty="0"/>
              <a:t> y </a:t>
            </a:r>
            <a:r>
              <a:rPr dirty="0" err="1"/>
              <a:t>descifrando</a:t>
            </a:r>
            <a:r>
              <a:rPr dirty="0"/>
              <a:t> </a:t>
            </a:r>
            <a:r>
              <a:rPr dirty="0" err="1"/>
              <a:t>correctamente</a:t>
            </a:r>
            <a:r>
              <a:rPr dirty="0"/>
              <a:t>. La </a:t>
            </a:r>
            <a:r>
              <a:rPr dirty="0" err="1"/>
              <a:t>auditoría</a:t>
            </a:r>
            <a:r>
              <a:rPr dirty="0"/>
              <a:t> no </a:t>
            </a:r>
            <a:r>
              <a:rPr dirty="0" err="1"/>
              <a:t>extrajo</a:t>
            </a:r>
            <a:r>
              <a:rPr dirty="0"/>
              <a:t> claves del </a:t>
            </a:r>
            <a:r>
              <a:rPr dirty="0" err="1"/>
              <a:t>módulo</a:t>
            </a:r>
            <a:r>
              <a:rPr dirty="0"/>
              <a:t> de </a:t>
            </a:r>
            <a:r>
              <a:rPr dirty="0" err="1"/>
              <a:t>descifrado</a:t>
            </a:r>
            <a:r>
              <a:rPr dirty="0"/>
              <a:t> </a:t>
            </a:r>
            <a:r>
              <a:rPr dirty="0" err="1"/>
              <a:t>ni</a:t>
            </a:r>
            <a:r>
              <a:rPr dirty="0"/>
              <a:t> </a:t>
            </a:r>
            <a:r>
              <a:rPr dirty="0" err="1"/>
              <a:t>rompió</a:t>
            </a:r>
            <a:r>
              <a:rPr dirty="0"/>
              <a:t> la </a:t>
            </a:r>
            <a:r>
              <a:rPr dirty="0" err="1"/>
              <a:t>criptografía</a:t>
            </a:r>
            <a:r>
              <a:rPr dirty="0"/>
              <a:t>. El </a:t>
            </a:r>
            <a:r>
              <a:rPr dirty="0" err="1"/>
              <a:t>problema</a:t>
            </a:r>
            <a:r>
              <a:rPr dirty="0"/>
              <a:t> es </a:t>
            </a:r>
            <a:r>
              <a:rPr dirty="0" err="1"/>
              <a:t>que</a:t>
            </a:r>
            <a:r>
              <a:rPr dirty="0"/>
              <a:t> </a:t>
            </a:r>
            <a:r>
              <a:rPr dirty="0" err="1"/>
              <a:t>una</a:t>
            </a:r>
            <a:r>
              <a:rPr dirty="0"/>
              <a:t> </a:t>
            </a:r>
            <a:r>
              <a:rPr dirty="0" err="1"/>
              <a:t>ruta</a:t>
            </a:r>
            <a:r>
              <a:rPr dirty="0"/>
              <a:t> </a:t>
            </a:r>
            <a:r>
              <a:rPr dirty="0" err="1"/>
              <a:t>equivalente</a:t>
            </a:r>
            <a:r>
              <a:rPr dirty="0"/>
              <a:t> </a:t>
            </a:r>
            <a:r>
              <a:rPr dirty="0" err="1"/>
              <a:t>queda</a:t>
            </a:r>
            <a:r>
              <a:rPr dirty="0"/>
              <a:t> fuera del control </a:t>
            </a:r>
            <a:r>
              <a:rPr dirty="0" err="1"/>
              <a:t>que</a:t>
            </a:r>
            <a:r>
              <a:rPr dirty="0"/>
              <a:t> </a:t>
            </a:r>
            <a:r>
              <a:rPr dirty="0" err="1"/>
              <a:t>sí</a:t>
            </a:r>
            <a:r>
              <a:rPr dirty="0"/>
              <a:t> </a:t>
            </a:r>
            <a:r>
              <a:rPr dirty="0" err="1"/>
              <a:t>aplica</a:t>
            </a:r>
            <a:r>
              <a:rPr dirty="0"/>
              <a:t> la </a:t>
            </a:r>
            <a:r>
              <a:rPr dirty="0" err="1"/>
              <a:t>plataforma</a:t>
            </a:r>
            <a:r>
              <a:rPr dirty="0"/>
              <a:t> </a:t>
            </a:r>
            <a:r>
              <a:rPr dirty="0" err="1"/>
              <a:t>oficial</a:t>
            </a:r>
            <a:r>
              <a:rPr dirty="0"/>
              <a:t>.</a:t>
            </a:r>
          </a:p>
          <a:p>
            <a:endParaRPr dirty="0"/>
          </a:p>
          <a:p>
            <a:r>
              <a:rPr dirty="0" err="1"/>
              <a:t>Señalar</a:t>
            </a:r>
            <a:r>
              <a:rPr dirty="0"/>
              <a:t> la </a:t>
            </a:r>
            <a:r>
              <a:rPr dirty="0" err="1"/>
              <a:t>ruta</a:t>
            </a:r>
            <a:r>
              <a:rPr dirty="0"/>
              <a:t> sin </a:t>
            </a:r>
            <a:r>
              <a:rPr dirty="0" err="1"/>
              <a:t>autenticación</a:t>
            </a:r>
            <a:r>
              <a:rPr dirty="0"/>
              <a:t>, la </a:t>
            </a:r>
            <a:r>
              <a:rPr dirty="0" err="1"/>
              <a:t>reproducción</a:t>
            </a:r>
            <a:r>
              <a:rPr dirty="0"/>
              <a:t> y </a:t>
            </a:r>
            <a:r>
              <a:rPr dirty="0" err="1"/>
              <a:t>los</a:t>
            </a:r>
            <a:r>
              <a:rPr dirty="0"/>
              <a:t> </a:t>
            </a:r>
            <a:r>
              <a:rPr dirty="0" err="1"/>
              <a:t>eventos</a:t>
            </a:r>
            <a:r>
              <a:rPr dirty="0"/>
              <a:t>. No leer el </a:t>
            </a:r>
            <a:r>
              <a:rPr dirty="0" err="1"/>
              <a:t>registro</a:t>
            </a:r>
            <a:r>
              <a:rPr dirty="0"/>
              <a:t> </a:t>
            </a:r>
            <a:r>
              <a:rPr dirty="0" err="1"/>
              <a:t>completo</a:t>
            </a:r>
            <a:r>
              <a:rPr dirty="0"/>
              <a:t>.</a:t>
            </a:r>
          </a:p>
          <a:p>
            <a:endParaRPr dirty="0"/>
          </a:p>
          <a:p>
            <a:r>
              <a:rPr dirty="0"/>
              <a:t>Fuente: Guion_defensa_TFM.docx, </a:t>
            </a:r>
            <a:r>
              <a:rPr dirty="0" err="1"/>
              <a:t>bloque</a:t>
            </a:r>
            <a:r>
              <a:rPr dirty="0"/>
              <a:t> 5. </a:t>
            </a:r>
            <a:r>
              <a:rPr dirty="0" err="1"/>
              <a:t>Capítulo</a:t>
            </a:r>
            <a:r>
              <a:rPr dirty="0"/>
              <a:t> 4 · </a:t>
            </a:r>
            <a:r>
              <a:rPr dirty="0" err="1"/>
              <a:t>Flujo</a:t>
            </a:r>
            <a:r>
              <a:rPr dirty="0"/>
              <a:t> de </a:t>
            </a:r>
            <a:r>
              <a:rPr dirty="0" err="1"/>
              <a:t>licencias</a:t>
            </a:r>
            <a:r>
              <a:rPr dirty="0"/>
              <a:t> y </a:t>
            </a:r>
            <a:r>
              <a:rPr dirty="0" err="1"/>
              <a:t>escenarios</a:t>
            </a:r>
            <a:r>
              <a:rPr dirty="0"/>
              <a:t> E0 01 a E0 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Tiempo: 07:30–09:00.</a:t>
            </a:r>
          </a:p>
          <a:p>
            <a:endParaRPr dirty="0"/>
          </a:p>
          <a:p>
            <a:r>
              <a:rPr dirty="0"/>
              <a:t>La </a:t>
            </a:r>
            <a:r>
              <a:rPr dirty="0" err="1"/>
              <a:t>auditoría</a:t>
            </a:r>
            <a:r>
              <a:rPr dirty="0"/>
              <a:t> se </a:t>
            </a:r>
            <a:r>
              <a:rPr dirty="0" err="1"/>
              <a:t>amplió</a:t>
            </a:r>
            <a:r>
              <a:rPr dirty="0"/>
              <a:t> al resto de la </a:t>
            </a:r>
            <a:r>
              <a:rPr dirty="0" err="1"/>
              <a:t>cadena</a:t>
            </a:r>
            <a:r>
              <a:rPr dirty="0"/>
              <a:t>. El </a:t>
            </a:r>
            <a:r>
              <a:rPr dirty="0" err="1"/>
              <a:t>manifiesto</a:t>
            </a:r>
            <a:r>
              <a:rPr dirty="0"/>
              <a:t> y </a:t>
            </a:r>
            <a:r>
              <a:rPr dirty="0" err="1"/>
              <a:t>los</a:t>
            </a:r>
            <a:r>
              <a:rPr dirty="0"/>
              <a:t> </a:t>
            </a:r>
            <a:r>
              <a:rPr dirty="0" err="1"/>
              <a:t>segmentos</a:t>
            </a:r>
            <a:r>
              <a:rPr dirty="0"/>
              <a:t> locales </a:t>
            </a:r>
            <a:r>
              <a:rPr dirty="0" err="1"/>
              <a:t>podían</a:t>
            </a:r>
            <a:r>
              <a:rPr dirty="0"/>
              <a:t> </a:t>
            </a:r>
            <a:r>
              <a:rPr dirty="0" err="1"/>
              <a:t>descargarse</a:t>
            </a:r>
            <a:r>
              <a:rPr dirty="0"/>
              <a:t> sin token a </a:t>
            </a:r>
            <a:r>
              <a:rPr dirty="0" err="1"/>
              <a:t>través</a:t>
            </a:r>
            <a:r>
              <a:rPr dirty="0"/>
              <a:t> de Varnish. El </a:t>
            </a:r>
            <a:r>
              <a:rPr dirty="0" err="1"/>
              <a:t>mismo</a:t>
            </a:r>
            <a:r>
              <a:rPr dirty="0"/>
              <a:t> </a:t>
            </a:r>
            <a:r>
              <a:rPr dirty="0" err="1"/>
              <a:t>manifiesto</a:t>
            </a:r>
            <a:r>
              <a:rPr dirty="0"/>
              <a:t> también se </a:t>
            </a:r>
            <a:r>
              <a:rPr dirty="0" err="1"/>
              <a:t>obtenía</a:t>
            </a:r>
            <a:r>
              <a:rPr dirty="0"/>
              <a:t> </a:t>
            </a:r>
            <a:r>
              <a:rPr dirty="0" err="1"/>
              <a:t>directamente</a:t>
            </a:r>
            <a:r>
              <a:rPr dirty="0"/>
              <a:t> del </a:t>
            </a:r>
            <a:r>
              <a:rPr dirty="0" err="1"/>
              <a:t>origen</a:t>
            </a:r>
            <a:r>
              <a:rPr dirty="0"/>
              <a:t>, </a:t>
            </a:r>
            <a:r>
              <a:rPr dirty="0" err="1"/>
              <a:t>evitando</a:t>
            </a:r>
            <a:r>
              <a:rPr dirty="0"/>
              <a:t> el frontal. Por tanto, </a:t>
            </a:r>
            <a:r>
              <a:rPr dirty="0" err="1"/>
              <a:t>proteger</a:t>
            </a:r>
            <a:r>
              <a:rPr dirty="0"/>
              <a:t> </a:t>
            </a:r>
            <a:r>
              <a:rPr dirty="0" err="1"/>
              <a:t>únicamente</a:t>
            </a:r>
            <a:r>
              <a:rPr dirty="0"/>
              <a:t> la entrada de la CDN </a:t>
            </a:r>
            <a:r>
              <a:rPr dirty="0" err="1"/>
              <a:t>habría</a:t>
            </a:r>
            <a:r>
              <a:rPr dirty="0"/>
              <a:t> </a:t>
            </a:r>
            <a:r>
              <a:rPr dirty="0" err="1"/>
              <a:t>dejado</a:t>
            </a:r>
            <a:r>
              <a:rPr dirty="0"/>
              <a:t> un camino alternativo </a:t>
            </a:r>
            <a:r>
              <a:rPr dirty="0" err="1"/>
              <a:t>abierto</a:t>
            </a:r>
            <a:r>
              <a:rPr dirty="0"/>
              <a:t>.</a:t>
            </a:r>
          </a:p>
          <a:p>
            <a:endParaRPr dirty="0"/>
          </a:p>
          <a:p>
            <a:r>
              <a:rPr dirty="0"/>
              <a:t>En las </a:t>
            </a:r>
            <a:r>
              <a:rPr dirty="0" err="1"/>
              <a:t>sesiones</a:t>
            </a:r>
            <a:r>
              <a:rPr dirty="0"/>
              <a:t>, </a:t>
            </a:r>
            <a:r>
              <a:rPr dirty="0" err="1"/>
              <a:t>los</a:t>
            </a:r>
            <a:r>
              <a:rPr dirty="0"/>
              <a:t> tokens de </a:t>
            </a:r>
            <a:r>
              <a:rPr dirty="0" err="1"/>
              <a:t>acceso</a:t>
            </a:r>
            <a:r>
              <a:rPr dirty="0"/>
              <a:t> </a:t>
            </a:r>
            <a:r>
              <a:rPr dirty="0" err="1"/>
              <a:t>eran</a:t>
            </a:r>
            <a:r>
              <a:rPr dirty="0"/>
              <a:t> </a:t>
            </a:r>
            <a:r>
              <a:rPr dirty="0" err="1"/>
              <a:t>identificadores</a:t>
            </a:r>
            <a:r>
              <a:rPr dirty="0"/>
              <a:t> </a:t>
            </a:r>
            <a:r>
              <a:rPr dirty="0" err="1"/>
              <a:t>almacenados</a:t>
            </a:r>
            <a:r>
              <a:rPr dirty="0"/>
              <a:t> </a:t>
            </a:r>
            <a:r>
              <a:rPr dirty="0" err="1"/>
              <a:t>en</a:t>
            </a:r>
            <a:r>
              <a:rPr dirty="0"/>
              <a:t> memoria, sin </a:t>
            </a:r>
            <a:r>
              <a:rPr dirty="0" err="1"/>
              <a:t>expiración</a:t>
            </a:r>
            <a:r>
              <a:rPr dirty="0"/>
              <a:t> </a:t>
            </a:r>
            <a:r>
              <a:rPr dirty="0" err="1"/>
              <a:t>ni</a:t>
            </a:r>
            <a:r>
              <a:rPr dirty="0"/>
              <a:t> </a:t>
            </a:r>
            <a:r>
              <a:rPr dirty="0" err="1"/>
              <a:t>vínculo</a:t>
            </a:r>
            <a:r>
              <a:rPr dirty="0"/>
              <a:t> con </a:t>
            </a:r>
            <a:r>
              <a:rPr dirty="0" err="1"/>
              <a:t>dispositivo</a:t>
            </a:r>
            <a:r>
              <a:rPr dirty="0"/>
              <a:t> o </a:t>
            </a:r>
            <a:r>
              <a:rPr dirty="0" err="1"/>
              <a:t>reproducción</a:t>
            </a:r>
            <a:r>
              <a:rPr dirty="0"/>
              <a:t>. </a:t>
            </a:r>
            <a:r>
              <a:rPr dirty="0" err="1"/>
              <a:t>Tampoco</a:t>
            </a:r>
            <a:r>
              <a:rPr dirty="0"/>
              <a:t> </a:t>
            </a:r>
            <a:r>
              <a:rPr dirty="0" err="1"/>
              <a:t>existía</a:t>
            </a:r>
            <a:r>
              <a:rPr dirty="0"/>
              <a:t> un </a:t>
            </a:r>
            <a:r>
              <a:rPr dirty="0" err="1"/>
              <a:t>recuento</a:t>
            </a:r>
            <a:r>
              <a:rPr dirty="0"/>
              <a:t> de </a:t>
            </a:r>
            <a:r>
              <a:rPr dirty="0" err="1"/>
              <a:t>sesiones</a:t>
            </a:r>
            <a:r>
              <a:rPr dirty="0"/>
              <a:t> </a:t>
            </a:r>
            <a:r>
              <a:rPr dirty="0" err="1"/>
              <a:t>simultáneas</a:t>
            </a:r>
            <a:r>
              <a:rPr dirty="0"/>
              <a:t>. La </a:t>
            </a:r>
            <a:r>
              <a:rPr dirty="0" err="1"/>
              <a:t>revisión</a:t>
            </a:r>
            <a:r>
              <a:rPr dirty="0"/>
              <a:t> </a:t>
            </a:r>
            <a:r>
              <a:rPr dirty="0" err="1"/>
              <a:t>confirmó</a:t>
            </a:r>
            <a:r>
              <a:rPr dirty="0"/>
              <a:t> </a:t>
            </a:r>
            <a:r>
              <a:rPr dirty="0" err="1"/>
              <a:t>así</a:t>
            </a:r>
            <a:r>
              <a:rPr dirty="0"/>
              <a:t> </a:t>
            </a:r>
            <a:r>
              <a:rPr dirty="0" err="1"/>
              <a:t>condiciones</a:t>
            </a:r>
            <a:r>
              <a:rPr dirty="0"/>
              <a:t> </a:t>
            </a:r>
            <a:r>
              <a:rPr dirty="0" err="1"/>
              <a:t>que</a:t>
            </a:r>
            <a:r>
              <a:rPr dirty="0"/>
              <a:t> </a:t>
            </a:r>
            <a:r>
              <a:rPr dirty="0" err="1"/>
              <a:t>facilitan</a:t>
            </a:r>
            <a:r>
              <a:rPr dirty="0"/>
              <a:t> </a:t>
            </a:r>
            <a:r>
              <a:rPr dirty="0" err="1"/>
              <a:t>reutilizar</a:t>
            </a:r>
            <a:r>
              <a:rPr dirty="0"/>
              <a:t> </a:t>
            </a:r>
            <a:r>
              <a:rPr dirty="0" err="1"/>
              <a:t>credenciales</a:t>
            </a:r>
            <a:r>
              <a:rPr dirty="0"/>
              <a:t> y </a:t>
            </a:r>
            <a:r>
              <a:rPr dirty="0" err="1"/>
              <a:t>compartir</a:t>
            </a:r>
            <a:r>
              <a:rPr dirty="0"/>
              <a:t> </a:t>
            </a:r>
            <a:r>
              <a:rPr dirty="0" err="1"/>
              <a:t>cuentas</a:t>
            </a:r>
            <a:r>
              <a:rPr dirty="0"/>
              <a:t>. </a:t>
            </a:r>
            <a:r>
              <a:rPr dirty="0" err="1"/>
              <a:t>Estas</a:t>
            </a:r>
            <a:r>
              <a:rPr dirty="0"/>
              <a:t> </a:t>
            </a:r>
            <a:r>
              <a:rPr dirty="0" err="1"/>
              <a:t>carencias</a:t>
            </a:r>
            <a:r>
              <a:rPr dirty="0"/>
              <a:t> no se </a:t>
            </a:r>
            <a:r>
              <a:rPr dirty="0" err="1"/>
              <a:t>confundieron</a:t>
            </a:r>
            <a:r>
              <a:rPr dirty="0"/>
              <a:t> con </a:t>
            </a:r>
            <a:r>
              <a:rPr dirty="0" err="1"/>
              <a:t>una</a:t>
            </a:r>
            <a:r>
              <a:rPr dirty="0"/>
              <a:t> </a:t>
            </a:r>
            <a:r>
              <a:rPr dirty="0" err="1"/>
              <a:t>campaña</a:t>
            </a:r>
            <a:r>
              <a:rPr dirty="0"/>
              <a:t> </a:t>
            </a:r>
            <a:r>
              <a:rPr dirty="0" err="1"/>
              <a:t>masiva</a:t>
            </a:r>
            <a:r>
              <a:rPr dirty="0"/>
              <a:t> de </a:t>
            </a:r>
            <a:r>
              <a:rPr dirty="0" err="1"/>
              <a:t>usuarios</a:t>
            </a:r>
            <a:r>
              <a:rPr dirty="0"/>
              <a:t> o </a:t>
            </a:r>
            <a:r>
              <a:rPr dirty="0" err="1"/>
              <a:t>ubicaciones</a:t>
            </a:r>
            <a:r>
              <a:rPr dirty="0"/>
              <a:t>, </a:t>
            </a:r>
            <a:r>
              <a:rPr dirty="0" err="1"/>
              <a:t>que</a:t>
            </a:r>
            <a:r>
              <a:rPr dirty="0"/>
              <a:t> no se </a:t>
            </a:r>
            <a:r>
              <a:rPr dirty="0" err="1"/>
              <a:t>realizó</a:t>
            </a:r>
            <a:r>
              <a:rPr dirty="0"/>
              <a:t>.</a:t>
            </a:r>
          </a:p>
          <a:p>
            <a:endParaRPr dirty="0"/>
          </a:p>
          <a:p>
            <a:r>
              <a:rPr dirty="0"/>
              <a:t>Por </a:t>
            </a:r>
            <a:r>
              <a:rPr dirty="0" err="1"/>
              <a:t>último</a:t>
            </a:r>
            <a:r>
              <a:rPr dirty="0"/>
              <a:t>, la </a:t>
            </a:r>
            <a:r>
              <a:rPr dirty="0" err="1"/>
              <a:t>prueba</a:t>
            </a:r>
            <a:r>
              <a:rPr dirty="0"/>
              <a:t> </a:t>
            </a:r>
            <a:r>
              <a:rPr dirty="0" err="1"/>
              <a:t>ClearKey</a:t>
            </a:r>
            <a:r>
              <a:rPr dirty="0"/>
              <a:t> </a:t>
            </a:r>
            <a:r>
              <a:rPr dirty="0" err="1"/>
              <a:t>introdujo</a:t>
            </a:r>
            <a:r>
              <a:rPr dirty="0"/>
              <a:t> </a:t>
            </a:r>
            <a:r>
              <a:rPr dirty="0" err="1"/>
              <a:t>manualmente</a:t>
            </a:r>
            <a:r>
              <a:rPr dirty="0"/>
              <a:t> </a:t>
            </a:r>
            <a:r>
              <a:rPr dirty="0" err="1"/>
              <a:t>una</a:t>
            </a:r>
            <a:r>
              <a:rPr dirty="0"/>
              <a:t> clave del </a:t>
            </a:r>
            <a:r>
              <a:rPr dirty="0" err="1"/>
              <a:t>activo</a:t>
            </a:r>
            <a:r>
              <a:rPr dirty="0"/>
              <a:t> CENC local. El </a:t>
            </a:r>
            <a:r>
              <a:rPr dirty="0" err="1"/>
              <a:t>vídeo</a:t>
            </a:r>
            <a:r>
              <a:rPr dirty="0"/>
              <a:t> se </a:t>
            </a:r>
            <a:r>
              <a:rPr dirty="0" err="1"/>
              <a:t>reprodujo</a:t>
            </a:r>
            <a:r>
              <a:rPr dirty="0"/>
              <a:t> sin </a:t>
            </a:r>
            <a:r>
              <a:rPr dirty="0" err="1"/>
              <a:t>solicitar</a:t>
            </a:r>
            <a:r>
              <a:rPr dirty="0"/>
              <a:t> </a:t>
            </a:r>
            <a:r>
              <a:rPr dirty="0" err="1"/>
              <a:t>licencia</a:t>
            </a:r>
            <a:r>
              <a:rPr dirty="0"/>
              <a:t>. Es </a:t>
            </a:r>
            <a:r>
              <a:rPr dirty="0" err="1"/>
              <a:t>una</a:t>
            </a:r>
            <a:r>
              <a:rPr dirty="0"/>
              <a:t> </a:t>
            </a:r>
            <a:r>
              <a:rPr dirty="0" err="1"/>
              <a:t>demostración</a:t>
            </a:r>
            <a:r>
              <a:rPr dirty="0"/>
              <a:t> del </a:t>
            </a:r>
            <a:r>
              <a:rPr dirty="0" err="1"/>
              <a:t>impacto</a:t>
            </a:r>
            <a:r>
              <a:rPr dirty="0"/>
              <a:t> de </a:t>
            </a:r>
            <a:r>
              <a:rPr dirty="0" err="1"/>
              <a:t>una</a:t>
            </a:r>
            <a:r>
              <a:rPr dirty="0"/>
              <a:t> clave </a:t>
            </a:r>
            <a:r>
              <a:rPr dirty="0" err="1"/>
              <a:t>ya</a:t>
            </a:r>
            <a:r>
              <a:rPr dirty="0"/>
              <a:t> </a:t>
            </a:r>
            <a:r>
              <a:rPr dirty="0" err="1"/>
              <a:t>conocida</a:t>
            </a:r>
            <a:r>
              <a:rPr dirty="0"/>
              <a:t>, no de </a:t>
            </a:r>
            <a:r>
              <a:rPr dirty="0" err="1"/>
              <a:t>cómo</a:t>
            </a:r>
            <a:r>
              <a:rPr dirty="0"/>
              <a:t> </a:t>
            </a:r>
            <a:r>
              <a:rPr dirty="0" err="1"/>
              <a:t>extraer</a:t>
            </a:r>
            <a:r>
              <a:rPr dirty="0"/>
              <a:t> </a:t>
            </a:r>
            <a:r>
              <a:rPr dirty="0" err="1"/>
              <a:t>una</a:t>
            </a:r>
            <a:r>
              <a:rPr dirty="0"/>
              <a:t> clave de </a:t>
            </a:r>
            <a:r>
              <a:rPr dirty="0" err="1"/>
              <a:t>Widevine</a:t>
            </a:r>
            <a:r>
              <a:rPr dirty="0"/>
              <a:t>.</a:t>
            </a:r>
          </a:p>
          <a:p>
            <a:endParaRPr dirty="0"/>
          </a:p>
          <a:p>
            <a:r>
              <a:rPr dirty="0"/>
              <a:t>De </a:t>
            </a:r>
            <a:r>
              <a:rPr dirty="0" err="1"/>
              <a:t>estos</a:t>
            </a:r>
            <a:r>
              <a:rPr dirty="0"/>
              <a:t> </a:t>
            </a:r>
            <a:r>
              <a:rPr dirty="0" err="1"/>
              <a:t>resultados</a:t>
            </a:r>
            <a:r>
              <a:rPr dirty="0"/>
              <a:t> se </a:t>
            </a:r>
            <a:r>
              <a:rPr dirty="0" err="1"/>
              <a:t>derivan</a:t>
            </a:r>
            <a:r>
              <a:rPr dirty="0"/>
              <a:t> las </a:t>
            </a:r>
            <a:r>
              <a:rPr dirty="0" err="1"/>
              <a:t>defensas</a:t>
            </a:r>
            <a:r>
              <a:rPr dirty="0"/>
              <a:t>: </a:t>
            </a:r>
            <a:r>
              <a:rPr dirty="0" err="1"/>
              <a:t>cerrar</a:t>
            </a:r>
            <a:r>
              <a:rPr dirty="0"/>
              <a:t> </a:t>
            </a:r>
            <a:r>
              <a:rPr dirty="0" err="1"/>
              <a:t>rutas</a:t>
            </a:r>
            <a:r>
              <a:rPr dirty="0"/>
              <a:t> </a:t>
            </a:r>
            <a:r>
              <a:rPr dirty="0" err="1"/>
              <a:t>alternativas</a:t>
            </a:r>
            <a:r>
              <a:rPr dirty="0"/>
              <a:t>, </a:t>
            </a:r>
            <a:r>
              <a:rPr dirty="0" err="1"/>
              <a:t>internalizar</a:t>
            </a:r>
            <a:r>
              <a:rPr dirty="0"/>
              <a:t> </a:t>
            </a:r>
            <a:r>
              <a:rPr dirty="0" err="1"/>
              <a:t>los</a:t>
            </a:r>
            <a:r>
              <a:rPr dirty="0"/>
              <a:t> </a:t>
            </a:r>
            <a:r>
              <a:rPr dirty="0" err="1"/>
              <a:t>servicios</a:t>
            </a:r>
            <a:r>
              <a:rPr dirty="0"/>
              <a:t> </a:t>
            </a:r>
            <a:r>
              <a:rPr dirty="0" err="1"/>
              <a:t>sensibles</a:t>
            </a:r>
            <a:r>
              <a:rPr dirty="0"/>
              <a:t>, </a:t>
            </a:r>
            <a:r>
              <a:rPr dirty="0" err="1"/>
              <a:t>autorizar</a:t>
            </a:r>
            <a:r>
              <a:rPr dirty="0"/>
              <a:t> también el </a:t>
            </a:r>
            <a:r>
              <a:rPr dirty="0" err="1"/>
              <a:t>contenido</a:t>
            </a:r>
            <a:r>
              <a:rPr dirty="0"/>
              <a:t>, </a:t>
            </a:r>
            <a:r>
              <a:rPr dirty="0" err="1"/>
              <a:t>separar</a:t>
            </a:r>
            <a:r>
              <a:rPr dirty="0"/>
              <a:t> </a:t>
            </a:r>
            <a:r>
              <a:rPr dirty="0" err="1"/>
              <a:t>identidad</a:t>
            </a:r>
            <a:r>
              <a:rPr dirty="0"/>
              <a:t> y </a:t>
            </a:r>
            <a:r>
              <a:rPr dirty="0" err="1"/>
              <a:t>reproducción</a:t>
            </a:r>
            <a:r>
              <a:rPr dirty="0"/>
              <a:t>, </a:t>
            </a:r>
            <a:r>
              <a:rPr dirty="0" err="1"/>
              <a:t>limitar</a:t>
            </a:r>
            <a:r>
              <a:rPr dirty="0"/>
              <a:t> </a:t>
            </a:r>
            <a:r>
              <a:rPr dirty="0" err="1"/>
              <a:t>concurrencia</a:t>
            </a:r>
            <a:r>
              <a:rPr dirty="0"/>
              <a:t> y registrar </a:t>
            </a:r>
            <a:r>
              <a:rPr dirty="0" err="1"/>
              <a:t>señales</a:t>
            </a:r>
            <a:r>
              <a:rPr dirty="0"/>
              <a:t> de </a:t>
            </a:r>
            <a:r>
              <a:rPr dirty="0" err="1"/>
              <a:t>abuso</a:t>
            </a:r>
            <a:r>
              <a:rPr dirty="0"/>
              <a:t>. La </a:t>
            </a:r>
            <a:r>
              <a:rPr dirty="0" err="1"/>
              <a:t>siguiente</a:t>
            </a:r>
            <a:r>
              <a:rPr dirty="0"/>
              <a:t> </a:t>
            </a:r>
            <a:r>
              <a:rPr dirty="0" err="1"/>
              <a:t>fase</a:t>
            </a:r>
            <a:r>
              <a:rPr dirty="0"/>
              <a:t> </a:t>
            </a:r>
            <a:r>
              <a:rPr dirty="0" err="1"/>
              <a:t>implementa</a:t>
            </a:r>
            <a:r>
              <a:rPr dirty="0"/>
              <a:t> </a:t>
            </a:r>
            <a:r>
              <a:rPr dirty="0" err="1"/>
              <a:t>los</a:t>
            </a:r>
            <a:r>
              <a:rPr dirty="0"/>
              <a:t> </a:t>
            </a:r>
            <a:r>
              <a:rPr dirty="0" err="1"/>
              <a:t>controles</a:t>
            </a:r>
            <a:r>
              <a:rPr dirty="0"/>
              <a:t> </a:t>
            </a:r>
            <a:r>
              <a:rPr dirty="0" err="1"/>
              <a:t>preventivos</a:t>
            </a:r>
            <a:r>
              <a:rPr dirty="0"/>
              <a:t>.</a:t>
            </a:r>
          </a:p>
          <a:p>
            <a:endParaRPr dirty="0"/>
          </a:p>
          <a:p>
            <a:r>
              <a:rPr dirty="0" err="1"/>
              <a:t>Relacionar</a:t>
            </a:r>
            <a:r>
              <a:rPr dirty="0"/>
              <a:t> </a:t>
            </a:r>
            <a:r>
              <a:rPr dirty="0" err="1"/>
              <a:t>cada</a:t>
            </a:r>
            <a:r>
              <a:rPr dirty="0"/>
              <a:t> </a:t>
            </a:r>
            <a:r>
              <a:rPr dirty="0" err="1"/>
              <a:t>hallazgo</a:t>
            </a:r>
            <a:r>
              <a:rPr dirty="0"/>
              <a:t> con la defensa </a:t>
            </a:r>
            <a:r>
              <a:rPr dirty="0" err="1"/>
              <a:t>que</a:t>
            </a:r>
            <a:r>
              <a:rPr dirty="0"/>
              <a:t> </a:t>
            </a:r>
            <a:r>
              <a:rPr dirty="0" err="1"/>
              <a:t>motiva</a:t>
            </a:r>
            <a:r>
              <a:rPr dirty="0"/>
              <a:t>. </a:t>
            </a:r>
            <a:r>
              <a:rPr dirty="0" err="1"/>
              <a:t>Mantener</a:t>
            </a:r>
            <a:r>
              <a:rPr dirty="0"/>
              <a:t> </a:t>
            </a:r>
            <a:r>
              <a:rPr dirty="0" err="1"/>
              <a:t>separadas</a:t>
            </a:r>
            <a:r>
              <a:rPr dirty="0"/>
              <a:t> las </a:t>
            </a:r>
            <a:r>
              <a:rPr dirty="0" err="1"/>
              <a:t>pruebas</a:t>
            </a:r>
            <a:r>
              <a:rPr dirty="0"/>
              <a:t> </a:t>
            </a:r>
            <a:r>
              <a:rPr dirty="0" err="1"/>
              <a:t>Widevine</a:t>
            </a:r>
            <a:r>
              <a:rPr dirty="0"/>
              <a:t> y </a:t>
            </a:r>
            <a:r>
              <a:rPr dirty="0" err="1"/>
              <a:t>ClearKey</a:t>
            </a:r>
            <a:r>
              <a:rPr dirty="0"/>
              <a:t>.</a:t>
            </a:r>
          </a:p>
          <a:p>
            <a:endParaRPr dirty="0"/>
          </a:p>
          <a:p>
            <a:r>
              <a:rPr dirty="0"/>
              <a:t>Fuente: Guion_defensa_TFM.docx, </a:t>
            </a:r>
            <a:r>
              <a:rPr dirty="0" err="1"/>
              <a:t>bloque</a:t>
            </a:r>
            <a:r>
              <a:rPr dirty="0"/>
              <a:t> 6. </a:t>
            </a:r>
            <a:r>
              <a:rPr dirty="0" err="1"/>
              <a:t>Capítulo</a:t>
            </a:r>
            <a:r>
              <a:rPr dirty="0"/>
              <a:t> 4 · </a:t>
            </a:r>
            <a:r>
              <a:rPr dirty="0" err="1"/>
              <a:t>Hallazgos</a:t>
            </a:r>
            <a:r>
              <a:rPr dirty="0"/>
              <a:t> F0 01 a F0 05 y </a:t>
            </a:r>
            <a:r>
              <a:rPr dirty="0" err="1"/>
              <a:t>escenarios</a:t>
            </a:r>
            <a:r>
              <a:rPr dirty="0"/>
              <a:t> E0 04 a E0 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Tiempo: 09:00–10:10.</a:t>
            </a:r>
          </a:p>
          <a:p>
            <a:endParaRPr dirty="0"/>
          </a:p>
          <a:p>
            <a:r>
              <a:rPr dirty="0"/>
              <a:t>La Fase 1 </a:t>
            </a:r>
            <a:r>
              <a:rPr dirty="0" err="1"/>
              <a:t>extiende</a:t>
            </a:r>
            <a:r>
              <a:rPr dirty="0"/>
              <a:t> la </a:t>
            </a:r>
            <a:r>
              <a:rPr dirty="0" err="1"/>
              <a:t>autorización</a:t>
            </a:r>
            <a:r>
              <a:rPr dirty="0"/>
              <a:t> a </a:t>
            </a:r>
            <a:r>
              <a:rPr dirty="0" err="1"/>
              <a:t>los</a:t>
            </a:r>
            <a:r>
              <a:rPr dirty="0"/>
              <a:t> </a:t>
            </a:r>
            <a:r>
              <a:rPr dirty="0" err="1"/>
              <a:t>recursos</a:t>
            </a:r>
            <a:r>
              <a:rPr dirty="0"/>
              <a:t> </a:t>
            </a:r>
            <a:r>
              <a:rPr dirty="0" err="1"/>
              <a:t>que</a:t>
            </a:r>
            <a:r>
              <a:rPr dirty="0"/>
              <a:t> </a:t>
            </a:r>
            <a:r>
              <a:rPr dirty="0" err="1"/>
              <a:t>permiten</a:t>
            </a:r>
            <a:r>
              <a:rPr dirty="0"/>
              <a:t> </a:t>
            </a:r>
            <a:r>
              <a:rPr dirty="0" err="1"/>
              <a:t>reproducir</a:t>
            </a:r>
            <a:r>
              <a:rPr dirty="0"/>
              <a:t>. El </a:t>
            </a:r>
            <a:r>
              <a:rPr dirty="0" err="1"/>
              <a:t>origen</a:t>
            </a:r>
            <a:r>
              <a:rPr dirty="0"/>
              <a:t> y el proxy de </a:t>
            </a:r>
            <a:r>
              <a:rPr dirty="0" err="1"/>
              <a:t>licencias</a:t>
            </a:r>
            <a:r>
              <a:rPr dirty="0"/>
              <a:t> </a:t>
            </a:r>
            <a:r>
              <a:rPr dirty="0" err="1"/>
              <a:t>dejan</a:t>
            </a:r>
            <a:r>
              <a:rPr dirty="0"/>
              <a:t> de </a:t>
            </a:r>
            <a:r>
              <a:rPr dirty="0" err="1"/>
              <a:t>publicarse</a:t>
            </a:r>
            <a:r>
              <a:rPr dirty="0"/>
              <a:t> </a:t>
            </a:r>
            <a:r>
              <a:rPr dirty="0" err="1"/>
              <a:t>directamente</a:t>
            </a:r>
            <a:r>
              <a:rPr dirty="0"/>
              <a:t> </a:t>
            </a:r>
            <a:r>
              <a:rPr dirty="0" err="1"/>
              <a:t>en</a:t>
            </a:r>
            <a:r>
              <a:rPr dirty="0"/>
              <a:t> el </a:t>
            </a:r>
            <a:r>
              <a:rPr dirty="0" err="1"/>
              <a:t>equipo</a:t>
            </a:r>
            <a:r>
              <a:rPr dirty="0"/>
              <a:t> </a:t>
            </a:r>
            <a:r>
              <a:rPr dirty="0" err="1"/>
              <a:t>anfitrión</a:t>
            </a:r>
            <a:r>
              <a:rPr dirty="0"/>
              <a:t>, y </a:t>
            </a:r>
            <a:r>
              <a:rPr dirty="0" err="1"/>
              <a:t>desaparece</a:t>
            </a:r>
            <a:r>
              <a:rPr dirty="0"/>
              <a:t> la </a:t>
            </a:r>
            <a:r>
              <a:rPr dirty="0" err="1"/>
              <a:t>ruta</a:t>
            </a:r>
            <a:r>
              <a:rPr dirty="0"/>
              <a:t> de </a:t>
            </a:r>
            <a:r>
              <a:rPr dirty="0" err="1"/>
              <a:t>licencia</a:t>
            </a:r>
            <a:r>
              <a:rPr dirty="0"/>
              <a:t> sin </a:t>
            </a:r>
            <a:r>
              <a:rPr dirty="0" err="1"/>
              <a:t>autenticación</a:t>
            </a:r>
            <a:r>
              <a:rPr dirty="0"/>
              <a:t>. Las </a:t>
            </a:r>
            <a:r>
              <a:rPr dirty="0" err="1"/>
              <a:t>peticiones</a:t>
            </a:r>
            <a:r>
              <a:rPr dirty="0"/>
              <a:t> </a:t>
            </a:r>
            <a:r>
              <a:rPr dirty="0" err="1"/>
              <a:t>públicas</a:t>
            </a:r>
            <a:r>
              <a:rPr dirty="0"/>
              <a:t> </a:t>
            </a:r>
            <a:r>
              <a:rPr dirty="0" err="1"/>
              <a:t>pasan</a:t>
            </a:r>
            <a:r>
              <a:rPr dirty="0"/>
              <a:t> </a:t>
            </a:r>
            <a:r>
              <a:rPr dirty="0" err="1"/>
              <a:t>por</a:t>
            </a:r>
            <a:r>
              <a:rPr dirty="0"/>
              <a:t> Varnish y </a:t>
            </a:r>
            <a:r>
              <a:rPr dirty="0" err="1"/>
              <a:t>por</a:t>
            </a:r>
            <a:r>
              <a:rPr dirty="0"/>
              <a:t> el plano de control.</a:t>
            </a:r>
          </a:p>
          <a:p>
            <a:endParaRPr dirty="0"/>
          </a:p>
          <a:p>
            <a:r>
              <a:rPr dirty="0"/>
              <a:t>El </a:t>
            </a:r>
            <a:r>
              <a:rPr dirty="0" err="1"/>
              <a:t>flujo</a:t>
            </a:r>
            <a:r>
              <a:rPr dirty="0"/>
              <a:t> </a:t>
            </a:r>
            <a:r>
              <a:rPr dirty="0" err="1"/>
              <a:t>comienza</a:t>
            </a:r>
            <a:r>
              <a:rPr dirty="0"/>
              <a:t> con el login, </a:t>
            </a:r>
            <a:r>
              <a:rPr dirty="0" err="1"/>
              <a:t>que</a:t>
            </a:r>
            <a:r>
              <a:rPr dirty="0"/>
              <a:t> </a:t>
            </a:r>
            <a:r>
              <a:rPr dirty="0" err="1"/>
              <a:t>entrega</a:t>
            </a:r>
            <a:r>
              <a:rPr dirty="0"/>
              <a:t> </a:t>
            </a:r>
            <a:r>
              <a:rPr dirty="0" err="1"/>
              <a:t>una</a:t>
            </a:r>
            <a:r>
              <a:rPr dirty="0"/>
              <a:t> </a:t>
            </a:r>
            <a:r>
              <a:rPr dirty="0" err="1"/>
              <a:t>credencial</a:t>
            </a:r>
            <a:r>
              <a:rPr dirty="0"/>
              <a:t> de </a:t>
            </a:r>
            <a:r>
              <a:rPr dirty="0" err="1"/>
              <a:t>acceso</a:t>
            </a:r>
            <a:r>
              <a:rPr dirty="0"/>
              <a:t>. Esta </a:t>
            </a:r>
            <a:r>
              <a:rPr dirty="0" err="1"/>
              <a:t>permite</a:t>
            </a:r>
            <a:r>
              <a:rPr dirty="0"/>
              <a:t> </a:t>
            </a:r>
            <a:r>
              <a:rPr dirty="0" err="1"/>
              <a:t>solicitar</a:t>
            </a:r>
            <a:r>
              <a:rPr dirty="0"/>
              <a:t> </a:t>
            </a:r>
            <a:r>
              <a:rPr dirty="0" err="1"/>
              <a:t>una</a:t>
            </a:r>
            <a:r>
              <a:rPr dirty="0"/>
              <a:t> </a:t>
            </a:r>
            <a:r>
              <a:rPr dirty="0" err="1"/>
              <a:t>sesión</a:t>
            </a:r>
            <a:r>
              <a:rPr dirty="0"/>
              <a:t> para un </a:t>
            </a:r>
            <a:r>
              <a:rPr dirty="0" err="1"/>
              <a:t>activo</a:t>
            </a:r>
            <a:r>
              <a:rPr dirty="0"/>
              <a:t>. El </a:t>
            </a:r>
            <a:r>
              <a:rPr dirty="0" err="1"/>
              <a:t>servidor</a:t>
            </a:r>
            <a:r>
              <a:rPr dirty="0"/>
              <a:t> </a:t>
            </a:r>
            <a:r>
              <a:rPr dirty="0" err="1"/>
              <a:t>comprueba</a:t>
            </a:r>
            <a:r>
              <a:rPr dirty="0"/>
              <a:t> </a:t>
            </a:r>
            <a:r>
              <a:rPr dirty="0" err="1"/>
              <a:t>permisos</a:t>
            </a:r>
            <a:r>
              <a:rPr dirty="0"/>
              <a:t> y </a:t>
            </a:r>
            <a:r>
              <a:rPr dirty="0" err="1"/>
              <a:t>concurrencia</a:t>
            </a:r>
            <a:r>
              <a:rPr dirty="0"/>
              <a:t> y </a:t>
            </a:r>
            <a:r>
              <a:rPr dirty="0" err="1"/>
              <a:t>emite</a:t>
            </a:r>
            <a:r>
              <a:rPr dirty="0"/>
              <a:t> </a:t>
            </a:r>
            <a:r>
              <a:rPr dirty="0" err="1"/>
              <a:t>una</a:t>
            </a:r>
            <a:r>
              <a:rPr dirty="0"/>
              <a:t> </a:t>
            </a:r>
            <a:r>
              <a:rPr dirty="0" err="1"/>
              <a:t>credencial</a:t>
            </a:r>
            <a:r>
              <a:rPr dirty="0"/>
              <a:t> de </a:t>
            </a:r>
            <a:r>
              <a:rPr dirty="0" err="1"/>
              <a:t>reproducción</a:t>
            </a:r>
            <a:r>
              <a:rPr dirty="0"/>
              <a:t> </a:t>
            </a:r>
            <a:r>
              <a:rPr dirty="0" err="1"/>
              <a:t>distinta</a:t>
            </a:r>
            <a:r>
              <a:rPr dirty="0"/>
              <a:t>, </a:t>
            </a:r>
            <a:r>
              <a:rPr dirty="0" err="1"/>
              <a:t>ligada</a:t>
            </a:r>
            <a:r>
              <a:rPr dirty="0"/>
              <a:t> a </a:t>
            </a:r>
            <a:r>
              <a:rPr dirty="0" err="1"/>
              <a:t>cuenta</a:t>
            </a:r>
            <a:r>
              <a:rPr dirty="0"/>
              <a:t>, </a:t>
            </a:r>
            <a:r>
              <a:rPr dirty="0" err="1"/>
              <a:t>dispositivo</a:t>
            </a:r>
            <a:r>
              <a:rPr dirty="0"/>
              <a:t>, </a:t>
            </a:r>
            <a:r>
              <a:rPr dirty="0" err="1"/>
              <a:t>instancia</a:t>
            </a:r>
            <a:r>
              <a:rPr dirty="0"/>
              <a:t> de </a:t>
            </a:r>
            <a:r>
              <a:rPr dirty="0" err="1"/>
              <a:t>cliente</a:t>
            </a:r>
            <a:r>
              <a:rPr dirty="0"/>
              <a:t>, </a:t>
            </a:r>
            <a:r>
              <a:rPr dirty="0" err="1"/>
              <a:t>activo</a:t>
            </a:r>
            <a:r>
              <a:rPr dirty="0"/>
              <a:t> y </a:t>
            </a:r>
            <a:r>
              <a:rPr dirty="0" err="1"/>
              <a:t>sesión</a:t>
            </a:r>
            <a:r>
              <a:rPr dirty="0"/>
              <a:t>. </a:t>
            </a:r>
            <a:r>
              <a:rPr dirty="0" err="1"/>
              <a:t>Así</a:t>
            </a:r>
            <a:r>
              <a:rPr dirty="0"/>
              <a:t>, </a:t>
            </a:r>
            <a:r>
              <a:rPr dirty="0" err="1"/>
              <a:t>autenticarse</a:t>
            </a:r>
            <a:r>
              <a:rPr dirty="0"/>
              <a:t> y </a:t>
            </a:r>
            <a:r>
              <a:rPr dirty="0" err="1"/>
              <a:t>obtener</a:t>
            </a:r>
            <a:r>
              <a:rPr dirty="0"/>
              <a:t> </a:t>
            </a:r>
            <a:r>
              <a:rPr dirty="0" err="1"/>
              <a:t>permiso</a:t>
            </a:r>
            <a:r>
              <a:rPr dirty="0"/>
              <a:t> para </a:t>
            </a:r>
            <a:r>
              <a:rPr dirty="0" err="1"/>
              <a:t>reproducir</a:t>
            </a:r>
            <a:r>
              <a:rPr dirty="0"/>
              <a:t> son </a:t>
            </a:r>
            <a:r>
              <a:rPr dirty="0" err="1"/>
              <a:t>decisiones</a:t>
            </a:r>
            <a:r>
              <a:rPr dirty="0"/>
              <a:t> </a:t>
            </a:r>
            <a:r>
              <a:rPr dirty="0" err="1"/>
              <a:t>separadas</a:t>
            </a:r>
            <a:r>
              <a:rPr dirty="0"/>
              <a:t>.</a:t>
            </a:r>
          </a:p>
          <a:p>
            <a:endParaRPr dirty="0"/>
          </a:p>
          <a:p>
            <a:r>
              <a:rPr dirty="0" err="1"/>
              <a:t>Destacar</a:t>
            </a:r>
            <a:r>
              <a:rPr dirty="0"/>
              <a:t> </a:t>
            </a:r>
            <a:r>
              <a:rPr dirty="0" err="1"/>
              <a:t>los</a:t>
            </a:r>
            <a:r>
              <a:rPr dirty="0"/>
              <a:t> </a:t>
            </a:r>
            <a:r>
              <a:rPr dirty="0" err="1"/>
              <a:t>valores</a:t>
            </a:r>
            <a:r>
              <a:rPr dirty="0"/>
              <a:t> 90, 20 y 45 </a:t>
            </a:r>
            <a:r>
              <a:rPr dirty="0" err="1"/>
              <a:t>segundos</a:t>
            </a:r>
            <a:r>
              <a:rPr dirty="0"/>
              <a:t> y el </a:t>
            </a:r>
            <a:r>
              <a:rPr dirty="0" err="1"/>
              <a:t>máximo</a:t>
            </a:r>
            <a:r>
              <a:rPr dirty="0"/>
              <a:t> de </a:t>
            </a:r>
            <a:r>
              <a:rPr dirty="0" err="1"/>
              <a:t>una</a:t>
            </a:r>
            <a:r>
              <a:rPr dirty="0"/>
              <a:t> </a:t>
            </a:r>
            <a:r>
              <a:rPr dirty="0" err="1"/>
              <a:t>sesión</a:t>
            </a:r>
            <a:r>
              <a:rPr dirty="0"/>
              <a:t>. </a:t>
            </a:r>
            <a:r>
              <a:rPr dirty="0" err="1"/>
              <a:t>Evitar</a:t>
            </a:r>
            <a:r>
              <a:rPr dirty="0"/>
              <a:t> el </a:t>
            </a:r>
            <a:r>
              <a:rPr dirty="0" err="1"/>
              <a:t>detalle</a:t>
            </a:r>
            <a:r>
              <a:rPr dirty="0"/>
              <a:t> del </a:t>
            </a:r>
            <a:r>
              <a:rPr dirty="0" err="1"/>
              <a:t>formato</a:t>
            </a:r>
            <a:r>
              <a:rPr dirty="0"/>
              <a:t> de </a:t>
            </a:r>
            <a:r>
              <a:rPr dirty="0" err="1"/>
              <a:t>firma</a:t>
            </a:r>
            <a:r>
              <a:rPr dirty="0"/>
              <a:t>.</a:t>
            </a:r>
          </a:p>
          <a:p>
            <a:endParaRPr dirty="0"/>
          </a:p>
          <a:p>
            <a:r>
              <a:rPr dirty="0"/>
              <a:t>Fuente: Guion_defensa_TFM.docx, </a:t>
            </a:r>
            <a:r>
              <a:rPr dirty="0" err="1"/>
              <a:t>bloque</a:t>
            </a:r>
            <a:r>
              <a:rPr dirty="0"/>
              <a:t> 7. </a:t>
            </a:r>
            <a:r>
              <a:rPr dirty="0" err="1"/>
              <a:t>Capítulos</a:t>
            </a:r>
            <a:r>
              <a:rPr dirty="0"/>
              <a:t> 5 y 6 · </a:t>
            </a:r>
            <a:r>
              <a:rPr dirty="0" err="1"/>
              <a:t>Autorización</a:t>
            </a:r>
            <a:r>
              <a:rPr dirty="0"/>
              <a:t>, </a:t>
            </a:r>
            <a:r>
              <a:rPr dirty="0" err="1"/>
              <a:t>credenciales</a:t>
            </a:r>
            <a:r>
              <a:rPr dirty="0"/>
              <a:t> y </a:t>
            </a:r>
            <a:r>
              <a:rPr dirty="0" err="1"/>
              <a:t>ciclo</a:t>
            </a:r>
            <a:r>
              <a:rPr dirty="0"/>
              <a:t> de </a:t>
            </a:r>
            <a:r>
              <a:rPr dirty="0" err="1"/>
              <a:t>vida</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10:10–11:00.</a:t>
            </a:r>
          </a:p>
          <a:p>
            <a:endParaRPr/>
          </a:p>
          <a:p>
            <a:r>
              <a:t>La credencial de reproducción dura 90 segundos. El cliente envía una señal de mantenimiento, o heartbeat, cada 20 segundos para renovar el permiso. Si transcurren más de 45 segundos sin esa señal, la sesión deja de mantenerse. El laboratorio admite una sola reproducción simultánea por cuenta.</a:t>
            </a:r>
          </a:p>
          <a:p>
            <a:endParaRPr/>
          </a:p>
          <a:p>
            <a:r>
              <a:t>Antes de entregar manifiesto, contenido local o licencia se comprueban firma, expiración y coherencia con la sesión almacenada. Al detener la reproducción se invalida su uso aunque el token todavía no haya caducado. El estado del servidor conserva así la capacidad de revocar.</a:t>
            </a:r>
          </a:p>
          <a:p>
            <a:endParaRPr/>
          </a:p>
          <a:p>
            <a:r>
              <a:t>Esta fase mantiene las sesiones y los límites de peticiones en memoria. CORS restringe orígenes web, pero la autorización efectiva se aplica en el servidor. El cambio que debemos comprobar es si un cliente externo sigue pudiendo evitar esas validaciones.</a:t>
            </a:r>
          </a:p>
          <a:p>
            <a:endParaRPr/>
          </a:p>
          <a:p>
            <a:r>
              <a:t>Destacar los valores 90, 20 y 45 segundos y el máximo de una sesión. Evitar el detalle del formato de firma.</a:t>
            </a:r>
          </a:p>
          <a:p>
            <a:endParaRPr/>
          </a:p>
          <a:p>
            <a:r>
              <a:t>Fuente: Guion_defensa_TFM.docx, bloque 7. Capítulos 5 y 6 · Autorización, credenciales y ciclo de vida.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11:00–12:45.</a:t>
            </a:r>
          </a:p>
          <a:p>
            <a:endParaRPr/>
          </a:p>
          <a:p>
            <a:r>
              <a:t>Para validar la Fase 1 comprobé primero que la reproducción Widevine legítima seguía funcionando. Después se modificó una sola condición por prueba. Sin token, la petición recibió un 401. Con un token alterado, también un 401. Con una sesión distinta, un 409. Y al pedir un activo diferente, un 403. Estos son los cuatro resultados principales.</a:t>
            </a:r>
          </a:p>
          <a:p>
            <a:endParaRPr/>
          </a:p>
          <a:p>
            <a:r>
              <a:t>También se comprobó la eliminación del bypass. La antigua ruta de licencia devolvió 401 sin credencial y 404 al presentar un token válido: ya no existía un endpoint alternativo utilizable. La topología confirmó que origen y licencia habían dejado de publicar sus puertos.</a:t>
            </a:r>
          </a:p>
          <a:p>
            <a:endParaRPr/>
          </a:p>
          <a:p>
            <a:r>
              <a:t>Las pruebas con estado verificaron dos comportamientos adicionales. Una segunda reproducción de la misma cuenta recibió un 409 por concurrencia. Después de detener la sesión, el token anterior recibió un 401 al volver a solicitar el manifiesto. Conservar el token ya no era suficiente para continuar.</a:t>
            </a:r>
          </a:p>
          <a:p>
            <a:endParaRPr/>
          </a:p>
          <a:p>
            <a:r>
              <a:t>La Fase 1 superó 21 comprobaciones generales y 11 complementarias, 32 en total. Su aportación es la prevención: cerrar accesos anónimos y rechazar contextos incoherentes. Un rechazo aislado todavía no se convierte en una puntuación de riesgo ni en un bloqueo por comportamiento acumulado. Ese es el objetivo de la Fase 2.</a:t>
            </a:r>
          </a:p>
          <a:p>
            <a:endParaRPr/>
          </a:p>
          <a:p>
            <a:r>
              <a:t>Leer las cuatro condiciones y sus resultados, no los campos internos de la captura.</a:t>
            </a:r>
          </a:p>
          <a:p>
            <a:endParaRPr/>
          </a:p>
          <a:p>
            <a:r>
              <a:t>Fuente: Guion_defensa_TFM.docx, bloque 8. Capítulo 7 · Evaluación del sistema propuesto y comparativa.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Tiempo: 12:45–14:15.</a:t>
            </a:r>
          </a:p>
          <a:p>
            <a:endParaRPr dirty="0"/>
          </a:p>
          <a:p>
            <a:r>
              <a:rPr dirty="0"/>
              <a:t>La Fase 2 </a:t>
            </a:r>
            <a:r>
              <a:rPr dirty="0" err="1"/>
              <a:t>conserva</a:t>
            </a:r>
            <a:r>
              <a:rPr dirty="0"/>
              <a:t> la </a:t>
            </a:r>
            <a:r>
              <a:rPr dirty="0" err="1"/>
              <a:t>autorización</a:t>
            </a:r>
            <a:r>
              <a:rPr dirty="0"/>
              <a:t> contextual y </a:t>
            </a:r>
            <a:r>
              <a:rPr dirty="0" err="1"/>
              <a:t>añade</a:t>
            </a:r>
            <a:r>
              <a:rPr dirty="0"/>
              <a:t> Redis </a:t>
            </a:r>
            <a:r>
              <a:rPr dirty="0" err="1"/>
              <a:t>como</a:t>
            </a:r>
            <a:r>
              <a:rPr dirty="0"/>
              <a:t> </a:t>
            </a:r>
            <a:r>
              <a:rPr dirty="0" err="1"/>
              <a:t>almacén</a:t>
            </a:r>
            <a:r>
              <a:rPr dirty="0"/>
              <a:t> </a:t>
            </a:r>
            <a:r>
              <a:rPr dirty="0" err="1"/>
              <a:t>compartido</a:t>
            </a:r>
            <a:r>
              <a:rPr dirty="0"/>
              <a:t> de </a:t>
            </a:r>
            <a:r>
              <a:rPr dirty="0" err="1"/>
              <a:t>sesiones</a:t>
            </a:r>
            <a:r>
              <a:rPr dirty="0"/>
              <a:t>, </a:t>
            </a:r>
            <a:r>
              <a:rPr dirty="0" err="1"/>
              <a:t>eventos</a:t>
            </a:r>
            <a:r>
              <a:rPr dirty="0"/>
              <a:t>, </a:t>
            </a:r>
            <a:r>
              <a:rPr dirty="0" err="1"/>
              <a:t>contadores</a:t>
            </a:r>
            <a:r>
              <a:rPr dirty="0"/>
              <a:t>, </a:t>
            </a:r>
            <a:r>
              <a:rPr dirty="0" err="1"/>
              <a:t>riesgo</a:t>
            </a:r>
            <a:r>
              <a:rPr dirty="0"/>
              <a:t> y </a:t>
            </a:r>
            <a:r>
              <a:rPr dirty="0" err="1"/>
              <a:t>bloqueos</a:t>
            </a:r>
            <a:r>
              <a:rPr dirty="0"/>
              <a:t>. En </a:t>
            </a:r>
            <a:r>
              <a:rPr dirty="0" err="1"/>
              <a:t>este</a:t>
            </a:r>
            <a:r>
              <a:rPr dirty="0"/>
              <a:t> </a:t>
            </a:r>
            <a:r>
              <a:rPr dirty="0" err="1"/>
              <a:t>prototipo</a:t>
            </a:r>
            <a:r>
              <a:rPr dirty="0"/>
              <a:t> el </a:t>
            </a:r>
            <a:r>
              <a:rPr dirty="0" err="1"/>
              <a:t>estado</a:t>
            </a:r>
            <a:r>
              <a:rPr dirty="0"/>
              <a:t> es temporal y no se </a:t>
            </a:r>
            <a:r>
              <a:rPr dirty="0" err="1"/>
              <a:t>conserva</a:t>
            </a:r>
            <a:r>
              <a:rPr dirty="0"/>
              <a:t> </a:t>
            </a:r>
            <a:r>
              <a:rPr dirty="0" err="1"/>
              <a:t>en</a:t>
            </a:r>
            <a:r>
              <a:rPr dirty="0"/>
              <a:t> disco </a:t>
            </a:r>
            <a:r>
              <a:rPr dirty="0" err="1"/>
              <a:t>después</a:t>
            </a:r>
            <a:r>
              <a:rPr dirty="0"/>
              <a:t> de </a:t>
            </a:r>
            <a:r>
              <a:rPr dirty="0" err="1"/>
              <a:t>reiniciar</a:t>
            </a:r>
            <a:r>
              <a:rPr dirty="0"/>
              <a:t> Redis.</a:t>
            </a:r>
          </a:p>
          <a:p>
            <a:endParaRPr dirty="0"/>
          </a:p>
          <a:p>
            <a:r>
              <a:rPr dirty="0"/>
              <a:t>El </a:t>
            </a:r>
            <a:r>
              <a:rPr dirty="0" err="1"/>
              <a:t>diagrama</a:t>
            </a:r>
            <a:r>
              <a:rPr dirty="0"/>
              <a:t> resume el </a:t>
            </a:r>
            <a:r>
              <a:rPr dirty="0" err="1"/>
              <a:t>proceso</a:t>
            </a:r>
            <a:r>
              <a:rPr dirty="0"/>
              <a:t>. Una </a:t>
            </a:r>
            <a:r>
              <a:rPr dirty="0" err="1"/>
              <a:t>operación</a:t>
            </a:r>
            <a:r>
              <a:rPr dirty="0"/>
              <a:t> genera </a:t>
            </a:r>
            <a:r>
              <a:rPr dirty="0" err="1"/>
              <a:t>una</a:t>
            </a:r>
            <a:r>
              <a:rPr dirty="0"/>
              <a:t> </a:t>
            </a:r>
            <a:r>
              <a:rPr dirty="0" err="1"/>
              <a:t>señal</a:t>
            </a:r>
            <a:r>
              <a:rPr dirty="0"/>
              <a:t>, </a:t>
            </a:r>
            <a:r>
              <a:rPr dirty="0" err="1"/>
              <a:t>esa</a:t>
            </a:r>
            <a:r>
              <a:rPr dirty="0"/>
              <a:t> </a:t>
            </a:r>
            <a:r>
              <a:rPr dirty="0" err="1"/>
              <a:t>señal</a:t>
            </a:r>
            <a:r>
              <a:rPr dirty="0"/>
              <a:t> se </a:t>
            </a:r>
            <a:r>
              <a:rPr dirty="0" err="1"/>
              <a:t>relaciona</a:t>
            </a:r>
            <a:r>
              <a:rPr dirty="0"/>
              <a:t> con el </a:t>
            </a:r>
            <a:r>
              <a:rPr dirty="0" err="1"/>
              <a:t>estado</a:t>
            </a:r>
            <a:r>
              <a:rPr dirty="0"/>
              <a:t> </a:t>
            </a:r>
            <a:r>
              <a:rPr dirty="0" err="1"/>
              <a:t>previo</a:t>
            </a:r>
            <a:r>
              <a:rPr dirty="0"/>
              <a:t>, las </a:t>
            </a:r>
            <a:r>
              <a:rPr dirty="0" err="1"/>
              <a:t>reglas</a:t>
            </a:r>
            <a:r>
              <a:rPr dirty="0"/>
              <a:t> </a:t>
            </a:r>
            <a:r>
              <a:rPr dirty="0" err="1"/>
              <a:t>modifican</a:t>
            </a:r>
            <a:r>
              <a:rPr dirty="0"/>
              <a:t> el </a:t>
            </a:r>
            <a:r>
              <a:rPr dirty="0" err="1"/>
              <a:t>riesgo</a:t>
            </a:r>
            <a:r>
              <a:rPr dirty="0"/>
              <a:t> y, </a:t>
            </a:r>
            <a:r>
              <a:rPr dirty="0" err="1"/>
              <a:t>cuando</a:t>
            </a:r>
            <a:r>
              <a:rPr dirty="0"/>
              <a:t> </a:t>
            </a:r>
            <a:r>
              <a:rPr dirty="0" err="1"/>
              <a:t>corresponde</a:t>
            </a:r>
            <a:r>
              <a:rPr dirty="0"/>
              <a:t>, se </a:t>
            </a:r>
            <a:r>
              <a:rPr dirty="0" err="1"/>
              <a:t>aplica</a:t>
            </a:r>
            <a:r>
              <a:rPr dirty="0"/>
              <a:t> </a:t>
            </a:r>
            <a:r>
              <a:rPr dirty="0" err="1"/>
              <a:t>una</a:t>
            </a:r>
            <a:r>
              <a:rPr dirty="0"/>
              <a:t> </a:t>
            </a:r>
            <a:r>
              <a:rPr dirty="0" err="1"/>
              <a:t>respuesta</a:t>
            </a:r>
            <a:r>
              <a:rPr dirty="0"/>
              <a:t>. Se </a:t>
            </a:r>
            <a:r>
              <a:rPr dirty="0" err="1"/>
              <a:t>observan</a:t>
            </a:r>
            <a:r>
              <a:rPr dirty="0"/>
              <a:t>, entre </a:t>
            </a:r>
            <a:r>
              <a:rPr dirty="0" err="1"/>
              <a:t>otras</a:t>
            </a:r>
            <a:r>
              <a:rPr dirty="0"/>
              <a:t> </a:t>
            </a:r>
            <a:r>
              <a:rPr dirty="0" err="1"/>
              <a:t>señales</a:t>
            </a:r>
            <a:r>
              <a:rPr dirty="0"/>
              <a:t>, </a:t>
            </a:r>
            <a:r>
              <a:rPr dirty="0" err="1"/>
              <a:t>rechazos</a:t>
            </a:r>
            <a:r>
              <a:rPr dirty="0"/>
              <a:t> de </a:t>
            </a:r>
            <a:r>
              <a:rPr dirty="0" err="1"/>
              <a:t>concurrencia</a:t>
            </a:r>
            <a:r>
              <a:rPr dirty="0"/>
              <a:t>, </a:t>
            </a:r>
            <a:r>
              <a:rPr dirty="0" err="1"/>
              <a:t>fallos</a:t>
            </a:r>
            <a:r>
              <a:rPr dirty="0"/>
              <a:t> de </a:t>
            </a:r>
            <a:r>
              <a:rPr dirty="0" err="1"/>
              <a:t>autenticación</a:t>
            </a:r>
            <a:r>
              <a:rPr dirty="0"/>
              <a:t>, </a:t>
            </a:r>
            <a:r>
              <a:rPr dirty="0" err="1"/>
              <a:t>actividad</a:t>
            </a:r>
            <a:r>
              <a:rPr dirty="0"/>
              <a:t> </a:t>
            </a:r>
            <a:r>
              <a:rPr dirty="0" err="1"/>
              <a:t>desde</a:t>
            </a:r>
            <a:r>
              <a:rPr dirty="0"/>
              <a:t> </a:t>
            </a:r>
            <a:r>
              <a:rPr dirty="0" err="1"/>
              <a:t>varias</a:t>
            </a:r>
            <a:r>
              <a:rPr dirty="0"/>
              <a:t> IP y </a:t>
            </a:r>
            <a:r>
              <a:rPr dirty="0" err="1"/>
              <a:t>consumo</a:t>
            </a:r>
            <a:r>
              <a:rPr dirty="0"/>
              <a:t> de </a:t>
            </a:r>
            <a:r>
              <a:rPr dirty="0" err="1"/>
              <a:t>contenido</a:t>
            </a:r>
            <a:r>
              <a:rPr dirty="0"/>
              <a:t> sin </a:t>
            </a:r>
            <a:r>
              <a:rPr dirty="0" err="1"/>
              <a:t>licencia</a:t>
            </a:r>
            <a:r>
              <a:rPr dirty="0"/>
              <a:t> </a:t>
            </a:r>
            <a:r>
              <a:rPr dirty="0" err="1"/>
              <a:t>observada</a:t>
            </a:r>
            <a:r>
              <a:rPr dirty="0"/>
              <a:t>.</a:t>
            </a:r>
          </a:p>
          <a:p>
            <a:endParaRPr dirty="0"/>
          </a:p>
          <a:p>
            <a:r>
              <a:rPr dirty="0"/>
              <a:t>El umbral de </a:t>
            </a:r>
            <a:r>
              <a:rPr dirty="0" err="1"/>
              <a:t>bloqueo</a:t>
            </a:r>
            <a:r>
              <a:rPr dirty="0"/>
              <a:t> de </a:t>
            </a:r>
            <a:r>
              <a:rPr dirty="0" err="1"/>
              <a:t>cuenta</a:t>
            </a:r>
            <a:r>
              <a:rPr dirty="0"/>
              <a:t> es de 100 puntos. </a:t>
            </a:r>
            <a:r>
              <a:rPr dirty="0" err="1"/>
              <a:t>Además</a:t>
            </a:r>
            <a:r>
              <a:rPr dirty="0"/>
              <a:t>, </a:t>
            </a:r>
            <a:r>
              <a:rPr dirty="0" err="1"/>
              <a:t>una</a:t>
            </a:r>
            <a:r>
              <a:rPr dirty="0"/>
              <a:t> </a:t>
            </a:r>
            <a:r>
              <a:rPr dirty="0" err="1"/>
              <a:t>ráfaga</a:t>
            </a:r>
            <a:r>
              <a:rPr dirty="0"/>
              <a:t> de </a:t>
            </a:r>
            <a:r>
              <a:rPr dirty="0" err="1"/>
              <a:t>fallos</a:t>
            </a:r>
            <a:r>
              <a:rPr dirty="0"/>
              <a:t> de </a:t>
            </a:r>
            <a:r>
              <a:rPr dirty="0" err="1"/>
              <a:t>autenticación</a:t>
            </a:r>
            <a:r>
              <a:rPr dirty="0"/>
              <a:t> </a:t>
            </a:r>
            <a:r>
              <a:rPr dirty="0" err="1"/>
              <a:t>puede</a:t>
            </a:r>
            <a:r>
              <a:rPr dirty="0"/>
              <a:t> </a:t>
            </a:r>
            <a:r>
              <a:rPr dirty="0" err="1"/>
              <a:t>bloquear</a:t>
            </a:r>
            <a:r>
              <a:rPr dirty="0"/>
              <a:t> </a:t>
            </a:r>
            <a:r>
              <a:rPr dirty="0" err="1"/>
              <a:t>directamente</a:t>
            </a:r>
            <a:r>
              <a:rPr dirty="0"/>
              <a:t> un </a:t>
            </a:r>
            <a:r>
              <a:rPr dirty="0" err="1"/>
              <a:t>dispositivo</a:t>
            </a:r>
            <a:r>
              <a:rPr dirty="0"/>
              <a:t>. La IP </a:t>
            </a:r>
            <a:r>
              <a:rPr dirty="0" err="1"/>
              <a:t>aporta</a:t>
            </a:r>
            <a:r>
              <a:rPr dirty="0"/>
              <a:t> </a:t>
            </a:r>
            <a:r>
              <a:rPr dirty="0" err="1"/>
              <a:t>contexto</a:t>
            </a:r>
            <a:r>
              <a:rPr dirty="0"/>
              <a:t>; </a:t>
            </a:r>
            <a:r>
              <a:rPr dirty="0" err="1"/>
              <a:t>los</a:t>
            </a:r>
            <a:r>
              <a:rPr dirty="0"/>
              <a:t> </a:t>
            </a:r>
            <a:r>
              <a:rPr dirty="0" err="1"/>
              <a:t>sujetos</a:t>
            </a:r>
            <a:r>
              <a:rPr dirty="0"/>
              <a:t> </a:t>
            </a:r>
            <a:r>
              <a:rPr dirty="0" err="1"/>
              <a:t>principales</a:t>
            </a:r>
            <a:r>
              <a:rPr dirty="0"/>
              <a:t> de </a:t>
            </a:r>
            <a:r>
              <a:rPr dirty="0" err="1"/>
              <a:t>bloqueo</a:t>
            </a:r>
            <a:r>
              <a:rPr dirty="0"/>
              <a:t> son la </a:t>
            </a:r>
            <a:r>
              <a:rPr dirty="0" err="1"/>
              <a:t>cuenta</a:t>
            </a:r>
            <a:r>
              <a:rPr dirty="0"/>
              <a:t> y el </a:t>
            </a:r>
            <a:r>
              <a:rPr dirty="0" err="1"/>
              <a:t>dispositivo</a:t>
            </a:r>
            <a:r>
              <a:rPr dirty="0"/>
              <a:t>.</a:t>
            </a:r>
          </a:p>
          <a:p>
            <a:endParaRPr dirty="0"/>
          </a:p>
          <a:p>
            <a:r>
              <a:rPr dirty="0"/>
              <a:t>El plano </a:t>
            </a:r>
            <a:r>
              <a:rPr dirty="0" err="1"/>
              <a:t>administrativo</a:t>
            </a:r>
            <a:r>
              <a:rPr dirty="0"/>
              <a:t> </a:t>
            </a:r>
            <a:r>
              <a:rPr dirty="0" err="1"/>
              <a:t>está</a:t>
            </a:r>
            <a:r>
              <a:rPr dirty="0"/>
              <a:t> </a:t>
            </a:r>
            <a:r>
              <a:rPr dirty="0" err="1"/>
              <a:t>separado</a:t>
            </a:r>
            <a:r>
              <a:rPr dirty="0"/>
              <a:t> del </a:t>
            </a:r>
            <a:r>
              <a:rPr dirty="0" err="1"/>
              <a:t>permiso</a:t>
            </a:r>
            <a:r>
              <a:rPr dirty="0"/>
              <a:t> para </a:t>
            </a:r>
            <a:r>
              <a:rPr dirty="0" err="1"/>
              <a:t>reproducir</a:t>
            </a:r>
            <a:r>
              <a:rPr dirty="0"/>
              <a:t> y </a:t>
            </a:r>
            <a:r>
              <a:rPr dirty="0" err="1"/>
              <a:t>permite</a:t>
            </a:r>
            <a:r>
              <a:rPr dirty="0"/>
              <a:t> </a:t>
            </a:r>
            <a:r>
              <a:rPr dirty="0" err="1"/>
              <a:t>consultar</a:t>
            </a:r>
            <a:r>
              <a:rPr dirty="0"/>
              <a:t> </a:t>
            </a:r>
            <a:r>
              <a:rPr dirty="0" err="1"/>
              <a:t>eventos</a:t>
            </a:r>
            <a:r>
              <a:rPr dirty="0"/>
              <a:t> y </a:t>
            </a:r>
            <a:r>
              <a:rPr dirty="0" err="1"/>
              <a:t>retirar</a:t>
            </a:r>
            <a:r>
              <a:rPr dirty="0"/>
              <a:t> </a:t>
            </a:r>
            <a:r>
              <a:rPr dirty="0" err="1"/>
              <a:t>bloqueos</a:t>
            </a:r>
            <a:r>
              <a:rPr dirty="0"/>
              <a:t>. Esto </a:t>
            </a:r>
            <a:r>
              <a:rPr dirty="0" err="1"/>
              <a:t>hace</a:t>
            </a:r>
            <a:r>
              <a:rPr dirty="0"/>
              <a:t> </a:t>
            </a:r>
            <a:r>
              <a:rPr dirty="0" err="1"/>
              <a:t>verificable</a:t>
            </a:r>
            <a:r>
              <a:rPr dirty="0"/>
              <a:t> tanto la </a:t>
            </a:r>
            <a:r>
              <a:rPr dirty="0" err="1"/>
              <a:t>respuesta</a:t>
            </a:r>
            <a:r>
              <a:rPr dirty="0"/>
              <a:t> </a:t>
            </a:r>
            <a:r>
              <a:rPr dirty="0" err="1"/>
              <a:t>como</a:t>
            </a:r>
            <a:r>
              <a:rPr dirty="0"/>
              <a:t> la </a:t>
            </a:r>
            <a:r>
              <a:rPr dirty="0" err="1"/>
              <a:t>recuperación</a:t>
            </a:r>
            <a:r>
              <a:rPr dirty="0"/>
              <a:t>. Los </a:t>
            </a:r>
            <a:r>
              <a:rPr dirty="0" err="1"/>
              <a:t>contadores</a:t>
            </a:r>
            <a:r>
              <a:rPr dirty="0"/>
              <a:t> de </a:t>
            </a:r>
            <a:r>
              <a:rPr dirty="0" err="1"/>
              <a:t>riesgo</a:t>
            </a:r>
            <a:r>
              <a:rPr dirty="0"/>
              <a:t> de </a:t>
            </a:r>
            <a:r>
              <a:rPr dirty="0" err="1"/>
              <a:t>esta</a:t>
            </a:r>
            <a:r>
              <a:rPr dirty="0"/>
              <a:t> </a:t>
            </a:r>
            <a:r>
              <a:rPr dirty="0" err="1"/>
              <a:t>fase</a:t>
            </a:r>
            <a:r>
              <a:rPr dirty="0"/>
              <a:t> </a:t>
            </a:r>
            <a:r>
              <a:rPr dirty="0" err="1"/>
              <a:t>tienen</a:t>
            </a:r>
            <a:r>
              <a:rPr dirty="0"/>
              <a:t> </a:t>
            </a:r>
            <a:r>
              <a:rPr dirty="0" err="1"/>
              <a:t>una</a:t>
            </a:r>
            <a:r>
              <a:rPr dirty="0"/>
              <a:t> </a:t>
            </a:r>
            <a:r>
              <a:rPr dirty="0" err="1"/>
              <a:t>semántica</a:t>
            </a:r>
            <a:r>
              <a:rPr dirty="0"/>
              <a:t> </a:t>
            </a:r>
            <a:r>
              <a:rPr dirty="0" err="1"/>
              <a:t>diferente</a:t>
            </a:r>
            <a:r>
              <a:rPr dirty="0"/>
              <a:t> de </a:t>
            </a:r>
            <a:r>
              <a:rPr dirty="0" err="1"/>
              <a:t>los</a:t>
            </a:r>
            <a:r>
              <a:rPr dirty="0"/>
              <a:t> </a:t>
            </a:r>
            <a:r>
              <a:rPr dirty="0" err="1"/>
              <a:t>límites</a:t>
            </a:r>
            <a:r>
              <a:rPr dirty="0"/>
              <a:t> </a:t>
            </a:r>
            <a:r>
              <a:rPr dirty="0" err="1"/>
              <a:t>preventivos</a:t>
            </a:r>
            <a:r>
              <a:rPr dirty="0"/>
              <a:t> de la Fase 1: </a:t>
            </a:r>
            <a:r>
              <a:rPr dirty="0" err="1"/>
              <a:t>aquí</a:t>
            </a:r>
            <a:r>
              <a:rPr dirty="0"/>
              <a:t> </a:t>
            </a:r>
            <a:r>
              <a:rPr dirty="0" err="1"/>
              <a:t>interesa</a:t>
            </a:r>
            <a:r>
              <a:rPr dirty="0"/>
              <a:t> </a:t>
            </a:r>
            <a:r>
              <a:rPr dirty="0" err="1"/>
              <a:t>relacionar</a:t>
            </a:r>
            <a:r>
              <a:rPr dirty="0"/>
              <a:t> la </a:t>
            </a:r>
            <a:r>
              <a:rPr dirty="0" err="1"/>
              <a:t>actividad</a:t>
            </a:r>
            <a:r>
              <a:rPr dirty="0"/>
              <a:t> y </a:t>
            </a:r>
            <a:r>
              <a:rPr dirty="0" err="1"/>
              <a:t>actuar</a:t>
            </a:r>
            <a:r>
              <a:rPr dirty="0"/>
              <a:t> </a:t>
            </a:r>
            <a:r>
              <a:rPr dirty="0" err="1"/>
              <a:t>sobre</a:t>
            </a:r>
            <a:r>
              <a:rPr dirty="0"/>
              <a:t> </a:t>
            </a:r>
            <a:r>
              <a:rPr dirty="0" err="1"/>
              <a:t>su</a:t>
            </a:r>
            <a:r>
              <a:rPr dirty="0"/>
              <a:t> </a:t>
            </a:r>
            <a:r>
              <a:rPr dirty="0" err="1"/>
              <a:t>repetición</a:t>
            </a:r>
            <a:r>
              <a:rPr dirty="0"/>
              <a:t>.</a:t>
            </a:r>
          </a:p>
          <a:p>
            <a:endParaRPr dirty="0"/>
          </a:p>
          <a:p>
            <a:r>
              <a:rPr dirty="0" err="1"/>
              <a:t>Recorrer</a:t>
            </a:r>
            <a:r>
              <a:rPr dirty="0"/>
              <a:t> </a:t>
            </a:r>
            <a:r>
              <a:rPr dirty="0" err="1"/>
              <a:t>una</a:t>
            </a:r>
            <a:r>
              <a:rPr dirty="0"/>
              <a:t> sola </a:t>
            </a:r>
            <a:r>
              <a:rPr dirty="0" err="1"/>
              <a:t>vez</a:t>
            </a:r>
            <a:r>
              <a:rPr dirty="0"/>
              <a:t> las cuatro columnas del </a:t>
            </a:r>
            <a:r>
              <a:rPr dirty="0" err="1"/>
              <a:t>diagrama</a:t>
            </a:r>
            <a:r>
              <a:rPr dirty="0"/>
              <a:t> y </a:t>
            </a:r>
            <a:r>
              <a:rPr dirty="0" err="1"/>
              <a:t>terminar</a:t>
            </a:r>
            <a:r>
              <a:rPr dirty="0"/>
              <a:t> </a:t>
            </a:r>
            <a:r>
              <a:rPr dirty="0" err="1"/>
              <a:t>en</a:t>
            </a:r>
            <a:r>
              <a:rPr dirty="0"/>
              <a:t> la </a:t>
            </a:r>
            <a:r>
              <a:rPr dirty="0" err="1"/>
              <a:t>recuperación</a:t>
            </a:r>
            <a:r>
              <a:rPr dirty="0"/>
              <a:t> </a:t>
            </a:r>
            <a:r>
              <a:rPr dirty="0" err="1"/>
              <a:t>administrativa</a:t>
            </a:r>
            <a:r>
              <a:rPr dirty="0"/>
              <a:t>.</a:t>
            </a:r>
          </a:p>
          <a:p>
            <a:endParaRPr dirty="0"/>
          </a:p>
          <a:p>
            <a:r>
              <a:rPr dirty="0"/>
              <a:t>Fuente: Guion_defensa_TFM.docx, </a:t>
            </a:r>
            <a:r>
              <a:rPr dirty="0" err="1"/>
              <a:t>bloque</a:t>
            </a:r>
            <a:r>
              <a:rPr dirty="0"/>
              <a:t> 9. </a:t>
            </a:r>
            <a:r>
              <a:rPr dirty="0" err="1"/>
              <a:t>Capítulos</a:t>
            </a:r>
            <a:r>
              <a:rPr dirty="0"/>
              <a:t> 5 y 6 · </a:t>
            </a:r>
            <a:r>
              <a:rPr dirty="0" err="1"/>
              <a:t>Detección</a:t>
            </a:r>
            <a:r>
              <a:rPr dirty="0"/>
              <a:t>, </a:t>
            </a:r>
            <a:r>
              <a:rPr dirty="0" err="1"/>
              <a:t>observabilidad</a:t>
            </a:r>
            <a:r>
              <a:rPr dirty="0"/>
              <a:t> y </a:t>
            </a:r>
            <a:r>
              <a:rPr dirty="0" err="1"/>
              <a:t>reglas</a:t>
            </a:r>
            <a:r>
              <a:rPr dirty="0"/>
              <a:t> de </a:t>
            </a:r>
            <a:r>
              <a:rPr dirty="0" err="1"/>
              <a:t>riesgo</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14:15–16:15.</a:t>
            </a:r>
          </a:p>
          <a:p>
            <a:endParaRPr/>
          </a:p>
          <a:p>
            <a:r>
              <a:t>La primera prueba mantuvo una sesión válida e intentó crear otras cinco con la misma cuenta. Todas recibieron un 409 por superar la concurrencia. Después de cada intento, la puntuación observada fue 0, 25, 50, 75 y 100. El primero inició el contador y los cuatro siguientes añadieron 25 puntos cada uno.</a:t>
            </a:r>
          </a:p>
          <a:p>
            <a:endParaRPr/>
          </a:p>
          <a:p>
            <a:r>
              <a:t>Al llegar a 100 se creó un bloqueo de cuenta de 30 minutos. Se solicitó de nuevo el manifiesto con el token existente y el servidor devolvió un 401. La exportación de Redis conserva los eventos de rechazo, incremento y bloqueo.</a:t>
            </a:r>
          </a:p>
          <a:p>
            <a:endParaRPr/>
          </a:p>
          <a:p>
            <a:r>
              <a:t>La segunda prueba envió ocho contraseñas incorrectas desde el mismo dispositivo. Se activó un bloqueo de dispositivo de 15 minutos y también se rechazó el manifiesto posterior. En este caso la puntuación de la cuenta permaneció en cero, porque la respuesta se desencadena directamente por los fallos de autenticación.</a:t>
            </a:r>
          </a:p>
          <a:p>
            <a:endParaRPr/>
          </a:p>
          <a:p>
            <a:r>
              <a:t>En ambos escenarios se pudo retirar el bloqueo desde administración y recuperar la reproducción renovando la credencial o creando otra sesión si había expirado. La retirada del bloqueo de cuenta no borró la puntuación acumulada.</a:t>
            </a:r>
          </a:p>
          <a:p>
            <a:endParaRPr/>
          </a:p>
          <a:p>
            <a:r>
              <a:t>La evidencia muestra una respuesta del servidor sobre nuevas solicitudes. No implica retirar los segmentos que el cliente ya había descargado. Esta precisión permite distinguir revocación de acceso y borrado de contenido recibido.</a:t>
            </a:r>
          </a:p>
          <a:p>
            <a:endParaRPr/>
          </a:p>
          <a:p>
            <a:r>
              <a:t>Hacer una pausa en la progresión hasta 100. Explicar también la retirada del bloqueo, no solo su activación.</a:t>
            </a:r>
          </a:p>
          <a:p>
            <a:endParaRPr/>
          </a:p>
          <a:p>
            <a:r>
              <a:t>Fuente: Guion_defensa_TFM.docx, bloque 10. Capítulo 7 · Detección de abuso y evaluación de Fase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16:15–17:20.</a:t>
            </a:r>
          </a:p>
          <a:p>
            <a:endParaRPr/>
          </a:p>
          <a:p>
            <a:r>
              <a:t>La batería complementaria analiza qué sucede cuando la clave del activo CENC local ya es conocida. Conviene separar la disponibilidad de esa clave, el uso de la CDN para obtener segmentos y la posterior redistribución del vídeo. Son pasos relacionados y requieren controles diferentes.</a:t>
            </a:r>
          </a:p>
          <a:p>
            <a:endParaRPr/>
          </a:p>
          <a:p>
            <a:r>
              <a:t>Sin token, el manifiesto y el contenido eran accesibles en Fase 0 y quedaron rechazados con 401 en las fases reforzadas. Sin embargo, una única sesión válida, con su contexto coherente y la clave conocida, pudo reproducir desde un cliente externo en ambas fases. La muestra automatizada recuperó tres objetos, 253.023 bytes, sin ninguna petición de licencia.</a:t>
            </a:r>
          </a:p>
          <a:p>
            <a:endParaRPr/>
          </a:p>
          <a:p>
            <a:r>
              <a:t>En Fase 2, ese patrón añadió 20 puntos una sola vez por sesión y generó un evento. La prueba de navegador confirmó también reproducción, ausencia de licencias y señal de riesgo.</a:t>
            </a:r>
          </a:p>
          <a:p>
            <a:endParaRPr/>
          </a:p>
          <a:p>
            <a:r>
              <a:t>Señalar cero licencias y riesgo 20. No equiparar los contadores de la captura con los de la muestra automatizada.</a:t>
            </a:r>
          </a:p>
          <a:p>
            <a:endParaRPr/>
          </a:p>
          <a:p>
            <a:r>
              <a:t>Fuente: Guion_defensa_TFM.docx, bloque 11. Capítulo 7 · Evaluación de Key Leak y CDN leeching.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17:20–18:15.</a:t>
            </a:r>
          </a:p>
          <a:p>
            <a:endParaRPr/>
          </a:p>
          <a:p>
            <a:r>
              <a:t>El sistema no bloquea inmediatamente porque una licencia previamente disponible también podría explicar la ausencia de una nueva petición. Sí rechaza una segunda sesión, otra instancia, otro activo y el uso posterior a la parada.</a:t>
            </a:r>
          </a:p>
          <a:p>
            <a:endParaRPr/>
          </a:p>
          <a:p>
            <a:r>
              <a:t>CORS bloqueó la lectura desde un navegador ajeno, pero el backend externo pudo solicitar contenido con autorización válida. La conclusión es que se reduce el acceso abusivo, aunque una sesión legítima todavía puede alimentar una redistribución serial.</a:t>
            </a:r>
          </a:p>
          <a:p>
            <a:endParaRPr/>
          </a:p>
          <a:p>
            <a:r>
              <a:t>Señalar cero licencias y riesgo 20. No equiparar los contadores de la captura con los de la muestra automatizada.</a:t>
            </a:r>
          </a:p>
          <a:p>
            <a:endParaRPr/>
          </a:p>
          <a:p>
            <a:r>
              <a:t>Fuente: Guion_defensa_TFM.docx, bloque 11. Capítulo 7 · Evaluación de Key Leak y CDN leeching.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18:15–19:20.</a:t>
            </a:r>
          </a:p>
          <a:p>
            <a:endParaRPr/>
          </a:p>
          <a:p>
            <a:r>
              <a:t>La evaluación final reunió 65 comprobaciones generales y 27 complementarias: 92 resultados esperados sobre 92 casos. Por fases, fueron 15 en la línea base, 32 en Fase 1 y 45 en Fase 2. Superar los casos de la línea base significa también reproducir sus debilidades esperadas; no significa que esa configuración sea segura.</a:t>
            </a:r>
          </a:p>
          <a:p>
            <a:endParaRPr/>
          </a:p>
          <a:p>
            <a:r>
              <a:t>La campaña detectó además un defecto real. En la primera ejecución, la licencia de Fase 2 no contrastaba correctamente una cabecera de sesión. Una petición incoherente llegó al proxy y terminó con un error 500. La batería inicial quedó en 64 de 65. Tras incorporar la comprobación previa, la misma solicitud devolvió 409 por sesión distinta y la regresión alcanzó 65 de 65.</a:t>
            </a:r>
          </a:p>
          <a:p>
            <a:endParaRPr/>
          </a:p>
          <a:p>
            <a:r>
              <a:t>Dar prioridad a 92 de 92 y a la incidencia corregida. Las métricas de tiempo son un apoyo, no el centro de la defensa.</a:t>
            </a:r>
          </a:p>
          <a:p>
            <a:endParaRPr/>
          </a:p>
          <a:p>
            <a:r>
              <a:t>Fuente: Guion_defensa_TFM.docx, bloque 12. Capítulo 7 · Resultados generales, incidencia y tiempos de respuesta.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19:20–20:15.</a:t>
            </a:r>
          </a:p>
          <a:p>
            <a:endParaRPr/>
          </a:p>
          <a:p>
            <a:r>
              <a:t>Para estudiar el coste se conservaron 240 observaciones temporales, con 20 repeticiones por combinación de fase y operación. La mediana del heartbeat pasó de unos 9,35 milisegundos en Fase 1 a 19,60 en Fase 2. La del manifiesto pasó de 44,17 a 84,61 milisegundos, aunque incorpora la descarga desde el servicio externo y no puede atribuirse íntegramente a Redis.</a:t>
            </a:r>
          </a:p>
          <a:p>
            <a:endParaRPr/>
          </a:p>
          <a:p>
            <a:r>
              <a:t>Estos resultados respaldan el comportamiento funcional y describen su coste en el equipo de pruebas. No constituyen una medida porcentual de seguridad ni una prueba de escalabilidad. La aportación de la regresión es comprobar también los caminos incorrectos y descubrir fallos que la reproducción legítima no revela.</a:t>
            </a:r>
          </a:p>
          <a:p>
            <a:endParaRPr/>
          </a:p>
          <a:p>
            <a:r>
              <a:t>Dar prioridad a 92 de 92 y a la incidencia corregida. Las métricas de tiempo son un apoyo, no el centro de la defensa.</a:t>
            </a:r>
          </a:p>
          <a:p>
            <a:endParaRPr/>
          </a:p>
          <a:p>
            <a:r>
              <a:t>Fuente: Guion_defensa_TFM.docx, bloque 12. Capítulo 7 · Resultados generales, incidencia y tiempos de respuesta.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Tiempo: 20:15–22:15.</a:t>
            </a:r>
          </a:p>
          <a:p>
            <a:endParaRPr dirty="0"/>
          </a:p>
          <a:p>
            <a:r>
              <a:rPr dirty="0"/>
              <a:t>El </a:t>
            </a:r>
            <a:r>
              <a:rPr dirty="0" err="1"/>
              <a:t>alcance</a:t>
            </a:r>
            <a:r>
              <a:rPr dirty="0"/>
              <a:t> </a:t>
            </a:r>
            <a:r>
              <a:rPr dirty="0" err="1"/>
              <a:t>condiciona</a:t>
            </a:r>
            <a:r>
              <a:rPr dirty="0"/>
              <a:t> la </a:t>
            </a:r>
            <a:r>
              <a:rPr dirty="0" err="1"/>
              <a:t>interpretación</a:t>
            </a:r>
            <a:r>
              <a:rPr dirty="0"/>
              <a:t> de </a:t>
            </a:r>
            <a:r>
              <a:rPr dirty="0" err="1"/>
              <a:t>los</a:t>
            </a:r>
            <a:r>
              <a:rPr dirty="0"/>
              <a:t> </a:t>
            </a:r>
            <a:r>
              <a:rPr dirty="0" err="1"/>
              <a:t>resultados</a:t>
            </a:r>
            <a:r>
              <a:rPr dirty="0"/>
              <a:t>. El </a:t>
            </a:r>
            <a:r>
              <a:rPr dirty="0" err="1"/>
              <a:t>laboratorio</a:t>
            </a:r>
            <a:r>
              <a:rPr dirty="0"/>
              <a:t> </a:t>
            </a:r>
            <a:r>
              <a:rPr dirty="0" err="1"/>
              <a:t>usa</a:t>
            </a:r>
            <a:r>
              <a:rPr dirty="0"/>
              <a:t> </a:t>
            </a:r>
            <a:r>
              <a:rPr dirty="0" err="1"/>
              <a:t>vídeos</a:t>
            </a:r>
            <a:r>
              <a:rPr dirty="0"/>
              <a:t> bajo </a:t>
            </a:r>
            <a:r>
              <a:rPr dirty="0" err="1"/>
              <a:t>demanda</a:t>
            </a:r>
            <a:r>
              <a:rPr dirty="0"/>
              <a:t>, un </a:t>
            </a:r>
            <a:r>
              <a:rPr dirty="0" err="1"/>
              <a:t>equipo</a:t>
            </a:r>
            <a:r>
              <a:rPr dirty="0"/>
              <a:t> y </a:t>
            </a:r>
            <a:r>
              <a:rPr dirty="0" err="1"/>
              <a:t>tráfico</a:t>
            </a:r>
            <a:r>
              <a:rPr dirty="0"/>
              <a:t> </a:t>
            </a:r>
            <a:r>
              <a:rPr dirty="0" err="1"/>
              <a:t>secuencial</a:t>
            </a:r>
            <a:r>
              <a:rPr dirty="0"/>
              <a:t>. No se ha </a:t>
            </a:r>
            <a:r>
              <a:rPr dirty="0" err="1"/>
              <a:t>validado</a:t>
            </a:r>
            <a:r>
              <a:rPr dirty="0"/>
              <a:t> la </a:t>
            </a:r>
            <a:r>
              <a:rPr dirty="0" err="1"/>
              <a:t>generación</a:t>
            </a:r>
            <a:r>
              <a:rPr dirty="0"/>
              <a:t> de </a:t>
            </a:r>
            <a:r>
              <a:rPr dirty="0" err="1"/>
              <a:t>segmentos</a:t>
            </a:r>
            <a:r>
              <a:rPr dirty="0"/>
              <a:t> </a:t>
            </a:r>
            <a:r>
              <a:rPr dirty="0" err="1"/>
              <a:t>en</a:t>
            </a:r>
            <a:r>
              <a:rPr dirty="0"/>
              <a:t> </a:t>
            </a:r>
            <a:r>
              <a:rPr dirty="0" err="1"/>
              <a:t>tiempo</a:t>
            </a:r>
            <a:r>
              <a:rPr dirty="0"/>
              <a:t> real </a:t>
            </a:r>
            <a:r>
              <a:rPr dirty="0" err="1"/>
              <a:t>ni</a:t>
            </a:r>
            <a:r>
              <a:rPr dirty="0"/>
              <a:t> </a:t>
            </a:r>
            <a:r>
              <a:rPr dirty="0" err="1"/>
              <a:t>una</a:t>
            </a:r>
            <a:r>
              <a:rPr dirty="0"/>
              <a:t> audiencia </a:t>
            </a:r>
            <a:r>
              <a:rPr dirty="0" err="1"/>
              <a:t>masiva</a:t>
            </a:r>
            <a:r>
              <a:rPr dirty="0"/>
              <a:t>. El </a:t>
            </a:r>
            <a:r>
              <a:rPr dirty="0" err="1"/>
              <a:t>activo</a:t>
            </a:r>
            <a:r>
              <a:rPr dirty="0"/>
              <a:t> </a:t>
            </a:r>
            <a:r>
              <a:rPr dirty="0" err="1"/>
              <a:t>Widevine</a:t>
            </a:r>
            <a:r>
              <a:rPr dirty="0"/>
              <a:t> y </a:t>
            </a:r>
            <a:r>
              <a:rPr dirty="0" err="1"/>
              <a:t>su</a:t>
            </a:r>
            <a:r>
              <a:rPr dirty="0"/>
              <a:t> </a:t>
            </a:r>
            <a:r>
              <a:rPr dirty="0" err="1"/>
              <a:t>servicio</a:t>
            </a:r>
            <a:r>
              <a:rPr dirty="0"/>
              <a:t> de </a:t>
            </a:r>
            <a:r>
              <a:rPr dirty="0" err="1"/>
              <a:t>licencias</a:t>
            </a:r>
            <a:r>
              <a:rPr dirty="0"/>
              <a:t> son </a:t>
            </a:r>
            <a:r>
              <a:rPr dirty="0" err="1"/>
              <a:t>públicos</a:t>
            </a:r>
            <a:r>
              <a:rPr dirty="0"/>
              <a:t> de </a:t>
            </a:r>
            <a:r>
              <a:rPr dirty="0" err="1"/>
              <a:t>pruebas</a:t>
            </a:r>
            <a:r>
              <a:rPr dirty="0"/>
              <a:t>; sus </a:t>
            </a:r>
            <a:r>
              <a:rPr dirty="0" err="1"/>
              <a:t>segmentos</a:t>
            </a:r>
            <a:r>
              <a:rPr dirty="0"/>
              <a:t> se </a:t>
            </a:r>
            <a:r>
              <a:rPr dirty="0" err="1"/>
              <a:t>sirven</a:t>
            </a:r>
            <a:r>
              <a:rPr dirty="0"/>
              <a:t> </a:t>
            </a:r>
            <a:r>
              <a:rPr dirty="0" err="1"/>
              <a:t>externamente</a:t>
            </a:r>
            <a:r>
              <a:rPr dirty="0"/>
              <a:t>. La </a:t>
            </a:r>
            <a:r>
              <a:rPr dirty="0" err="1"/>
              <a:t>autorización</a:t>
            </a:r>
            <a:r>
              <a:rPr dirty="0"/>
              <a:t> de </a:t>
            </a:r>
            <a:r>
              <a:rPr dirty="0" err="1"/>
              <a:t>segmentos</a:t>
            </a:r>
            <a:r>
              <a:rPr dirty="0"/>
              <a:t> privados se ha </a:t>
            </a:r>
            <a:r>
              <a:rPr dirty="0" err="1"/>
              <a:t>comprobado</a:t>
            </a:r>
            <a:r>
              <a:rPr dirty="0"/>
              <a:t> con el </a:t>
            </a:r>
            <a:r>
              <a:rPr dirty="0" err="1"/>
              <a:t>activo</a:t>
            </a:r>
            <a:r>
              <a:rPr dirty="0"/>
              <a:t> CENC local.</a:t>
            </a:r>
          </a:p>
          <a:p>
            <a:endParaRPr dirty="0"/>
          </a:p>
          <a:p>
            <a:r>
              <a:rPr dirty="0"/>
              <a:t>Los </a:t>
            </a:r>
            <a:r>
              <a:rPr dirty="0" err="1"/>
              <a:t>identificadores</a:t>
            </a:r>
            <a:r>
              <a:rPr dirty="0"/>
              <a:t> de </a:t>
            </a:r>
            <a:r>
              <a:rPr dirty="0" err="1"/>
              <a:t>dispositivo</a:t>
            </a:r>
            <a:r>
              <a:rPr dirty="0"/>
              <a:t> e </a:t>
            </a:r>
            <a:r>
              <a:rPr dirty="0" err="1"/>
              <a:t>instancia</a:t>
            </a:r>
            <a:r>
              <a:rPr dirty="0"/>
              <a:t> </a:t>
            </a:r>
            <a:r>
              <a:rPr dirty="0" err="1"/>
              <a:t>los</a:t>
            </a:r>
            <a:r>
              <a:rPr dirty="0"/>
              <a:t> genera el </a:t>
            </a:r>
            <a:r>
              <a:rPr dirty="0" err="1"/>
              <a:t>cliente</a:t>
            </a:r>
            <a:r>
              <a:rPr dirty="0"/>
              <a:t> y no son </a:t>
            </a:r>
            <a:r>
              <a:rPr dirty="0" err="1"/>
              <a:t>una</a:t>
            </a:r>
            <a:r>
              <a:rPr dirty="0"/>
              <a:t> </a:t>
            </a:r>
            <a:r>
              <a:rPr dirty="0" err="1"/>
              <a:t>atestación</a:t>
            </a:r>
            <a:r>
              <a:rPr dirty="0"/>
              <a:t> de hardware. </a:t>
            </a:r>
            <a:r>
              <a:rPr dirty="0" err="1"/>
              <a:t>Copiar</a:t>
            </a:r>
            <a:r>
              <a:rPr dirty="0"/>
              <a:t> un token junto con </a:t>
            </a:r>
            <a:r>
              <a:rPr dirty="0" err="1"/>
              <a:t>todo</a:t>
            </a:r>
            <a:r>
              <a:rPr dirty="0"/>
              <a:t> </a:t>
            </a:r>
            <a:r>
              <a:rPr dirty="0" err="1"/>
              <a:t>su</a:t>
            </a:r>
            <a:r>
              <a:rPr dirty="0"/>
              <a:t> </a:t>
            </a:r>
            <a:r>
              <a:rPr dirty="0" err="1"/>
              <a:t>contexto</a:t>
            </a:r>
            <a:r>
              <a:rPr dirty="0"/>
              <a:t> </a:t>
            </a:r>
            <a:r>
              <a:rPr dirty="0" err="1"/>
              <a:t>seguiría</a:t>
            </a:r>
            <a:r>
              <a:rPr dirty="0"/>
              <a:t> </a:t>
            </a:r>
            <a:r>
              <a:rPr dirty="0" err="1"/>
              <a:t>dejando</a:t>
            </a:r>
            <a:r>
              <a:rPr dirty="0"/>
              <a:t> </a:t>
            </a:r>
            <a:r>
              <a:rPr dirty="0" err="1"/>
              <a:t>una</a:t>
            </a:r>
            <a:r>
              <a:rPr dirty="0"/>
              <a:t> </a:t>
            </a:r>
            <a:r>
              <a:rPr dirty="0" err="1"/>
              <a:t>ventana</a:t>
            </a:r>
            <a:r>
              <a:rPr dirty="0"/>
              <a:t> de </a:t>
            </a:r>
            <a:r>
              <a:rPr dirty="0" err="1"/>
              <a:t>uso</a:t>
            </a:r>
            <a:r>
              <a:rPr dirty="0"/>
              <a:t> hasta la </a:t>
            </a:r>
            <a:r>
              <a:rPr dirty="0" err="1"/>
              <a:t>expiración</a:t>
            </a:r>
            <a:r>
              <a:rPr dirty="0"/>
              <a:t> o </a:t>
            </a:r>
            <a:r>
              <a:rPr dirty="0" err="1"/>
              <a:t>revocación</a:t>
            </a:r>
            <a:r>
              <a:rPr dirty="0"/>
              <a:t>. </a:t>
            </a:r>
            <a:r>
              <a:rPr dirty="0" err="1"/>
              <a:t>Compartir</a:t>
            </a:r>
            <a:r>
              <a:rPr dirty="0"/>
              <a:t> </a:t>
            </a:r>
            <a:r>
              <a:rPr dirty="0" err="1"/>
              <a:t>una</a:t>
            </a:r>
            <a:r>
              <a:rPr dirty="0"/>
              <a:t> </a:t>
            </a:r>
            <a:r>
              <a:rPr dirty="0" err="1"/>
              <a:t>cuenta</a:t>
            </a:r>
            <a:r>
              <a:rPr dirty="0"/>
              <a:t> de forma serial o </a:t>
            </a:r>
            <a:r>
              <a:rPr dirty="0" err="1"/>
              <a:t>actuar</a:t>
            </a:r>
            <a:r>
              <a:rPr dirty="0"/>
              <a:t> lentamente también </a:t>
            </a:r>
            <a:r>
              <a:rPr dirty="0" err="1"/>
              <a:t>puede</a:t>
            </a:r>
            <a:r>
              <a:rPr dirty="0"/>
              <a:t> </a:t>
            </a:r>
            <a:r>
              <a:rPr dirty="0" err="1"/>
              <a:t>evitar</a:t>
            </a:r>
            <a:r>
              <a:rPr dirty="0"/>
              <a:t> el </a:t>
            </a:r>
            <a:r>
              <a:rPr dirty="0" err="1"/>
              <a:t>límite</a:t>
            </a:r>
            <a:r>
              <a:rPr dirty="0"/>
              <a:t> de </a:t>
            </a:r>
            <a:r>
              <a:rPr dirty="0" err="1"/>
              <a:t>concurrencia</a:t>
            </a:r>
            <a:r>
              <a:rPr dirty="0"/>
              <a:t> y </a:t>
            </a:r>
            <a:r>
              <a:rPr dirty="0" err="1"/>
              <a:t>los</a:t>
            </a:r>
            <a:r>
              <a:rPr dirty="0"/>
              <a:t> </a:t>
            </a:r>
            <a:r>
              <a:rPr dirty="0" err="1"/>
              <a:t>umbrales</a:t>
            </a:r>
            <a:r>
              <a:rPr dirty="0"/>
              <a:t>.</a:t>
            </a:r>
          </a:p>
          <a:p>
            <a:endParaRPr dirty="0"/>
          </a:p>
          <a:p>
            <a:r>
              <a:rPr dirty="0"/>
              <a:t>Las </a:t>
            </a:r>
            <a:r>
              <a:rPr dirty="0" err="1"/>
              <a:t>reglas</a:t>
            </a:r>
            <a:r>
              <a:rPr dirty="0"/>
              <a:t> de </a:t>
            </a:r>
            <a:r>
              <a:rPr dirty="0" err="1"/>
              <a:t>riesgo</a:t>
            </a:r>
            <a:r>
              <a:rPr dirty="0"/>
              <a:t> no </a:t>
            </a:r>
            <a:r>
              <a:rPr dirty="0" err="1"/>
              <a:t>están</a:t>
            </a:r>
            <a:r>
              <a:rPr dirty="0"/>
              <a:t> </a:t>
            </a:r>
            <a:r>
              <a:rPr dirty="0" err="1"/>
              <a:t>calibradas</a:t>
            </a:r>
            <a:r>
              <a:rPr dirty="0"/>
              <a:t> con </a:t>
            </a:r>
            <a:r>
              <a:rPr dirty="0" err="1"/>
              <a:t>una</a:t>
            </a:r>
            <a:r>
              <a:rPr dirty="0"/>
              <a:t> población real y no se ha </a:t>
            </a:r>
            <a:r>
              <a:rPr dirty="0" err="1"/>
              <a:t>medido</a:t>
            </a:r>
            <a:r>
              <a:rPr dirty="0"/>
              <a:t> </a:t>
            </a:r>
            <a:r>
              <a:rPr dirty="0" err="1"/>
              <a:t>una</a:t>
            </a:r>
            <a:r>
              <a:rPr dirty="0"/>
              <a:t> </a:t>
            </a:r>
            <a:r>
              <a:rPr dirty="0" err="1"/>
              <a:t>tasa</a:t>
            </a:r>
            <a:r>
              <a:rPr dirty="0"/>
              <a:t> de </a:t>
            </a:r>
            <a:r>
              <a:rPr dirty="0" err="1"/>
              <a:t>falsos</a:t>
            </a:r>
            <a:r>
              <a:rPr dirty="0"/>
              <a:t> </a:t>
            </a:r>
            <a:r>
              <a:rPr dirty="0" err="1"/>
              <a:t>positivos</a:t>
            </a:r>
            <a:r>
              <a:rPr dirty="0"/>
              <a:t>. </a:t>
            </a:r>
            <a:r>
              <a:rPr dirty="0" err="1"/>
              <a:t>Tampoco</a:t>
            </a:r>
            <a:r>
              <a:rPr dirty="0"/>
              <a:t> se </a:t>
            </a:r>
            <a:r>
              <a:rPr dirty="0" err="1"/>
              <a:t>puede</a:t>
            </a:r>
            <a:r>
              <a:rPr dirty="0"/>
              <a:t> </a:t>
            </a:r>
            <a:r>
              <a:rPr dirty="0" err="1"/>
              <a:t>retirar</a:t>
            </a:r>
            <a:r>
              <a:rPr dirty="0"/>
              <a:t> </a:t>
            </a:r>
            <a:r>
              <a:rPr dirty="0" err="1"/>
              <a:t>una</a:t>
            </a:r>
            <a:r>
              <a:rPr dirty="0"/>
              <a:t> </a:t>
            </a:r>
            <a:r>
              <a:rPr dirty="0" err="1"/>
              <a:t>copia</a:t>
            </a:r>
            <a:r>
              <a:rPr dirty="0"/>
              <a:t> </a:t>
            </a:r>
            <a:r>
              <a:rPr dirty="0" err="1"/>
              <a:t>ya</a:t>
            </a:r>
            <a:r>
              <a:rPr dirty="0"/>
              <a:t> </a:t>
            </a:r>
            <a:r>
              <a:rPr dirty="0" err="1"/>
              <a:t>recibida</a:t>
            </a:r>
            <a:r>
              <a:rPr dirty="0"/>
              <a:t> o </a:t>
            </a:r>
            <a:r>
              <a:rPr dirty="0" err="1"/>
              <a:t>impedir</a:t>
            </a:r>
            <a:r>
              <a:rPr dirty="0"/>
              <a:t> </a:t>
            </a:r>
            <a:r>
              <a:rPr dirty="0" err="1"/>
              <a:t>toda</a:t>
            </a:r>
            <a:r>
              <a:rPr dirty="0"/>
              <a:t> </a:t>
            </a:r>
            <a:r>
              <a:rPr dirty="0" err="1"/>
              <a:t>captura</a:t>
            </a:r>
            <a:r>
              <a:rPr dirty="0"/>
              <a:t> de la salida. La </a:t>
            </a:r>
            <a:r>
              <a:rPr dirty="0" err="1"/>
              <a:t>marca</a:t>
            </a:r>
            <a:r>
              <a:rPr dirty="0"/>
              <a:t> de </a:t>
            </a:r>
            <a:r>
              <a:rPr dirty="0" err="1"/>
              <a:t>agua</a:t>
            </a:r>
            <a:r>
              <a:rPr dirty="0"/>
              <a:t> visible del </a:t>
            </a:r>
            <a:r>
              <a:rPr dirty="0" err="1"/>
              <a:t>prototipo</a:t>
            </a:r>
            <a:r>
              <a:rPr dirty="0"/>
              <a:t> </a:t>
            </a:r>
            <a:r>
              <a:rPr dirty="0" err="1"/>
              <a:t>tiene</a:t>
            </a:r>
            <a:r>
              <a:rPr dirty="0"/>
              <a:t> </a:t>
            </a:r>
            <a:r>
              <a:rPr dirty="0" err="1"/>
              <a:t>una</a:t>
            </a:r>
            <a:r>
              <a:rPr dirty="0"/>
              <a:t> </a:t>
            </a:r>
            <a:r>
              <a:rPr dirty="0" err="1"/>
              <a:t>capacidad</a:t>
            </a:r>
            <a:r>
              <a:rPr dirty="0"/>
              <a:t> de </a:t>
            </a:r>
            <a:r>
              <a:rPr dirty="0" err="1"/>
              <a:t>atribución</a:t>
            </a:r>
            <a:r>
              <a:rPr dirty="0"/>
              <a:t> </a:t>
            </a:r>
            <a:r>
              <a:rPr dirty="0" err="1"/>
              <a:t>limitada</a:t>
            </a:r>
            <a:r>
              <a:rPr dirty="0"/>
              <a:t>.</a:t>
            </a:r>
          </a:p>
          <a:p>
            <a:endParaRPr dirty="0"/>
          </a:p>
          <a:p>
            <a:r>
              <a:rPr dirty="0"/>
              <a:t>Las </a:t>
            </a:r>
            <a:r>
              <a:rPr dirty="0" err="1"/>
              <a:t>líneas</a:t>
            </a:r>
            <a:r>
              <a:rPr dirty="0"/>
              <a:t> </a:t>
            </a:r>
            <a:r>
              <a:rPr dirty="0" err="1"/>
              <a:t>futuras</a:t>
            </a:r>
            <a:r>
              <a:rPr dirty="0"/>
              <a:t> son </a:t>
            </a:r>
            <a:r>
              <a:rPr dirty="0" err="1"/>
              <a:t>acercar</a:t>
            </a:r>
            <a:r>
              <a:rPr dirty="0"/>
              <a:t> el </a:t>
            </a:r>
            <a:r>
              <a:rPr dirty="0" err="1"/>
              <a:t>despliegue</a:t>
            </a:r>
            <a:r>
              <a:rPr dirty="0"/>
              <a:t> a </a:t>
            </a:r>
            <a:r>
              <a:rPr dirty="0" err="1"/>
              <a:t>producción</a:t>
            </a:r>
            <a:r>
              <a:rPr dirty="0"/>
              <a:t> con </a:t>
            </a:r>
            <a:r>
              <a:rPr dirty="0" err="1"/>
              <a:t>transporte</a:t>
            </a:r>
            <a:r>
              <a:rPr dirty="0"/>
              <a:t> </a:t>
            </a:r>
            <a:r>
              <a:rPr dirty="0" err="1"/>
              <a:t>seguro</a:t>
            </a:r>
            <a:r>
              <a:rPr dirty="0"/>
              <a:t>, </a:t>
            </a:r>
            <a:r>
              <a:rPr dirty="0" err="1"/>
              <a:t>identidad</a:t>
            </a:r>
            <a:r>
              <a:rPr dirty="0"/>
              <a:t> y </a:t>
            </a:r>
            <a:r>
              <a:rPr dirty="0" err="1"/>
              <a:t>secretos</a:t>
            </a:r>
            <a:r>
              <a:rPr dirty="0"/>
              <a:t> </a:t>
            </a:r>
            <a:r>
              <a:rPr dirty="0" err="1"/>
              <a:t>gestionados</a:t>
            </a:r>
            <a:r>
              <a:rPr dirty="0"/>
              <a:t>; </a:t>
            </a:r>
            <a:r>
              <a:rPr dirty="0" err="1"/>
              <a:t>reforzar</a:t>
            </a:r>
            <a:r>
              <a:rPr dirty="0"/>
              <a:t> </a:t>
            </a:r>
            <a:r>
              <a:rPr dirty="0" err="1"/>
              <a:t>distribución</a:t>
            </a:r>
            <a:r>
              <a:rPr dirty="0"/>
              <a:t> y </a:t>
            </a:r>
            <a:r>
              <a:rPr dirty="0" err="1"/>
              <a:t>cliente</a:t>
            </a:r>
            <a:r>
              <a:rPr dirty="0"/>
              <a:t> con </a:t>
            </a:r>
            <a:r>
              <a:rPr dirty="0" err="1"/>
              <a:t>controles</a:t>
            </a:r>
            <a:r>
              <a:rPr dirty="0"/>
              <a:t> </a:t>
            </a:r>
            <a:r>
              <a:rPr dirty="0" err="1"/>
              <a:t>sobre</a:t>
            </a:r>
            <a:r>
              <a:rPr dirty="0"/>
              <a:t> </a:t>
            </a:r>
            <a:r>
              <a:rPr dirty="0" err="1"/>
              <a:t>segmentos</a:t>
            </a:r>
            <a:r>
              <a:rPr dirty="0"/>
              <a:t>, </a:t>
            </a:r>
            <a:r>
              <a:rPr dirty="0" err="1"/>
              <a:t>rotación</a:t>
            </a:r>
            <a:r>
              <a:rPr dirty="0"/>
              <a:t> de claves y </a:t>
            </a:r>
            <a:r>
              <a:rPr dirty="0" err="1"/>
              <a:t>atestación</a:t>
            </a:r>
            <a:r>
              <a:rPr dirty="0"/>
              <a:t>; y </a:t>
            </a:r>
            <a:r>
              <a:rPr dirty="0" err="1"/>
              <a:t>validar</a:t>
            </a:r>
            <a:r>
              <a:rPr dirty="0"/>
              <a:t> la </a:t>
            </a:r>
            <a:r>
              <a:rPr dirty="0" err="1"/>
              <a:t>detección</a:t>
            </a:r>
            <a:r>
              <a:rPr dirty="0"/>
              <a:t> con </a:t>
            </a:r>
            <a:r>
              <a:rPr dirty="0" err="1"/>
              <a:t>tráfico</a:t>
            </a:r>
            <a:r>
              <a:rPr dirty="0"/>
              <a:t> real, </a:t>
            </a:r>
            <a:r>
              <a:rPr dirty="0" err="1"/>
              <a:t>observabilidad</a:t>
            </a:r>
            <a:r>
              <a:rPr dirty="0"/>
              <a:t> externa y </a:t>
            </a:r>
            <a:r>
              <a:rPr dirty="0" err="1"/>
              <a:t>alta</a:t>
            </a:r>
            <a:r>
              <a:rPr dirty="0"/>
              <a:t> </a:t>
            </a:r>
            <a:r>
              <a:rPr dirty="0" err="1"/>
              <a:t>disponibilidad</a:t>
            </a:r>
            <a:r>
              <a:rPr dirty="0"/>
              <a:t>. La </a:t>
            </a:r>
            <a:r>
              <a:rPr dirty="0" err="1"/>
              <a:t>validación</a:t>
            </a:r>
            <a:r>
              <a:rPr dirty="0"/>
              <a:t> </a:t>
            </a:r>
            <a:r>
              <a:rPr dirty="0" err="1"/>
              <a:t>en</a:t>
            </a:r>
            <a:r>
              <a:rPr dirty="0"/>
              <a:t> </a:t>
            </a:r>
            <a:r>
              <a:rPr dirty="0" err="1"/>
              <a:t>directo</a:t>
            </a:r>
            <a:r>
              <a:rPr dirty="0"/>
              <a:t> </a:t>
            </a:r>
            <a:r>
              <a:rPr dirty="0" err="1"/>
              <a:t>sería</a:t>
            </a:r>
            <a:r>
              <a:rPr dirty="0"/>
              <a:t> </a:t>
            </a:r>
            <a:r>
              <a:rPr dirty="0" err="1"/>
              <a:t>una</a:t>
            </a:r>
            <a:r>
              <a:rPr dirty="0"/>
              <a:t> </a:t>
            </a:r>
            <a:r>
              <a:rPr dirty="0" err="1"/>
              <a:t>continuación</a:t>
            </a:r>
            <a:r>
              <a:rPr dirty="0"/>
              <a:t> </a:t>
            </a:r>
            <a:r>
              <a:rPr dirty="0" err="1"/>
              <a:t>necesaria</a:t>
            </a:r>
            <a:r>
              <a:rPr dirty="0"/>
              <a:t> para </a:t>
            </a:r>
            <a:r>
              <a:rPr dirty="0" err="1"/>
              <a:t>medir</a:t>
            </a:r>
            <a:r>
              <a:rPr dirty="0"/>
              <a:t> el </a:t>
            </a:r>
            <a:r>
              <a:rPr dirty="0" err="1"/>
              <a:t>efecto</a:t>
            </a:r>
            <a:r>
              <a:rPr dirty="0"/>
              <a:t> </a:t>
            </a:r>
            <a:r>
              <a:rPr dirty="0" err="1"/>
              <a:t>durante</a:t>
            </a:r>
            <a:r>
              <a:rPr dirty="0"/>
              <a:t> la </a:t>
            </a:r>
            <a:r>
              <a:rPr dirty="0" err="1"/>
              <a:t>ventana</a:t>
            </a:r>
            <a:r>
              <a:rPr dirty="0"/>
              <a:t> de valor de </a:t>
            </a:r>
            <a:r>
              <a:rPr dirty="0" err="1"/>
              <a:t>una</a:t>
            </a:r>
            <a:r>
              <a:rPr dirty="0"/>
              <a:t> </a:t>
            </a:r>
            <a:r>
              <a:rPr dirty="0" err="1"/>
              <a:t>retransmisión</a:t>
            </a:r>
            <a:r>
              <a:rPr dirty="0"/>
              <a:t>.</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err="1"/>
              <a:t>Agrupar</a:t>
            </a:r>
            <a:r>
              <a:rPr dirty="0"/>
              <a:t> </a:t>
            </a:r>
            <a:r>
              <a:rPr dirty="0" err="1"/>
              <a:t>los</a:t>
            </a:r>
            <a:r>
              <a:rPr dirty="0"/>
              <a:t> </a:t>
            </a:r>
            <a:r>
              <a:rPr dirty="0" err="1"/>
              <a:t>límites</a:t>
            </a:r>
            <a:r>
              <a:rPr dirty="0"/>
              <a:t> </a:t>
            </a:r>
            <a:r>
              <a:rPr dirty="0" err="1"/>
              <a:t>en</a:t>
            </a:r>
            <a:r>
              <a:rPr dirty="0"/>
              <a:t> </a:t>
            </a:r>
            <a:r>
              <a:rPr dirty="0" err="1"/>
              <a:t>entorno</a:t>
            </a:r>
            <a:r>
              <a:rPr dirty="0"/>
              <a:t>, </a:t>
            </a:r>
            <a:r>
              <a:rPr dirty="0" err="1"/>
              <a:t>cliente</a:t>
            </a:r>
            <a:r>
              <a:rPr dirty="0"/>
              <a:t> y </a:t>
            </a:r>
            <a:r>
              <a:rPr dirty="0" err="1"/>
              <a:t>detección</a:t>
            </a:r>
            <a:r>
              <a:rPr dirty="0"/>
              <a:t>. </a:t>
            </a:r>
            <a:r>
              <a:rPr dirty="0" err="1"/>
              <a:t>Evitar</a:t>
            </a:r>
            <a:r>
              <a:rPr dirty="0"/>
              <a:t> </a:t>
            </a:r>
            <a:r>
              <a:rPr dirty="0" err="1"/>
              <a:t>convertir</a:t>
            </a:r>
            <a:r>
              <a:rPr dirty="0"/>
              <a:t> las </a:t>
            </a:r>
            <a:r>
              <a:rPr dirty="0" err="1"/>
              <a:t>líneas</a:t>
            </a:r>
            <a:r>
              <a:rPr dirty="0"/>
              <a:t> </a:t>
            </a:r>
            <a:r>
              <a:rPr dirty="0" err="1"/>
              <a:t>futuras</a:t>
            </a:r>
            <a:r>
              <a:rPr dirty="0"/>
              <a:t> </a:t>
            </a:r>
            <a:r>
              <a:rPr dirty="0" err="1"/>
              <a:t>en</a:t>
            </a:r>
            <a:r>
              <a:rPr dirty="0"/>
              <a:t> un </a:t>
            </a:r>
            <a:r>
              <a:rPr dirty="0" err="1"/>
              <a:t>catálogo</a:t>
            </a:r>
            <a:r>
              <a:rPr dirty="0"/>
              <a:t> de </a:t>
            </a:r>
            <a:r>
              <a:rPr dirty="0" err="1"/>
              <a:t>herramientas</a:t>
            </a:r>
            <a:r>
              <a:rPr dirty="0"/>
              <a:t>.</a:t>
            </a:r>
            <a:br>
              <a:rPr lang="es-ES" dirty="0"/>
            </a:br>
            <a:br>
              <a:rPr lang="es-ES" dirty="0"/>
            </a:br>
            <a:r>
              <a:rPr lang="es-ES" sz="1200" kern="1200" dirty="0">
                <a:effectLst/>
              </a:rPr>
              <a:t>Un paso futuro a este trabajo sería trasladar todos estos hallazgos a un modelo de madurez aplicable a plataformas OTT. Se establecerían diferentes niveles de madurez, empezando por el primero con una protección funcional (controles a nivel de aplicación), que sería parecido a la Fase 0 de este TFM; luego vendría el siguiente nivel con la Prevención Integral (concurrencia, autenticación en todos los niveles) lo que es nuestra Fase 1; el siguiente nivel implementaría detección y respuesta con los </a:t>
            </a:r>
            <a:r>
              <a:rPr lang="es-ES" sz="1200" kern="1200" dirty="0" err="1">
                <a:effectLst/>
              </a:rPr>
              <a:t>baneos</a:t>
            </a:r>
            <a:r>
              <a:rPr lang="es-ES" sz="1200" kern="1200" dirty="0">
                <a:effectLst/>
              </a:rPr>
              <a:t>, nuestra Fase 2; y por última un último nivel de Operación adaptativa, con </a:t>
            </a:r>
            <a:r>
              <a:rPr lang="es-ES" sz="1200" kern="1200" dirty="0" err="1">
                <a:effectLst/>
              </a:rPr>
              <a:t>watermarking</a:t>
            </a:r>
            <a:r>
              <a:rPr lang="es-ES" sz="1200" kern="1200" dirty="0">
                <a:effectLst/>
              </a:rPr>
              <a:t> forense y Telemetría externa, que no corresponde a ninguna fase de este TFM ya que sería un nivel de madurez y seguridad bastante elevado.</a:t>
            </a:r>
            <a:endParaRPr dirty="0"/>
          </a:p>
          <a:p>
            <a:endParaRPr dirty="0"/>
          </a:p>
          <a:p>
            <a:r>
              <a:rPr dirty="0"/>
              <a:t>Fuente: Guion_defensa_TFM.docx, </a:t>
            </a:r>
            <a:r>
              <a:rPr dirty="0" err="1"/>
              <a:t>bloque</a:t>
            </a:r>
            <a:r>
              <a:rPr dirty="0"/>
              <a:t> 13. </a:t>
            </a:r>
            <a:r>
              <a:rPr dirty="0" err="1"/>
              <a:t>Capítulos</a:t>
            </a:r>
            <a:r>
              <a:rPr dirty="0"/>
              <a:t> 7 y 8 · </a:t>
            </a:r>
            <a:r>
              <a:rPr dirty="0" err="1"/>
              <a:t>Limitaciones</a:t>
            </a:r>
            <a:r>
              <a:rPr dirty="0"/>
              <a:t>, </a:t>
            </a:r>
            <a:r>
              <a:rPr dirty="0" err="1"/>
              <a:t>ataques</a:t>
            </a:r>
            <a:r>
              <a:rPr dirty="0"/>
              <a:t> </a:t>
            </a:r>
            <a:r>
              <a:rPr dirty="0" err="1"/>
              <a:t>residuales</a:t>
            </a:r>
            <a:r>
              <a:rPr dirty="0"/>
              <a:t> y </a:t>
            </a:r>
            <a:r>
              <a:rPr dirty="0" err="1"/>
              <a:t>líneas</a:t>
            </a:r>
            <a:r>
              <a:rPr dirty="0"/>
              <a:t> </a:t>
            </a:r>
            <a:r>
              <a:rPr dirty="0" err="1"/>
              <a:t>futuras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Tiempo: 22:15–24:00.</a:t>
            </a:r>
          </a:p>
          <a:p>
            <a:endParaRPr dirty="0"/>
          </a:p>
          <a:p>
            <a:r>
              <a:rPr dirty="0"/>
              <a:t>El </a:t>
            </a:r>
            <a:r>
              <a:rPr dirty="0" err="1"/>
              <a:t>trabajo</a:t>
            </a:r>
            <a:r>
              <a:rPr dirty="0"/>
              <a:t> </a:t>
            </a:r>
            <a:r>
              <a:rPr dirty="0" err="1"/>
              <a:t>permite</a:t>
            </a:r>
            <a:r>
              <a:rPr dirty="0"/>
              <a:t> responder a la </a:t>
            </a:r>
            <a:r>
              <a:rPr dirty="0" err="1"/>
              <a:t>pregunta</a:t>
            </a:r>
            <a:r>
              <a:rPr dirty="0"/>
              <a:t> </a:t>
            </a:r>
            <a:r>
              <a:rPr dirty="0" err="1"/>
              <a:t>inicial</a:t>
            </a:r>
            <a:r>
              <a:rPr dirty="0"/>
              <a:t> </a:t>
            </a:r>
            <a:r>
              <a:rPr dirty="0" err="1"/>
              <a:t>dentro</a:t>
            </a:r>
            <a:r>
              <a:rPr dirty="0"/>
              <a:t> del </a:t>
            </a:r>
            <a:r>
              <a:rPr dirty="0" err="1"/>
              <a:t>alcance</a:t>
            </a:r>
            <a:r>
              <a:rPr dirty="0"/>
              <a:t> experimental: </a:t>
            </a:r>
            <a:r>
              <a:rPr dirty="0" err="1"/>
              <a:t>Widevine</a:t>
            </a:r>
            <a:r>
              <a:rPr dirty="0"/>
              <a:t> </a:t>
            </a:r>
            <a:r>
              <a:rPr dirty="0" err="1"/>
              <a:t>necesita</a:t>
            </a:r>
            <a:r>
              <a:rPr dirty="0"/>
              <a:t> </a:t>
            </a:r>
            <a:r>
              <a:rPr dirty="0" err="1"/>
              <a:t>una</a:t>
            </a:r>
            <a:r>
              <a:rPr dirty="0"/>
              <a:t> </a:t>
            </a:r>
            <a:r>
              <a:rPr dirty="0" err="1"/>
              <a:t>integración</a:t>
            </a:r>
            <a:r>
              <a:rPr dirty="0"/>
              <a:t> </a:t>
            </a:r>
            <a:r>
              <a:rPr dirty="0" err="1"/>
              <a:t>que</a:t>
            </a:r>
            <a:r>
              <a:rPr dirty="0"/>
              <a:t> </a:t>
            </a:r>
            <a:r>
              <a:rPr dirty="0" err="1"/>
              <a:t>gobierne</a:t>
            </a:r>
            <a:r>
              <a:rPr dirty="0"/>
              <a:t> el </a:t>
            </a:r>
            <a:r>
              <a:rPr dirty="0" err="1"/>
              <a:t>acceso</a:t>
            </a:r>
            <a:r>
              <a:rPr dirty="0"/>
              <a:t> a </a:t>
            </a:r>
            <a:r>
              <a:rPr dirty="0" err="1"/>
              <a:t>todo</a:t>
            </a:r>
            <a:r>
              <a:rPr dirty="0"/>
              <a:t> el </a:t>
            </a:r>
            <a:r>
              <a:rPr dirty="0" err="1"/>
              <a:t>servicio</a:t>
            </a:r>
            <a:r>
              <a:rPr dirty="0"/>
              <a:t>. La </a:t>
            </a:r>
            <a:r>
              <a:rPr dirty="0" err="1"/>
              <a:t>protección</a:t>
            </a:r>
            <a:r>
              <a:rPr dirty="0"/>
              <a:t> </a:t>
            </a:r>
            <a:r>
              <a:rPr dirty="0" err="1"/>
              <a:t>criptográfica</a:t>
            </a:r>
            <a:r>
              <a:rPr dirty="0"/>
              <a:t> y la </a:t>
            </a:r>
            <a:r>
              <a:rPr dirty="0" err="1"/>
              <a:t>validez</a:t>
            </a:r>
            <a:r>
              <a:rPr dirty="0"/>
              <a:t> de la </a:t>
            </a:r>
            <a:r>
              <a:rPr dirty="0" err="1"/>
              <a:t>licencia</a:t>
            </a:r>
            <a:r>
              <a:rPr dirty="0"/>
              <a:t> no </a:t>
            </a:r>
            <a:r>
              <a:rPr dirty="0" err="1"/>
              <a:t>bastan</a:t>
            </a:r>
            <a:r>
              <a:rPr dirty="0"/>
              <a:t> para </a:t>
            </a:r>
            <a:r>
              <a:rPr dirty="0" err="1"/>
              <a:t>determinar</a:t>
            </a:r>
            <a:r>
              <a:rPr dirty="0"/>
              <a:t> </a:t>
            </a:r>
            <a:r>
              <a:rPr dirty="0" err="1"/>
              <a:t>si</a:t>
            </a:r>
            <a:r>
              <a:rPr dirty="0"/>
              <a:t> </a:t>
            </a:r>
            <a:r>
              <a:rPr dirty="0" err="1"/>
              <a:t>una</a:t>
            </a:r>
            <a:r>
              <a:rPr dirty="0"/>
              <a:t> </a:t>
            </a:r>
            <a:r>
              <a:rPr dirty="0" err="1"/>
              <a:t>reproducción</a:t>
            </a:r>
            <a:r>
              <a:rPr dirty="0"/>
              <a:t> </a:t>
            </a:r>
            <a:r>
              <a:rPr dirty="0" err="1"/>
              <a:t>respeta</a:t>
            </a:r>
            <a:r>
              <a:rPr dirty="0"/>
              <a:t> </a:t>
            </a:r>
            <a:r>
              <a:rPr dirty="0" err="1"/>
              <a:t>los</a:t>
            </a:r>
            <a:r>
              <a:rPr dirty="0"/>
              <a:t> </a:t>
            </a:r>
            <a:r>
              <a:rPr dirty="0" err="1"/>
              <a:t>permisos</a:t>
            </a:r>
            <a:r>
              <a:rPr dirty="0"/>
              <a:t> y la </a:t>
            </a:r>
            <a:r>
              <a:rPr dirty="0" err="1"/>
              <a:t>política</a:t>
            </a:r>
            <a:r>
              <a:rPr dirty="0"/>
              <a:t> de la </a:t>
            </a:r>
            <a:r>
              <a:rPr dirty="0" err="1"/>
              <a:t>plataforma</a:t>
            </a:r>
            <a:r>
              <a:rPr dirty="0"/>
              <a:t>.</a:t>
            </a:r>
          </a:p>
          <a:p>
            <a:endParaRPr dirty="0"/>
          </a:p>
          <a:p>
            <a:r>
              <a:rPr dirty="0"/>
              <a:t>La Fase 0 lo </a:t>
            </a:r>
            <a:r>
              <a:rPr dirty="0" err="1"/>
              <a:t>demuestra</a:t>
            </a:r>
            <a:r>
              <a:rPr dirty="0"/>
              <a:t> con </a:t>
            </a:r>
            <a:r>
              <a:rPr dirty="0" err="1"/>
              <a:t>una</a:t>
            </a:r>
            <a:r>
              <a:rPr dirty="0"/>
              <a:t> </a:t>
            </a:r>
            <a:r>
              <a:rPr dirty="0" err="1"/>
              <a:t>reproducción</a:t>
            </a:r>
            <a:r>
              <a:rPr dirty="0"/>
              <a:t> externa sin </a:t>
            </a:r>
            <a:r>
              <a:rPr dirty="0" err="1"/>
              <a:t>autenticación</a:t>
            </a:r>
            <a:r>
              <a:rPr dirty="0"/>
              <a:t> y con </a:t>
            </a:r>
            <a:r>
              <a:rPr dirty="0" err="1"/>
              <a:t>rutas</a:t>
            </a:r>
            <a:r>
              <a:rPr dirty="0"/>
              <a:t> </a:t>
            </a:r>
            <a:r>
              <a:rPr dirty="0" err="1"/>
              <a:t>abiertas</a:t>
            </a:r>
            <a:r>
              <a:rPr dirty="0"/>
              <a:t> </a:t>
            </a:r>
            <a:r>
              <a:rPr dirty="0" err="1"/>
              <a:t>hacia</a:t>
            </a:r>
            <a:r>
              <a:rPr dirty="0"/>
              <a:t> la </a:t>
            </a:r>
            <a:r>
              <a:rPr dirty="0" err="1"/>
              <a:t>distribución</a:t>
            </a:r>
            <a:r>
              <a:rPr dirty="0"/>
              <a:t>. La Fase 1 </a:t>
            </a:r>
            <a:r>
              <a:rPr dirty="0" err="1"/>
              <a:t>corrige</a:t>
            </a:r>
            <a:r>
              <a:rPr dirty="0"/>
              <a:t> </a:t>
            </a:r>
            <a:r>
              <a:rPr dirty="0" err="1"/>
              <a:t>esos</a:t>
            </a:r>
            <a:r>
              <a:rPr dirty="0"/>
              <a:t> caminos </a:t>
            </a:r>
            <a:r>
              <a:rPr dirty="0" err="1"/>
              <a:t>mediante</a:t>
            </a:r>
            <a:r>
              <a:rPr dirty="0"/>
              <a:t> </a:t>
            </a:r>
            <a:r>
              <a:rPr dirty="0" err="1"/>
              <a:t>servicios</a:t>
            </a:r>
            <a:r>
              <a:rPr dirty="0"/>
              <a:t> </a:t>
            </a:r>
            <a:r>
              <a:rPr dirty="0" err="1"/>
              <a:t>internos</a:t>
            </a:r>
            <a:r>
              <a:rPr dirty="0"/>
              <a:t>, </a:t>
            </a:r>
            <a:r>
              <a:rPr dirty="0" err="1"/>
              <a:t>credenciales</a:t>
            </a:r>
            <a:r>
              <a:rPr dirty="0"/>
              <a:t> </a:t>
            </a:r>
            <a:r>
              <a:rPr dirty="0" err="1"/>
              <a:t>efímeras</a:t>
            </a:r>
            <a:r>
              <a:rPr dirty="0"/>
              <a:t>, </a:t>
            </a:r>
            <a:r>
              <a:rPr dirty="0" err="1"/>
              <a:t>autorización</a:t>
            </a:r>
            <a:r>
              <a:rPr dirty="0"/>
              <a:t> contextual y control de </a:t>
            </a:r>
            <a:r>
              <a:rPr dirty="0" err="1"/>
              <a:t>concurrencia</a:t>
            </a:r>
            <a:r>
              <a:rPr dirty="0"/>
              <a:t>. La Fase 2 </a:t>
            </a:r>
            <a:r>
              <a:rPr dirty="0" err="1"/>
              <a:t>añade</a:t>
            </a:r>
            <a:r>
              <a:rPr dirty="0"/>
              <a:t> </a:t>
            </a:r>
            <a:r>
              <a:rPr dirty="0" err="1"/>
              <a:t>eventos</a:t>
            </a:r>
            <a:r>
              <a:rPr dirty="0"/>
              <a:t>, </a:t>
            </a:r>
            <a:r>
              <a:rPr dirty="0" err="1"/>
              <a:t>riesgo</a:t>
            </a:r>
            <a:r>
              <a:rPr dirty="0"/>
              <a:t>, </a:t>
            </a:r>
            <a:r>
              <a:rPr dirty="0" err="1"/>
              <a:t>bloqueo</a:t>
            </a:r>
            <a:r>
              <a:rPr dirty="0"/>
              <a:t> y </a:t>
            </a:r>
            <a:r>
              <a:rPr dirty="0" err="1"/>
              <a:t>recuperación</a:t>
            </a:r>
            <a:r>
              <a:rPr dirty="0"/>
              <a:t>, de modo </a:t>
            </a:r>
            <a:r>
              <a:rPr dirty="0" err="1"/>
              <a:t>que</a:t>
            </a:r>
            <a:r>
              <a:rPr dirty="0"/>
              <a:t> la </a:t>
            </a:r>
            <a:r>
              <a:rPr dirty="0" err="1"/>
              <a:t>plataforma</a:t>
            </a:r>
            <a:r>
              <a:rPr dirty="0"/>
              <a:t> </a:t>
            </a:r>
            <a:r>
              <a:rPr dirty="0" err="1"/>
              <a:t>puede</a:t>
            </a:r>
            <a:r>
              <a:rPr dirty="0"/>
              <a:t> </a:t>
            </a:r>
            <a:r>
              <a:rPr dirty="0" err="1"/>
              <a:t>relacionar</a:t>
            </a:r>
            <a:r>
              <a:rPr dirty="0"/>
              <a:t> </a:t>
            </a:r>
            <a:r>
              <a:rPr dirty="0" err="1"/>
              <a:t>peticiones</a:t>
            </a:r>
            <a:r>
              <a:rPr dirty="0"/>
              <a:t> y responder a </a:t>
            </a:r>
            <a:r>
              <a:rPr dirty="0" err="1"/>
              <a:t>comportamientos</a:t>
            </a:r>
            <a:r>
              <a:rPr dirty="0"/>
              <a:t> </a:t>
            </a:r>
            <a:r>
              <a:rPr dirty="0" err="1"/>
              <a:t>repetidos</a:t>
            </a:r>
            <a:r>
              <a:rPr dirty="0"/>
              <a:t>.</a:t>
            </a:r>
          </a:p>
          <a:p>
            <a:endParaRPr dirty="0"/>
          </a:p>
          <a:p>
            <a:r>
              <a:rPr dirty="0"/>
              <a:t>Los </a:t>
            </a:r>
            <a:r>
              <a:rPr dirty="0" err="1"/>
              <a:t>objetivos</a:t>
            </a:r>
            <a:r>
              <a:rPr dirty="0"/>
              <a:t> se </a:t>
            </a:r>
            <a:r>
              <a:rPr dirty="0" err="1"/>
              <a:t>materializan</a:t>
            </a:r>
            <a:r>
              <a:rPr dirty="0"/>
              <a:t> </a:t>
            </a:r>
            <a:r>
              <a:rPr dirty="0" err="1"/>
              <a:t>en</a:t>
            </a:r>
            <a:r>
              <a:rPr dirty="0"/>
              <a:t> un </a:t>
            </a:r>
            <a:r>
              <a:rPr dirty="0" err="1"/>
              <a:t>laboratorio</a:t>
            </a:r>
            <a:r>
              <a:rPr dirty="0"/>
              <a:t> reproducible, </a:t>
            </a:r>
            <a:r>
              <a:rPr dirty="0" err="1"/>
              <a:t>una</a:t>
            </a:r>
            <a:r>
              <a:rPr dirty="0"/>
              <a:t> </a:t>
            </a:r>
            <a:r>
              <a:rPr dirty="0" err="1"/>
              <a:t>auditoría</a:t>
            </a:r>
            <a:r>
              <a:rPr dirty="0"/>
              <a:t> con </a:t>
            </a:r>
            <a:r>
              <a:rPr dirty="0" err="1"/>
              <a:t>evidencias</a:t>
            </a:r>
            <a:r>
              <a:rPr dirty="0"/>
              <a:t>, un proxy </a:t>
            </a:r>
            <a:r>
              <a:rPr dirty="0" err="1"/>
              <a:t>protegido</a:t>
            </a:r>
            <a:r>
              <a:rPr dirty="0"/>
              <a:t> y </a:t>
            </a:r>
            <a:r>
              <a:rPr dirty="0" err="1"/>
              <a:t>mecanismos</a:t>
            </a:r>
            <a:r>
              <a:rPr dirty="0"/>
              <a:t> de control del </a:t>
            </a:r>
            <a:r>
              <a:rPr dirty="0" err="1"/>
              <a:t>abuso</a:t>
            </a:r>
            <a:r>
              <a:rPr dirty="0"/>
              <a:t>. La </a:t>
            </a:r>
            <a:r>
              <a:rPr dirty="0" err="1"/>
              <a:t>evaluación</a:t>
            </a:r>
            <a:r>
              <a:rPr dirty="0"/>
              <a:t> </a:t>
            </a:r>
            <a:r>
              <a:rPr dirty="0" err="1"/>
              <a:t>compara</a:t>
            </a:r>
            <a:r>
              <a:rPr dirty="0"/>
              <a:t> las </a:t>
            </a:r>
            <a:r>
              <a:rPr dirty="0" err="1"/>
              <a:t>tres</a:t>
            </a:r>
            <a:r>
              <a:rPr dirty="0"/>
              <a:t> </a:t>
            </a:r>
            <a:r>
              <a:rPr dirty="0" err="1"/>
              <a:t>etapas</a:t>
            </a:r>
            <a:r>
              <a:rPr dirty="0"/>
              <a:t> y </a:t>
            </a:r>
            <a:r>
              <a:rPr dirty="0" err="1"/>
              <a:t>conserva</a:t>
            </a:r>
            <a:r>
              <a:rPr dirty="0"/>
              <a:t> tanto </a:t>
            </a:r>
            <a:r>
              <a:rPr dirty="0" err="1"/>
              <a:t>los</a:t>
            </a:r>
            <a:r>
              <a:rPr dirty="0"/>
              <a:t> </a:t>
            </a:r>
            <a:r>
              <a:rPr dirty="0" err="1"/>
              <a:t>resultados</a:t>
            </a:r>
            <a:r>
              <a:rPr dirty="0"/>
              <a:t> </a:t>
            </a:r>
            <a:r>
              <a:rPr dirty="0" err="1"/>
              <a:t>favorables</a:t>
            </a:r>
            <a:r>
              <a:rPr dirty="0"/>
              <a:t> </a:t>
            </a:r>
            <a:r>
              <a:rPr dirty="0" err="1"/>
              <a:t>como</a:t>
            </a:r>
            <a:r>
              <a:rPr dirty="0"/>
              <a:t> </a:t>
            </a:r>
            <a:r>
              <a:rPr dirty="0" err="1"/>
              <a:t>los</a:t>
            </a:r>
            <a:r>
              <a:rPr dirty="0"/>
              <a:t> </a:t>
            </a:r>
            <a:r>
              <a:rPr dirty="0" err="1"/>
              <a:t>límites</a:t>
            </a:r>
            <a:r>
              <a:rPr dirty="0"/>
              <a:t> </a:t>
            </a:r>
            <a:r>
              <a:rPr dirty="0" err="1"/>
              <a:t>que</a:t>
            </a:r>
            <a:r>
              <a:rPr dirty="0"/>
              <a:t> </a:t>
            </a:r>
            <a:r>
              <a:rPr dirty="0" err="1"/>
              <a:t>permanecen</a:t>
            </a:r>
            <a:r>
              <a:rPr dirty="0"/>
              <a:t>, </a:t>
            </a:r>
            <a:r>
              <a:rPr dirty="0" err="1"/>
              <a:t>especialmente</a:t>
            </a:r>
            <a:r>
              <a:rPr dirty="0"/>
              <a:t> el </a:t>
            </a:r>
            <a:r>
              <a:rPr dirty="0" err="1"/>
              <a:t>uso</a:t>
            </a:r>
            <a:r>
              <a:rPr dirty="0"/>
              <a:t> </a:t>
            </a:r>
            <a:r>
              <a:rPr dirty="0" err="1"/>
              <a:t>externo</a:t>
            </a:r>
            <a:r>
              <a:rPr dirty="0"/>
              <a:t> de </a:t>
            </a:r>
            <a:r>
              <a:rPr dirty="0" err="1"/>
              <a:t>una</a:t>
            </a:r>
            <a:r>
              <a:rPr dirty="0"/>
              <a:t> </a:t>
            </a:r>
            <a:r>
              <a:rPr dirty="0" err="1"/>
              <a:t>sesión</a:t>
            </a:r>
            <a:r>
              <a:rPr dirty="0"/>
              <a:t> </a:t>
            </a:r>
            <a:r>
              <a:rPr dirty="0" err="1"/>
              <a:t>válida</a:t>
            </a:r>
            <a:r>
              <a:rPr dirty="0"/>
              <a:t> con </a:t>
            </a:r>
            <a:r>
              <a:rPr dirty="0" err="1"/>
              <a:t>una</a:t>
            </a:r>
            <a:r>
              <a:rPr dirty="0"/>
              <a:t> clave </a:t>
            </a:r>
            <a:r>
              <a:rPr dirty="0" err="1"/>
              <a:t>conocida</a:t>
            </a:r>
            <a:r>
              <a:rPr dirty="0"/>
              <a:t>.</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La principal </a:t>
            </a:r>
            <a:r>
              <a:rPr dirty="0" err="1"/>
              <a:t>contribución</a:t>
            </a:r>
            <a:r>
              <a:rPr dirty="0"/>
              <a:t> es </a:t>
            </a:r>
            <a:r>
              <a:rPr dirty="0" err="1"/>
              <a:t>una</a:t>
            </a:r>
            <a:r>
              <a:rPr dirty="0"/>
              <a:t> </a:t>
            </a:r>
            <a:r>
              <a:rPr dirty="0" err="1"/>
              <a:t>ruta</a:t>
            </a:r>
            <a:r>
              <a:rPr dirty="0"/>
              <a:t> incremental y </a:t>
            </a:r>
            <a:r>
              <a:rPr dirty="0" err="1"/>
              <a:t>verificable</a:t>
            </a:r>
            <a:r>
              <a:rPr dirty="0"/>
              <a:t> para </a:t>
            </a:r>
            <a:r>
              <a:rPr dirty="0" err="1"/>
              <a:t>avanzar</a:t>
            </a:r>
            <a:r>
              <a:rPr dirty="0"/>
              <a:t> </a:t>
            </a:r>
            <a:r>
              <a:rPr dirty="0" err="1"/>
              <a:t>desde</a:t>
            </a:r>
            <a:r>
              <a:rPr dirty="0"/>
              <a:t> la </a:t>
            </a:r>
            <a:r>
              <a:rPr dirty="0" err="1"/>
              <a:t>reproducción</a:t>
            </a:r>
            <a:r>
              <a:rPr dirty="0"/>
              <a:t> </a:t>
            </a:r>
            <a:r>
              <a:rPr dirty="0" err="1"/>
              <a:t>protegida</a:t>
            </a:r>
            <a:r>
              <a:rPr dirty="0"/>
              <a:t> </a:t>
            </a:r>
            <a:r>
              <a:rPr dirty="0" err="1"/>
              <a:t>hacia</a:t>
            </a:r>
            <a:r>
              <a:rPr dirty="0"/>
              <a:t> la </a:t>
            </a:r>
            <a:r>
              <a:rPr dirty="0" err="1"/>
              <a:t>protección</a:t>
            </a:r>
            <a:r>
              <a:rPr dirty="0"/>
              <a:t> del </a:t>
            </a:r>
            <a:r>
              <a:rPr dirty="0" err="1"/>
              <a:t>sistema</a:t>
            </a:r>
            <a:r>
              <a:rPr dirty="0"/>
              <a:t> </a:t>
            </a:r>
            <a:r>
              <a:rPr dirty="0" err="1"/>
              <a:t>completo</a:t>
            </a:r>
            <a:r>
              <a:rPr dirty="0"/>
              <a:t>. En </a:t>
            </a:r>
            <a:r>
              <a:rPr dirty="0" err="1"/>
              <a:t>contenido</a:t>
            </a:r>
            <a:r>
              <a:rPr dirty="0"/>
              <a:t> </a:t>
            </a:r>
            <a:r>
              <a:rPr dirty="0" err="1"/>
              <a:t>en</a:t>
            </a:r>
            <a:r>
              <a:rPr dirty="0"/>
              <a:t> </a:t>
            </a:r>
            <a:r>
              <a:rPr dirty="0" err="1"/>
              <a:t>directo</a:t>
            </a:r>
            <a:r>
              <a:rPr dirty="0"/>
              <a:t>, </a:t>
            </a:r>
            <a:r>
              <a:rPr dirty="0" err="1"/>
              <a:t>esa</a:t>
            </a:r>
            <a:r>
              <a:rPr dirty="0"/>
              <a:t> </a:t>
            </a:r>
            <a:r>
              <a:rPr dirty="0" err="1"/>
              <a:t>protección</a:t>
            </a:r>
            <a:r>
              <a:rPr dirty="0"/>
              <a:t> </a:t>
            </a:r>
            <a:r>
              <a:rPr dirty="0" err="1"/>
              <a:t>exige</a:t>
            </a:r>
            <a:r>
              <a:rPr dirty="0"/>
              <a:t> </a:t>
            </a:r>
            <a:r>
              <a:rPr dirty="0" err="1"/>
              <a:t>revisión</a:t>
            </a:r>
            <a:r>
              <a:rPr dirty="0"/>
              <a:t> continua, </a:t>
            </a:r>
            <a:r>
              <a:rPr dirty="0" err="1"/>
              <a:t>detección</a:t>
            </a:r>
            <a:r>
              <a:rPr dirty="0"/>
              <a:t> y </a:t>
            </a:r>
            <a:r>
              <a:rPr dirty="0" err="1"/>
              <a:t>capacidad</a:t>
            </a:r>
            <a:r>
              <a:rPr dirty="0"/>
              <a:t> de </a:t>
            </a:r>
            <a:r>
              <a:rPr dirty="0" err="1"/>
              <a:t>reacción</a:t>
            </a:r>
            <a:r>
              <a:rPr dirty="0"/>
              <a:t> </a:t>
            </a:r>
            <a:r>
              <a:rPr dirty="0" err="1"/>
              <a:t>durante</a:t>
            </a:r>
            <a:r>
              <a:rPr dirty="0"/>
              <a:t> la </a:t>
            </a:r>
            <a:r>
              <a:rPr dirty="0" err="1"/>
              <a:t>propia</a:t>
            </a:r>
            <a:r>
              <a:rPr dirty="0"/>
              <a:t> </a:t>
            </a:r>
            <a:r>
              <a:rPr dirty="0" err="1"/>
              <a:t>emisión</a:t>
            </a:r>
            <a:r>
              <a:rPr dirty="0"/>
              <a:t>. Con </a:t>
            </a:r>
            <a:r>
              <a:rPr dirty="0" err="1"/>
              <a:t>esta</a:t>
            </a:r>
            <a:r>
              <a:rPr dirty="0"/>
              <a:t> </a:t>
            </a:r>
            <a:r>
              <a:rPr dirty="0" err="1"/>
              <a:t>conclusión</a:t>
            </a:r>
            <a:r>
              <a:rPr dirty="0"/>
              <a:t> </a:t>
            </a:r>
            <a:r>
              <a:rPr dirty="0" err="1"/>
              <a:t>termino</a:t>
            </a:r>
            <a:r>
              <a:rPr dirty="0"/>
              <a:t> la </a:t>
            </a:r>
            <a:r>
              <a:rPr dirty="0" err="1"/>
              <a:t>presentación</a:t>
            </a:r>
            <a:r>
              <a:rPr dirty="0"/>
              <a:t>. </a:t>
            </a:r>
            <a:r>
              <a:rPr dirty="0" err="1"/>
              <a:t>Muchas</a:t>
            </a:r>
            <a:r>
              <a:rPr dirty="0"/>
              <a:t> gracias </a:t>
            </a:r>
            <a:r>
              <a:rPr dirty="0" err="1"/>
              <a:t>por</a:t>
            </a:r>
            <a:r>
              <a:rPr dirty="0"/>
              <a:t> </a:t>
            </a:r>
            <a:r>
              <a:rPr dirty="0" err="1"/>
              <a:t>su</a:t>
            </a:r>
            <a:r>
              <a:rPr dirty="0"/>
              <a:t> </a:t>
            </a:r>
            <a:r>
              <a:rPr dirty="0" err="1"/>
              <a:t>atención</a:t>
            </a:r>
            <a:r>
              <a:rPr dirty="0"/>
              <a:t>; </a:t>
            </a:r>
            <a:r>
              <a:rPr dirty="0" err="1"/>
              <a:t>quedo</a:t>
            </a:r>
            <a:r>
              <a:rPr dirty="0"/>
              <a:t> a </a:t>
            </a:r>
            <a:r>
              <a:rPr dirty="0" err="1"/>
              <a:t>disposición</a:t>
            </a:r>
            <a:r>
              <a:rPr dirty="0"/>
              <a:t> del tribunal para las </a:t>
            </a:r>
            <a:r>
              <a:rPr dirty="0" err="1"/>
              <a:t>preguntas</a:t>
            </a:r>
            <a:r>
              <a:rPr dirty="0"/>
              <a:t>.</a:t>
            </a:r>
            <a:br>
              <a:rPr lang="es-ES" dirty="0"/>
            </a:br>
            <a:br>
              <a:rPr lang="es-ES" dirty="0"/>
            </a:br>
            <a:r>
              <a:rPr lang="es-ES" sz="1200" kern="1200" dirty="0">
                <a:effectLst/>
              </a:rPr>
              <a:t>Desde una perspectiva de ingeniería, trabajos preventivos como el desarrollado resultan más útiles como medida principal que confiar en el bloqueo posterior de contenidos o infraestructuras ilícitas, incluidos los bloqueos dinámicos de dominios y direcciones IP empleados en la estrategia antipiratería de LaLiga. Estos bloqueos pueden complementar la respuesta frente a una retransmisión ya localizada, pero actúan cuando el contenido ha salido del sistema, no corrigen una licencia expuesta, un token reutilizable o una CDN mal autorizada y exigen especial precisión cuando una dirección comparte servicios heterogéneos. La prioridad debería ser impedir y detectar la extracción en el origen; el bloqueo externo puede permanecer como apoyo, pero no sustituir a una arquitectura segura ni al esfuerzo continuo de ciberseguridad.</a:t>
            </a:r>
            <a:endParaRPr dirty="0"/>
          </a:p>
          <a:p>
            <a:endParaRPr dirty="0"/>
          </a:p>
          <a:p>
            <a:r>
              <a:rPr dirty="0" err="1"/>
              <a:t>Terminar</a:t>
            </a:r>
            <a:r>
              <a:rPr dirty="0"/>
              <a:t> </a:t>
            </a:r>
            <a:r>
              <a:rPr dirty="0" err="1"/>
              <a:t>mirando</a:t>
            </a:r>
            <a:r>
              <a:rPr dirty="0"/>
              <a:t> al tribunal. </a:t>
            </a:r>
            <a:r>
              <a:rPr dirty="0" err="1"/>
              <a:t>Dejar</a:t>
            </a:r>
            <a:r>
              <a:rPr dirty="0"/>
              <a:t> </a:t>
            </a:r>
            <a:r>
              <a:rPr dirty="0" err="1"/>
              <a:t>visibles</a:t>
            </a:r>
            <a:r>
              <a:rPr dirty="0"/>
              <a:t> las </a:t>
            </a:r>
            <a:r>
              <a:rPr dirty="0" err="1"/>
              <a:t>conclusiones</a:t>
            </a:r>
            <a:r>
              <a:rPr dirty="0"/>
              <a:t> </a:t>
            </a:r>
            <a:r>
              <a:rPr dirty="0" err="1"/>
              <a:t>durante</a:t>
            </a:r>
            <a:r>
              <a:rPr dirty="0"/>
              <a:t> las </a:t>
            </a:r>
            <a:r>
              <a:rPr dirty="0" err="1"/>
              <a:t>preguntas</a:t>
            </a:r>
            <a:r>
              <a:rPr dirty="0"/>
              <a:t>.</a:t>
            </a:r>
          </a:p>
          <a:p>
            <a:endParaRPr dirty="0"/>
          </a:p>
          <a:p>
            <a:r>
              <a:rPr dirty="0"/>
              <a:t>Fuente: Guion_defensa_TFM.docx, </a:t>
            </a:r>
            <a:r>
              <a:rPr dirty="0" err="1"/>
              <a:t>bloque</a:t>
            </a:r>
            <a:r>
              <a:rPr dirty="0"/>
              <a:t> 14. </a:t>
            </a:r>
            <a:r>
              <a:rPr dirty="0" err="1"/>
              <a:t>Capítulo</a:t>
            </a:r>
            <a:r>
              <a:rPr dirty="0"/>
              <a:t> 8 · </a:t>
            </a:r>
            <a:r>
              <a:rPr dirty="0" err="1"/>
              <a:t>Conclusiones</a:t>
            </a:r>
            <a:r>
              <a:rPr dirty="0"/>
              <a:t> y </a:t>
            </a:r>
            <a:r>
              <a:rPr dirty="0" err="1"/>
              <a:t>cumplimiento</a:t>
            </a:r>
            <a:r>
              <a:rPr dirty="0"/>
              <a:t> de </a:t>
            </a:r>
            <a:r>
              <a:rPr dirty="0" err="1"/>
              <a:t>objetivos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197FD-F2EF-4BC6-AAC9-29B0D8E31128}"/>
              </a:ext>
            </a:extLst>
          </p:cNvPr>
          <p:cNvSpPr>
            <a:spLocks noGrp="1"/>
          </p:cNvSpPr>
          <p:nvPr>
            <p:ph type="ctrTitle"/>
          </p:nvPr>
        </p:nvSpPr>
        <p:spPr>
          <a:xfrm>
            <a:off x="685800" y="1122363"/>
            <a:ext cx="7772400" cy="2387600"/>
          </a:xfrm>
        </p:spPr>
        <p:txBody>
          <a:bodyPr anchor="b"/>
          <a:lstStyle>
            <a:lvl1pPr algn="ctr">
              <a:buNone/>
              <a:defRPr sz="6000"/>
            </a:lvl1pPr>
          </a:lstStyle>
          <a:p>
            <a:r>
              <a:t>Haga clic para modificar el estilo de título del patrón</a:t>
            </a:r>
          </a:p>
        </p:txBody>
      </p:sp>
      <p:sp>
        <p:nvSpPr>
          <p:cNvPr id="3" name="Subtitle 2">
            <a:extLst>
              <a:ext uri="{FF2B5EF4-FFF2-40B4-BE49-F238E27FC236}">
                <a16:creationId xmlns:a16="http://schemas.microsoft.com/office/drawing/2014/main" id="{558FF8AD-DBAD-4B81-8AFB-30CAD043D224}"/>
              </a:ext>
            </a:extLst>
          </p:cNvPr>
          <p:cNvSpPr>
            <a:spLocks noGrp="1"/>
          </p:cNvSpPr>
          <p:nvPr>
            <p:ph type="subTitle" idx="1"/>
          </p:nvPr>
        </p:nvSpPr>
        <p:spPr>
          <a:xfrm>
            <a:off x="1143000" y="3602037"/>
            <a:ext cx="6858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t>Haga clic para modificar el estilo de subtítulo del patrón</a:t>
            </a:r>
          </a:p>
        </p:txBody>
      </p:sp>
      <p:sp>
        <p:nvSpPr>
          <p:cNvPr id="4" name="Date Placeholder 3">
            <a:extLst>
              <a:ext uri="{FF2B5EF4-FFF2-40B4-BE49-F238E27FC236}">
                <a16:creationId xmlns:a16="http://schemas.microsoft.com/office/drawing/2014/main" id="{05D51B78-588E-4AF1-9D44-28975D0611C3}"/>
              </a:ext>
            </a:extLst>
          </p:cNvPr>
          <p:cNvSpPr>
            <a:spLocks noGrp="1"/>
          </p:cNvSpPr>
          <p:nvPr>
            <p:ph type="dt" idx="10"/>
          </p:nvPr>
        </p:nvSpPr>
        <p:spPr/>
        <p:txBody>
          <a:bodyPr/>
          <a:lstStyle/>
          <a:p>
            <a:fld id="{94D6C06E-AE49-334B-9810-D4D60A6A3F8D}" type="datetimeFigureOut">
              <a:t>21/09/2026</a:t>
            </a:fld>
            <a:endParaRPr/>
          </a:p>
        </p:txBody>
      </p:sp>
      <p:sp>
        <p:nvSpPr>
          <p:cNvPr id="5" name="Footer Placeholder 4">
            <a:extLst>
              <a:ext uri="{FF2B5EF4-FFF2-40B4-BE49-F238E27FC236}">
                <a16:creationId xmlns:a16="http://schemas.microsoft.com/office/drawing/2014/main" id="{B56204CB-5560-4438-90BC-3B549CC4BDF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62A61EF-D8D0-4615-9F2C-490FDDB85417}"/>
              </a:ext>
            </a:extLst>
          </p:cNvPr>
          <p:cNvSpPr>
            <a:spLocks noGrp="1"/>
          </p:cNvSpPr>
          <p:nvPr>
            <p:ph type="sldNum" idx="12"/>
          </p:nvPr>
        </p:nvSpPr>
        <p:spPr/>
        <p:txBody>
          <a:bodyPr/>
          <a:lstStyle/>
          <a:p>
            <a:fld id="{795DA097-91D5-884A-AB6D-3E1FFBDE92C7}"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5BA72-9D89-48CC-8293-AA9F303759FA}"/>
              </a:ext>
            </a:extLst>
          </p:cNvPr>
          <p:cNvSpPr>
            <a:spLocks noGrp="1"/>
          </p:cNvSpPr>
          <p:nvPr>
            <p:ph type="title"/>
          </p:nvPr>
        </p:nvSpPr>
        <p:spPr/>
        <p:txBody>
          <a:bodyPr/>
          <a:lstStyle/>
          <a:p>
            <a:r>
              <a:t>Haga clic para modificar el estilo de título del patrón</a:t>
            </a:r>
          </a:p>
        </p:txBody>
      </p:sp>
      <p:sp>
        <p:nvSpPr>
          <p:cNvPr id="3" name="Content Placeholder 2">
            <a:extLst>
              <a:ext uri="{FF2B5EF4-FFF2-40B4-BE49-F238E27FC236}">
                <a16:creationId xmlns:a16="http://schemas.microsoft.com/office/drawing/2014/main" id="{A2BF6F81-3552-4637-B57A-FB95F9497B30}"/>
              </a:ext>
            </a:extLst>
          </p:cNvPr>
          <p:cNvSpPr>
            <a:spLocks noGrp="1"/>
          </p:cNvSpPr>
          <p:nvPr>
            <p:ph idx="1"/>
          </p:nvPr>
        </p:nvSpPr>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Date Placeholder 3">
            <a:extLst>
              <a:ext uri="{FF2B5EF4-FFF2-40B4-BE49-F238E27FC236}">
                <a16:creationId xmlns:a16="http://schemas.microsoft.com/office/drawing/2014/main" id="{2B26DE00-3B00-4FC8-A86F-A0B9022A305C}"/>
              </a:ext>
            </a:extLst>
          </p:cNvPr>
          <p:cNvSpPr>
            <a:spLocks noGrp="1"/>
          </p:cNvSpPr>
          <p:nvPr>
            <p:ph type="dt" idx="10"/>
          </p:nvPr>
        </p:nvSpPr>
        <p:spPr/>
        <p:txBody>
          <a:bodyPr/>
          <a:lstStyle/>
          <a:p>
            <a:fld id="{94D6C06E-AE49-334B-9810-D4D60A6A3F8D}" type="datetimeFigureOut">
              <a:t>21/09/2026</a:t>
            </a:fld>
            <a:endParaRPr/>
          </a:p>
        </p:txBody>
      </p:sp>
      <p:sp>
        <p:nvSpPr>
          <p:cNvPr id="5" name="Footer Placeholder 4">
            <a:extLst>
              <a:ext uri="{FF2B5EF4-FFF2-40B4-BE49-F238E27FC236}">
                <a16:creationId xmlns:a16="http://schemas.microsoft.com/office/drawing/2014/main" id="{FCBAD8C3-EAE9-4486-B0A3-D515D87C0EC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59C3A0B-F5BB-4007-8F70-A3BB28F71417}"/>
              </a:ext>
            </a:extLst>
          </p:cNvPr>
          <p:cNvSpPr>
            <a:spLocks noGrp="1"/>
          </p:cNvSpPr>
          <p:nvPr>
            <p:ph type="sldNum" idx="12"/>
          </p:nvPr>
        </p:nvSpPr>
        <p:spPr/>
        <p:txBody>
          <a:bodyPr/>
          <a:lstStyle/>
          <a:p>
            <a:fld id="{795DA097-91D5-884A-AB6D-3E1FFBDE92C7}"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5D430-832B-4979-9C00-377DA9371D8B}"/>
              </a:ext>
            </a:extLst>
          </p:cNvPr>
          <p:cNvSpPr>
            <a:spLocks noGrp="1"/>
          </p:cNvSpPr>
          <p:nvPr>
            <p:ph type="title"/>
          </p:nvPr>
        </p:nvSpPr>
        <p:spPr>
          <a:xfrm>
            <a:off x="623888" y="1709741"/>
            <a:ext cx="7886700" cy="2852737"/>
          </a:xfrm>
        </p:spPr>
        <p:txBody>
          <a:bodyPr anchor="b"/>
          <a:lstStyle>
            <a:lvl1pPr>
              <a:buNone/>
              <a:defRPr sz="6000"/>
            </a:lvl1pPr>
          </a:lstStyle>
          <a:p>
            <a:r>
              <a:t>Haga clic para modificar el estilo de título del patrón</a:t>
            </a:r>
          </a:p>
        </p:txBody>
      </p:sp>
      <p:sp>
        <p:nvSpPr>
          <p:cNvPr id="3" name="Text Placeholder 2">
            <a:extLst>
              <a:ext uri="{FF2B5EF4-FFF2-40B4-BE49-F238E27FC236}">
                <a16:creationId xmlns:a16="http://schemas.microsoft.com/office/drawing/2014/main" id="{FEC1BF61-38D3-43F1-8600-9AD42E2433F9}"/>
              </a:ext>
            </a:extLst>
          </p:cNvPr>
          <p:cNvSpPr>
            <a:spLocks noGrp="1"/>
          </p:cNvSpPr>
          <p:nvPr>
            <p:ph type="body" idx="1"/>
          </p:nvPr>
        </p:nvSpPr>
        <p:spPr>
          <a:xfrm>
            <a:off x="623888" y="4589465"/>
            <a:ext cx="7886700" cy="1500187"/>
          </a:xfrm>
        </p:spPr>
        <p:txBody>
          <a:bodyPr/>
          <a:lstStyle>
            <a:lvl1pPr marL="0" indent="0">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buNone/>
            </a:pPr>
            <a:r>
              <a:t>Haga clic para modificar los estilos de texto del patrón</a:t>
            </a:r>
          </a:p>
        </p:txBody>
      </p:sp>
      <p:sp>
        <p:nvSpPr>
          <p:cNvPr id="4" name="Date Placeholder 3">
            <a:extLst>
              <a:ext uri="{FF2B5EF4-FFF2-40B4-BE49-F238E27FC236}">
                <a16:creationId xmlns:a16="http://schemas.microsoft.com/office/drawing/2014/main" id="{8F813740-6F53-4333-882B-D18CF7421432}"/>
              </a:ext>
            </a:extLst>
          </p:cNvPr>
          <p:cNvSpPr>
            <a:spLocks noGrp="1"/>
          </p:cNvSpPr>
          <p:nvPr>
            <p:ph type="dt" idx="10"/>
          </p:nvPr>
        </p:nvSpPr>
        <p:spPr/>
        <p:txBody>
          <a:bodyPr/>
          <a:lstStyle/>
          <a:p>
            <a:fld id="{94D6C06E-AE49-334B-9810-D4D60A6A3F8D}" type="datetimeFigureOut">
              <a:t>21/09/2026</a:t>
            </a:fld>
            <a:endParaRPr/>
          </a:p>
        </p:txBody>
      </p:sp>
      <p:sp>
        <p:nvSpPr>
          <p:cNvPr id="5" name="Footer Placeholder 4">
            <a:extLst>
              <a:ext uri="{FF2B5EF4-FFF2-40B4-BE49-F238E27FC236}">
                <a16:creationId xmlns:a16="http://schemas.microsoft.com/office/drawing/2014/main" id="{3ED49FF4-8953-4589-AF4C-5458CBD08CC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AA72B6D-63EC-4DD4-8BBC-2E1063B20E69}"/>
              </a:ext>
            </a:extLst>
          </p:cNvPr>
          <p:cNvSpPr>
            <a:spLocks noGrp="1"/>
          </p:cNvSpPr>
          <p:nvPr>
            <p:ph type="sldNum" idx="12"/>
          </p:nvPr>
        </p:nvSpPr>
        <p:spPr/>
        <p:txBody>
          <a:bodyPr/>
          <a:lstStyle/>
          <a:p>
            <a:fld id="{795DA097-91D5-884A-AB6D-3E1FFBDE92C7}"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9C2CB-A8A3-4744-A7C9-C0541EF2ED1F}"/>
              </a:ext>
            </a:extLst>
          </p:cNvPr>
          <p:cNvSpPr>
            <a:spLocks noGrp="1"/>
          </p:cNvSpPr>
          <p:nvPr>
            <p:ph type="title"/>
          </p:nvPr>
        </p:nvSpPr>
        <p:spPr/>
        <p:txBody>
          <a:bodyPr/>
          <a:lstStyle/>
          <a:p>
            <a:r>
              <a:t>Haga clic para modificar el estilo de título del patrón</a:t>
            </a:r>
          </a:p>
        </p:txBody>
      </p:sp>
      <p:sp>
        <p:nvSpPr>
          <p:cNvPr id="3" name="Content Placeholder 2">
            <a:extLst>
              <a:ext uri="{FF2B5EF4-FFF2-40B4-BE49-F238E27FC236}">
                <a16:creationId xmlns:a16="http://schemas.microsoft.com/office/drawing/2014/main" id="{16D8D85D-A59C-40A2-A090-1986A62D5C69}"/>
              </a:ext>
            </a:extLst>
          </p:cNvPr>
          <p:cNvSpPr>
            <a:spLocks noGrp="1"/>
          </p:cNvSpPr>
          <p:nvPr>
            <p:ph idx="1"/>
          </p:nvPr>
        </p:nvSpPr>
        <p:spPr>
          <a:xfrm>
            <a:off x="628650" y="1825625"/>
            <a:ext cx="3886200" cy="4351339"/>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Content Placeholder 3">
            <a:extLst>
              <a:ext uri="{FF2B5EF4-FFF2-40B4-BE49-F238E27FC236}">
                <a16:creationId xmlns:a16="http://schemas.microsoft.com/office/drawing/2014/main" id="{52F3533F-D7A1-4ED7-8610-6C9C597A9798}"/>
              </a:ext>
            </a:extLst>
          </p:cNvPr>
          <p:cNvSpPr>
            <a:spLocks noGrp="1"/>
          </p:cNvSpPr>
          <p:nvPr>
            <p:ph idx="2"/>
          </p:nvPr>
        </p:nvSpPr>
        <p:spPr>
          <a:xfrm>
            <a:off x="4629150" y="1825625"/>
            <a:ext cx="3886200" cy="4351339"/>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Date Placeholder 4">
            <a:extLst>
              <a:ext uri="{FF2B5EF4-FFF2-40B4-BE49-F238E27FC236}">
                <a16:creationId xmlns:a16="http://schemas.microsoft.com/office/drawing/2014/main" id="{BF6C9DE8-64B7-4A8D-89D4-844750194FA4}"/>
              </a:ext>
            </a:extLst>
          </p:cNvPr>
          <p:cNvSpPr>
            <a:spLocks noGrp="1"/>
          </p:cNvSpPr>
          <p:nvPr>
            <p:ph type="dt" idx="10"/>
          </p:nvPr>
        </p:nvSpPr>
        <p:spPr/>
        <p:txBody>
          <a:bodyPr/>
          <a:lstStyle/>
          <a:p>
            <a:fld id="{94D6C06E-AE49-334B-9810-D4D60A6A3F8D}" type="datetimeFigureOut">
              <a:t>21/09/2026</a:t>
            </a:fld>
            <a:endParaRPr/>
          </a:p>
        </p:txBody>
      </p:sp>
      <p:sp>
        <p:nvSpPr>
          <p:cNvPr id="6" name="Footer Placeholder 5">
            <a:extLst>
              <a:ext uri="{FF2B5EF4-FFF2-40B4-BE49-F238E27FC236}">
                <a16:creationId xmlns:a16="http://schemas.microsoft.com/office/drawing/2014/main" id="{82D5FB58-2FBB-4085-BCE0-EF3F82EA1CA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587F965-7485-408F-903E-EE118FDB2AC5}"/>
              </a:ext>
            </a:extLst>
          </p:cNvPr>
          <p:cNvSpPr>
            <a:spLocks noGrp="1"/>
          </p:cNvSpPr>
          <p:nvPr>
            <p:ph type="sldNum" idx="12"/>
          </p:nvPr>
        </p:nvSpPr>
        <p:spPr/>
        <p:txBody>
          <a:bodyPr/>
          <a:lstStyle/>
          <a:p>
            <a:fld id="{795DA097-91D5-884A-AB6D-3E1FFBDE92C7}"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FFC62-6A98-4C33-990B-792BABFCB5C2}"/>
              </a:ext>
            </a:extLst>
          </p:cNvPr>
          <p:cNvSpPr>
            <a:spLocks noGrp="1"/>
          </p:cNvSpPr>
          <p:nvPr>
            <p:ph type="title"/>
          </p:nvPr>
        </p:nvSpPr>
        <p:spPr>
          <a:xfrm>
            <a:off x="629841" y="365127"/>
            <a:ext cx="7886700" cy="1325563"/>
          </a:xfrm>
        </p:spPr>
        <p:txBody>
          <a:bodyPr/>
          <a:lstStyle/>
          <a:p>
            <a:r>
              <a:t>Haga clic para modificar el estilo de título del patrón</a:t>
            </a:r>
          </a:p>
        </p:txBody>
      </p:sp>
      <p:sp>
        <p:nvSpPr>
          <p:cNvPr id="3" name="Text Placeholder 2">
            <a:extLst>
              <a:ext uri="{FF2B5EF4-FFF2-40B4-BE49-F238E27FC236}">
                <a16:creationId xmlns:a16="http://schemas.microsoft.com/office/drawing/2014/main" id="{2B7D8712-2070-4EF8-A464-798C9A06492B}"/>
              </a:ext>
            </a:extLst>
          </p:cNvPr>
          <p:cNvSpPr>
            <a:spLocks noGrp="1"/>
          </p:cNvSpPr>
          <p:nvPr>
            <p:ph type="body" idx="1"/>
          </p:nvPr>
        </p:nvSpPr>
        <p:spPr>
          <a:xfrm>
            <a:off x="629842" y="1681163"/>
            <a:ext cx="3868340"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buNone/>
            </a:pPr>
            <a:r>
              <a:t>Haga clic para modificar los estilos de texto del patrón</a:t>
            </a:r>
          </a:p>
        </p:txBody>
      </p:sp>
      <p:sp>
        <p:nvSpPr>
          <p:cNvPr id="4" name="Content Placeholder 3">
            <a:extLst>
              <a:ext uri="{FF2B5EF4-FFF2-40B4-BE49-F238E27FC236}">
                <a16:creationId xmlns:a16="http://schemas.microsoft.com/office/drawing/2014/main" id="{7E62E8C6-A5AB-4232-856D-773EEC133A18}"/>
              </a:ext>
            </a:extLst>
          </p:cNvPr>
          <p:cNvSpPr>
            <a:spLocks noGrp="1"/>
          </p:cNvSpPr>
          <p:nvPr>
            <p:ph idx="2"/>
          </p:nvPr>
        </p:nvSpPr>
        <p:spPr>
          <a:xfrm>
            <a:off x="629842" y="2505075"/>
            <a:ext cx="3868340"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Text Placeholder 4">
            <a:extLst>
              <a:ext uri="{FF2B5EF4-FFF2-40B4-BE49-F238E27FC236}">
                <a16:creationId xmlns:a16="http://schemas.microsoft.com/office/drawing/2014/main" id="{C918F846-2715-41F3-BBC0-611518A666FE}"/>
              </a:ext>
            </a:extLst>
          </p:cNvPr>
          <p:cNvSpPr>
            <a:spLocks noGrp="1"/>
          </p:cNvSpPr>
          <p:nvPr>
            <p:ph type="body" idx="3"/>
          </p:nvPr>
        </p:nvSpPr>
        <p:spPr>
          <a:xfrm>
            <a:off x="4629152" y="1681163"/>
            <a:ext cx="3887391"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buNone/>
            </a:pPr>
            <a:r>
              <a:t>Haga clic para modificar los estilos de texto del patrón</a:t>
            </a:r>
          </a:p>
        </p:txBody>
      </p:sp>
      <p:sp>
        <p:nvSpPr>
          <p:cNvPr id="6" name="Content Placeholder 5">
            <a:extLst>
              <a:ext uri="{FF2B5EF4-FFF2-40B4-BE49-F238E27FC236}">
                <a16:creationId xmlns:a16="http://schemas.microsoft.com/office/drawing/2014/main" id="{A93053C7-542D-4B8A-8E91-5B9117A5158E}"/>
              </a:ext>
            </a:extLst>
          </p:cNvPr>
          <p:cNvSpPr>
            <a:spLocks noGrp="1"/>
          </p:cNvSpPr>
          <p:nvPr>
            <p:ph idx="4"/>
          </p:nvPr>
        </p:nvSpPr>
        <p:spPr>
          <a:xfrm>
            <a:off x="4629152" y="2505075"/>
            <a:ext cx="3887391"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7" name="Date Placeholder 6">
            <a:extLst>
              <a:ext uri="{FF2B5EF4-FFF2-40B4-BE49-F238E27FC236}">
                <a16:creationId xmlns:a16="http://schemas.microsoft.com/office/drawing/2014/main" id="{374C4B63-AFBE-4586-82E5-4D81205941CE}"/>
              </a:ext>
            </a:extLst>
          </p:cNvPr>
          <p:cNvSpPr>
            <a:spLocks noGrp="1"/>
          </p:cNvSpPr>
          <p:nvPr>
            <p:ph type="dt" idx="10"/>
          </p:nvPr>
        </p:nvSpPr>
        <p:spPr/>
        <p:txBody>
          <a:bodyPr/>
          <a:lstStyle/>
          <a:p>
            <a:fld id="{94D6C06E-AE49-334B-9810-D4D60A6A3F8D}" type="datetimeFigureOut">
              <a:t>21/09/2026</a:t>
            </a:fld>
            <a:endParaRPr/>
          </a:p>
        </p:txBody>
      </p:sp>
      <p:sp>
        <p:nvSpPr>
          <p:cNvPr id="8" name="Footer Placeholder 7">
            <a:extLst>
              <a:ext uri="{FF2B5EF4-FFF2-40B4-BE49-F238E27FC236}">
                <a16:creationId xmlns:a16="http://schemas.microsoft.com/office/drawing/2014/main" id="{0FF88D29-7183-4360-9CBE-4F03FEA5BA7F}"/>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CDA2E7BF-A353-4F85-8A88-76E1F4709DDD}"/>
              </a:ext>
            </a:extLst>
          </p:cNvPr>
          <p:cNvSpPr>
            <a:spLocks noGrp="1"/>
          </p:cNvSpPr>
          <p:nvPr>
            <p:ph type="sldNum" idx="12"/>
          </p:nvPr>
        </p:nvSpPr>
        <p:spPr/>
        <p:txBody>
          <a:bodyPr/>
          <a:lstStyle/>
          <a:p>
            <a:fld id="{795DA097-91D5-884A-AB6D-3E1FFBDE92C7}" type="slidenum">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A7CF2-8C85-4545-99D3-0EE0AD1D02A5}"/>
              </a:ext>
            </a:extLst>
          </p:cNvPr>
          <p:cNvSpPr>
            <a:spLocks noGrp="1"/>
          </p:cNvSpPr>
          <p:nvPr>
            <p:ph type="title"/>
          </p:nvPr>
        </p:nvSpPr>
        <p:spPr/>
        <p:txBody>
          <a:bodyPr/>
          <a:lstStyle/>
          <a:p>
            <a:r>
              <a:t>Haga clic para modificar el estilo de título del patrón</a:t>
            </a:r>
          </a:p>
        </p:txBody>
      </p:sp>
      <p:sp>
        <p:nvSpPr>
          <p:cNvPr id="3" name="Date Placeholder 2">
            <a:extLst>
              <a:ext uri="{FF2B5EF4-FFF2-40B4-BE49-F238E27FC236}">
                <a16:creationId xmlns:a16="http://schemas.microsoft.com/office/drawing/2014/main" id="{153C5444-249B-4692-983E-44C7D2F74F11}"/>
              </a:ext>
            </a:extLst>
          </p:cNvPr>
          <p:cNvSpPr>
            <a:spLocks noGrp="1"/>
          </p:cNvSpPr>
          <p:nvPr>
            <p:ph type="dt" idx="10"/>
          </p:nvPr>
        </p:nvSpPr>
        <p:spPr/>
        <p:txBody>
          <a:bodyPr/>
          <a:lstStyle/>
          <a:p>
            <a:fld id="{94D6C06E-AE49-334B-9810-D4D60A6A3F8D}" type="datetimeFigureOut">
              <a:t>21/09/2026</a:t>
            </a:fld>
            <a:endParaRPr/>
          </a:p>
        </p:txBody>
      </p:sp>
      <p:sp>
        <p:nvSpPr>
          <p:cNvPr id="4" name="Footer Placeholder 3">
            <a:extLst>
              <a:ext uri="{FF2B5EF4-FFF2-40B4-BE49-F238E27FC236}">
                <a16:creationId xmlns:a16="http://schemas.microsoft.com/office/drawing/2014/main" id="{3B2C18D0-F133-4085-8CFB-AE901E6A1829}"/>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25FA4632-B337-451C-A1E5-89A6F03F109A}"/>
              </a:ext>
            </a:extLst>
          </p:cNvPr>
          <p:cNvSpPr>
            <a:spLocks noGrp="1"/>
          </p:cNvSpPr>
          <p:nvPr>
            <p:ph type="sldNum" idx="12"/>
          </p:nvPr>
        </p:nvSpPr>
        <p:spPr/>
        <p:txBody>
          <a:bodyPr/>
          <a:lstStyle/>
          <a:p>
            <a:fld id="{795DA097-91D5-884A-AB6D-3E1FFBDE92C7}" type="slidenum">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BDB361-96ED-4175-926B-A433F79746DB}"/>
              </a:ext>
            </a:extLst>
          </p:cNvPr>
          <p:cNvSpPr>
            <a:spLocks noGrp="1"/>
          </p:cNvSpPr>
          <p:nvPr>
            <p:ph type="dt" idx="10"/>
          </p:nvPr>
        </p:nvSpPr>
        <p:spPr/>
        <p:txBody>
          <a:bodyPr/>
          <a:lstStyle/>
          <a:p>
            <a:fld id="{94D6C06E-AE49-334B-9810-D4D60A6A3F8D}" type="datetimeFigureOut">
              <a:t>21/09/2026</a:t>
            </a:fld>
            <a:endParaRPr/>
          </a:p>
        </p:txBody>
      </p:sp>
      <p:sp>
        <p:nvSpPr>
          <p:cNvPr id="3" name="Footer Placeholder 2">
            <a:extLst>
              <a:ext uri="{FF2B5EF4-FFF2-40B4-BE49-F238E27FC236}">
                <a16:creationId xmlns:a16="http://schemas.microsoft.com/office/drawing/2014/main" id="{0EA82783-6CD7-4DC5-8C0D-F92080F30D44}"/>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19347D22-0502-443B-AE73-C2F1D12AAD90}"/>
              </a:ext>
            </a:extLst>
          </p:cNvPr>
          <p:cNvSpPr>
            <a:spLocks noGrp="1"/>
          </p:cNvSpPr>
          <p:nvPr>
            <p:ph type="sldNum" idx="12"/>
          </p:nvPr>
        </p:nvSpPr>
        <p:spPr/>
        <p:txBody>
          <a:bodyPr/>
          <a:lstStyle/>
          <a:p>
            <a:fld id="{795DA097-91D5-884A-AB6D-3E1FFBDE92C7}" type="slidenum">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7FABF-0D28-4A92-87A5-26D7588E4DFC}"/>
              </a:ext>
            </a:extLst>
          </p:cNvPr>
          <p:cNvSpPr>
            <a:spLocks noGrp="1"/>
          </p:cNvSpPr>
          <p:nvPr>
            <p:ph type="title"/>
          </p:nvPr>
        </p:nvSpPr>
        <p:spPr>
          <a:xfrm>
            <a:off x="629841" y="457200"/>
            <a:ext cx="2949178" cy="1600200"/>
          </a:xfrm>
        </p:spPr>
        <p:txBody>
          <a:bodyPr anchor="b"/>
          <a:lstStyle>
            <a:lvl1pPr>
              <a:buNone/>
              <a:defRPr sz="3200"/>
            </a:lvl1pPr>
          </a:lstStyle>
          <a:p>
            <a:r>
              <a:t>Haga clic para modificar el estilo de título del patrón</a:t>
            </a:r>
          </a:p>
        </p:txBody>
      </p:sp>
      <p:sp>
        <p:nvSpPr>
          <p:cNvPr id="3" name="Content Placeholder 2">
            <a:extLst>
              <a:ext uri="{FF2B5EF4-FFF2-40B4-BE49-F238E27FC236}">
                <a16:creationId xmlns:a16="http://schemas.microsoft.com/office/drawing/2014/main" id="{D54F2E7A-F97F-4AFF-B875-ED3E69A35258}"/>
              </a:ext>
            </a:extLst>
          </p:cNvPr>
          <p:cNvSpPr>
            <a:spLocks noGrp="1"/>
          </p:cNvSpPr>
          <p:nvPr>
            <p:ph idx="1"/>
          </p:nvPr>
        </p:nvSpPr>
        <p:spPr>
          <a:xfrm>
            <a:off x="3887391" y="987428"/>
            <a:ext cx="462915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Text Placeholder 3">
            <a:extLst>
              <a:ext uri="{FF2B5EF4-FFF2-40B4-BE49-F238E27FC236}">
                <a16:creationId xmlns:a16="http://schemas.microsoft.com/office/drawing/2014/main" id="{62455621-1395-4B6F-B437-F5CAB7B36717}"/>
              </a:ext>
            </a:extLst>
          </p:cNvPr>
          <p:cNvSpPr>
            <a:spLocks noGrp="1"/>
          </p:cNvSpPr>
          <p:nvPr>
            <p:ph type="body" idx="2"/>
          </p:nvPr>
        </p:nvSpPr>
        <p:spPr>
          <a:xfrm>
            <a:off x="629841" y="2057401"/>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buNone/>
            </a:pPr>
            <a:r>
              <a:t>Haga clic para modificar los estilos de texto del patrón</a:t>
            </a:r>
          </a:p>
        </p:txBody>
      </p:sp>
      <p:sp>
        <p:nvSpPr>
          <p:cNvPr id="5" name="Date Placeholder 4">
            <a:extLst>
              <a:ext uri="{FF2B5EF4-FFF2-40B4-BE49-F238E27FC236}">
                <a16:creationId xmlns:a16="http://schemas.microsoft.com/office/drawing/2014/main" id="{DA2C7F42-6B4F-4DFF-8A51-301BF5316E4C}"/>
              </a:ext>
            </a:extLst>
          </p:cNvPr>
          <p:cNvSpPr>
            <a:spLocks noGrp="1"/>
          </p:cNvSpPr>
          <p:nvPr>
            <p:ph type="dt" idx="10"/>
          </p:nvPr>
        </p:nvSpPr>
        <p:spPr/>
        <p:txBody>
          <a:bodyPr/>
          <a:lstStyle/>
          <a:p>
            <a:fld id="{94D6C06E-AE49-334B-9810-D4D60A6A3F8D}" type="datetimeFigureOut">
              <a:t>21/09/2026</a:t>
            </a:fld>
            <a:endParaRPr/>
          </a:p>
        </p:txBody>
      </p:sp>
      <p:sp>
        <p:nvSpPr>
          <p:cNvPr id="6" name="Footer Placeholder 5">
            <a:extLst>
              <a:ext uri="{FF2B5EF4-FFF2-40B4-BE49-F238E27FC236}">
                <a16:creationId xmlns:a16="http://schemas.microsoft.com/office/drawing/2014/main" id="{F8819307-8994-441B-8A69-E26969D9F65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0F9C027-BCA9-4A46-A30D-1E66C42545D4}"/>
              </a:ext>
            </a:extLst>
          </p:cNvPr>
          <p:cNvSpPr>
            <a:spLocks noGrp="1"/>
          </p:cNvSpPr>
          <p:nvPr>
            <p:ph type="sldNum" idx="12"/>
          </p:nvPr>
        </p:nvSpPr>
        <p:spPr/>
        <p:txBody>
          <a:bodyPr/>
          <a:lstStyle/>
          <a:p>
            <a:fld id="{795DA097-91D5-884A-AB6D-3E1FFBDE92C7}" type="slidenum">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D842C-0B74-454C-BF21-9BA1579A71D1}"/>
              </a:ext>
            </a:extLst>
          </p:cNvPr>
          <p:cNvSpPr>
            <a:spLocks noGrp="1"/>
          </p:cNvSpPr>
          <p:nvPr>
            <p:ph type="title"/>
          </p:nvPr>
        </p:nvSpPr>
        <p:spPr>
          <a:xfrm>
            <a:off x="629841" y="457200"/>
            <a:ext cx="2949178" cy="1600200"/>
          </a:xfrm>
        </p:spPr>
        <p:txBody>
          <a:bodyPr anchor="b"/>
          <a:lstStyle>
            <a:lvl1pPr>
              <a:buNone/>
              <a:defRPr sz="3200"/>
            </a:lvl1pPr>
          </a:lstStyle>
          <a:p>
            <a:r>
              <a:t>Haga clic para modificar el estilo de título del patrón</a:t>
            </a:r>
          </a:p>
        </p:txBody>
      </p:sp>
      <p:sp>
        <p:nvSpPr>
          <p:cNvPr id="3" name="Picture Placeholder 2">
            <a:extLst>
              <a:ext uri="{FF2B5EF4-FFF2-40B4-BE49-F238E27FC236}">
                <a16:creationId xmlns:a16="http://schemas.microsoft.com/office/drawing/2014/main" id="{AC6069C7-2DE3-48D4-9297-9B5347884CDA}"/>
              </a:ext>
            </a:extLst>
          </p:cNvPr>
          <p:cNvSpPr>
            <a:spLocks noGrp="1"/>
          </p:cNvSpPr>
          <p:nvPr>
            <p:ph type="pic" idx="1"/>
          </p:nvPr>
        </p:nvSpPr>
        <p:spPr>
          <a:xfrm>
            <a:off x="3887391" y="987428"/>
            <a:ext cx="462915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t>Haga clic en el icono para agregar una imagen</a:t>
            </a:r>
          </a:p>
        </p:txBody>
      </p:sp>
      <p:sp>
        <p:nvSpPr>
          <p:cNvPr id="4" name="Text Placeholder 3">
            <a:extLst>
              <a:ext uri="{FF2B5EF4-FFF2-40B4-BE49-F238E27FC236}">
                <a16:creationId xmlns:a16="http://schemas.microsoft.com/office/drawing/2014/main" id="{101AE057-725D-440D-BC0C-C52B0C4B1FDF}"/>
              </a:ext>
            </a:extLst>
          </p:cNvPr>
          <p:cNvSpPr>
            <a:spLocks noGrp="1"/>
          </p:cNvSpPr>
          <p:nvPr>
            <p:ph type="body" idx="2"/>
          </p:nvPr>
        </p:nvSpPr>
        <p:spPr>
          <a:xfrm>
            <a:off x="629841" y="2057401"/>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buNone/>
            </a:pPr>
            <a:r>
              <a:t>Haga clic para modificar los estilos de texto del patrón</a:t>
            </a:r>
          </a:p>
        </p:txBody>
      </p:sp>
      <p:sp>
        <p:nvSpPr>
          <p:cNvPr id="5" name="Date Placeholder 4">
            <a:extLst>
              <a:ext uri="{FF2B5EF4-FFF2-40B4-BE49-F238E27FC236}">
                <a16:creationId xmlns:a16="http://schemas.microsoft.com/office/drawing/2014/main" id="{63628B02-7449-40EB-895C-8EB7931A3EBD}"/>
              </a:ext>
            </a:extLst>
          </p:cNvPr>
          <p:cNvSpPr>
            <a:spLocks noGrp="1"/>
          </p:cNvSpPr>
          <p:nvPr>
            <p:ph type="dt" idx="10"/>
          </p:nvPr>
        </p:nvSpPr>
        <p:spPr/>
        <p:txBody>
          <a:bodyPr/>
          <a:lstStyle/>
          <a:p>
            <a:fld id="{94D6C06E-AE49-334B-9810-D4D60A6A3F8D}" type="datetimeFigureOut">
              <a:t>21/09/2026</a:t>
            </a:fld>
            <a:endParaRPr/>
          </a:p>
        </p:txBody>
      </p:sp>
      <p:sp>
        <p:nvSpPr>
          <p:cNvPr id="6" name="Footer Placeholder 5">
            <a:extLst>
              <a:ext uri="{FF2B5EF4-FFF2-40B4-BE49-F238E27FC236}">
                <a16:creationId xmlns:a16="http://schemas.microsoft.com/office/drawing/2014/main" id="{903B2A4E-D8C2-45D2-8B99-689D82F7851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D7EC30B-5A50-4693-AB48-5DACF8404585}"/>
              </a:ext>
            </a:extLst>
          </p:cNvPr>
          <p:cNvSpPr>
            <a:spLocks noGrp="1"/>
          </p:cNvSpPr>
          <p:nvPr>
            <p:ph type="sldNum" idx="12"/>
          </p:nvPr>
        </p:nvSpPr>
        <p:spPr/>
        <p:txBody>
          <a:bodyPr/>
          <a:lstStyle/>
          <a:p>
            <a:fld id="{795DA097-91D5-884A-AB6D-3E1FFBDE92C7}" type="slidenum">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7F45B-7525-42D3-A10B-AD86207687E8}"/>
              </a:ext>
            </a:extLst>
          </p:cNvPr>
          <p:cNvSpPr>
            <a:spLocks noGrp="1"/>
          </p:cNvSpPr>
          <p:nvPr>
            <p:ph type="title"/>
          </p:nvPr>
        </p:nvSpPr>
        <p:spPr/>
        <p:txBody>
          <a:bodyPr/>
          <a:lstStyle/>
          <a:p>
            <a:r>
              <a:t>Haga clic para modificar el estilo de título del patrón</a:t>
            </a:r>
          </a:p>
        </p:txBody>
      </p:sp>
      <p:sp>
        <p:nvSpPr>
          <p:cNvPr id="3" name="Vertical Text Placeholder 2">
            <a:extLst>
              <a:ext uri="{FF2B5EF4-FFF2-40B4-BE49-F238E27FC236}">
                <a16:creationId xmlns:a16="http://schemas.microsoft.com/office/drawing/2014/main" id="{B30789C8-B429-4773-96B5-2F3D497B6CBA}"/>
              </a:ext>
            </a:extLst>
          </p:cNvPr>
          <p:cNvSpPr>
            <a:spLocks noGrp="1"/>
          </p:cNvSpPr>
          <p:nvPr>
            <p:ph type="body" idx="1"/>
          </p:nvPr>
        </p:nvSpPr>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Date Placeholder 3">
            <a:extLst>
              <a:ext uri="{FF2B5EF4-FFF2-40B4-BE49-F238E27FC236}">
                <a16:creationId xmlns:a16="http://schemas.microsoft.com/office/drawing/2014/main" id="{DE62281D-7700-4A4C-8CDC-54181E437989}"/>
              </a:ext>
            </a:extLst>
          </p:cNvPr>
          <p:cNvSpPr>
            <a:spLocks noGrp="1"/>
          </p:cNvSpPr>
          <p:nvPr>
            <p:ph type="dt" idx="10"/>
          </p:nvPr>
        </p:nvSpPr>
        <p:spPr/>
        <p:txBody>
          <a:bodyPr/>
          <a:lstStyle/>
          <a:p>
            <a:fld id="{94D6C06E-AE49-334B-9810-D4D60A6A3F8D}" type="datetimeFigureOut">
              <a:t>21/09/2026</a:t>
            </a:fld>
            <a:endParaRPr/>
          </a:p>
        </p:txBody>
      </p:sp>
      <p:sp>
        <p:nvSpPr>
          <p:cNvPr id="5" name="Footer Placeholder 4">
            <a:extLst>
              <a:ext uri="{FF2B5EF4-FFF2-40B4-BE49-F238E27FC236}">
                <a16:creationId xmlns:a16="http://schemas.microsoft.com/office/drawing/2014/main" id="{2692AC0B-1A80-43F4-BCBB-69A3F914771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5EEBAAE-5CAF-4CFE-A701-9E906660014B}"/>
              </a:ext>
            </a:extLst>
          </p:cNvPr>
          <p:cNvSpPr>
            <a:spLocks noGrp="1"/>
          </p:cNvSpPr>
          <p:nvPr>
            <p:ph type="sldNum" idx="12"/>
          </p:nvPr>
        </p:nvSpPr>
        <p:spPr/>
        <p:txBody>
          <a:bodyPr/>
          <a:lstStyle/>
          <a:p>
            <a:fld id="{795DA097-91D5-884A-AB6D-3E1FFBDE92C7}" type="slidenum">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C84E3C-5CCA-46CB-9FE6-E5908CFB4F6F}"/>
              </a:ext>
            </a:extLst>
          </p:cNvPr>
          <p:cNvSpPr>
            <a:spLocks noGrp="1"/>
          </p:cNvSpPr>
          <p:nvPr>
            <p:ph type="title"/>
          </p:nvPr>
        </p:nvSpPr>
        <p:spPr>
          <a:xfrm>
            <a:off x="6543676" y="365126"/>
            <a:ext cx="1971675" cy="5811839"/>
          </a:xfrm>
        </p:spPr>
        <p:txBody>
          <a:bodyPr vert="eaVert"/>
          <a:lstStyle/>
          <a:p>
            <a:r>
              <a:t>Haga clic para modificar el estilo de título del patrón</a:t>
            </a:r>
          </a:p>
        </p:txBody>
      </p:sp>
      <p:sp>
        <p:nvSpPr>
          <p:cNvPr id="3" name="Vertical Text Placeholder 2">
            <a:extLst>
              <a:ext uri="{FF2B5EF4-FFF2-40B4-BE49-F238E27FC236}">
                <a16:creationId xmlns:a16="http://schemas.microsoft.com/office/drawing/2014/main" id="{2776BF15-B303-4A9F-AFFF-A225DA42206B}"/>
              </a:ext>
            </a:extLst>
          </p:cNvPr>
          <p:cNvSpPr>
            <a:spLocks noGrp="1"/>
          </p:cNvSpPr>
          <p:nvPr>
            <p:ph type="body" idx="1"/>
          </p:nvPr>
        </p:nvSpPr>
        <p:spPr>
          <a:xfrm>
            <a:off x="628652" y="365126"/>
            <a:ext cx="5800725" cy="5811839"/>
          </a:xfrm>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Date Placeholder 3">
            <a:extLst>
              <a:ext uri="{FF2B5EF4-FFF2-40B4-BE49-F238E27FC236}">
                <a16:creationId xmlns:a16="http://schemas.microsoft.com/office/drawing/2014/main" id="{3ED54259-F2EA-4C63-BC7F-36A11D8687F0}"/>
              </a:ext>
            </a:extLst>
          </p:cNvPr>
          <p:cNvSpPr>
            <a:spLocks noGrp="1"/>
          </p:cNvSpPr>
          <p:nvPr>
            <p:ph type="dt" idx="10"/>
          </p:nvPr>
        </p:nvSpPr>
        <p:spPr/>
        <p:txBody>
          <a:bodyPr/>
          <a:lstStyle/>
          <a:p>
            <a:fld id="{94D6C06E-AE49-334B-9810-D4D60A6A3F8D}" type="datetimeFigureOut">
              <a:t>21/09/2026</a:t>
            </a:fld>
            <a:endParaRPr/>
          </a:p>
        </p:txBody>
      </p:sp>
      <p:sp>
        <p:nvSpPr>
          <p:cNvPr id="5" name="Footer Placeholder 4">
            <a:extLst>
              <a:ext uri="{FF2B5EF4-FFF2-40B4-BE49-F238E27FC236}">
                <a16:creationId xmlns:a16="http://schemas.microsoft.com/office/drawing/2014/main" id="{C601A3CB-72B8-42AB-98D9-CD0891FCD78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50BB024-3E38-45DB-8FAF-6C09F82665E2}"/>
              </a:ext>
            </a:extLst>
          </p:cNvPr>
          <p:cNvSpPr>
            <a:spLocks noGrp="1"/>
          </p:cNvSpPr>
          <p:nvPr>
            <p:ph type="sldNum" idx="12"/>
          </p:nvPr>
        </p:nvSpPr>
        <p:spPr/>
        <p:txBody>
          <a:bodyPr/>
          <a:lstStyle/>
          <a:p>
            <a:fld id="{795DA097-91D5-884A-AB6D-3E1FFBDE92C7}"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CCC9C8-5D13-46F4-9043-704F782760AD}"/>
              </a:ext>
            </a:extLst>
          </p:cNvPr>
          <p:cNvSpPr>
            <a:spLocks noGrp="1"/>
          </p:cNvSpPr>
          <p:nvPr>
            <p:ph type="title"/>
          </p:nvPr>
        </p:nvSpPr>
        <p:spPr>
          <a:xfrm>
            <a:off x="628650" y="365127"/>
            <a:ext cx="7886700" cy="1325563"/>
          </a:xfrm>
          <a:prstGeom prst="rect">
            <a:avLst/>
          </a:prstGeom>
        </p:spPr>
        <p:txBody>
          <a:bodyPr vert="horz" lIns="91440" tIns="45720" rIns="91440" bIns="45720" anchor="ctr">
            <a:normAutofit/>
          </a:bodyPr>
          <a:lstStyle/>
          <a:p>
            <a:r>
              <a:t>Haga clic para modificar el estilo de título del patrón</a:t>
            </a:r>
          </a:p>
        </p:txBody>
      </p:sp>
      <p:sp>
        <p:nvSpPr>
          <p:cNvPr id="3" name="Text Placeholder 2">
            <a:extLst>
              <a:ext uri="{FF2B5EF4-FFF2-40B4-BE49-F238E27FC236}">
                <a16:creationId xmlns:a16="http://schemas.microsoft.com/office/drawing/2014/main" id="{EA130399-C451-44E6-A76D-9522B9B64C48}"/>
              </a:ext>
            </a:extLst>
          </p:cNvPr>
          <p:cNvSpPr>
            <a:spLocks noGrp="1"/>
          </p:cNvSpPr>
          <p:nvPr>
            <p:ph type="body" idx="1"/>
          </p:nvPr>
        </p:nvSpPr>
        <p:spPr>
          <a:xfrm>
            <a:off x="628650" y="1825625"/>
            <a:ext cx="7886700" cy="4351339"/>
          </a:xfrm>
          <a:prstGeom prst="rect">
            <a:avLst/>
          </a:prstGeom>
        </p:spPr>
        <p:txBody>
          <a:bodyPr vert="horz" lIns="91440" tIns="45720" rIns="91440" bIns="45720">
            <a:normAutofit/>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Date Placeholder 3">
            <a:extLst>
              <a:ext uri="{FF2B5EF4-FFF2-40B4-BE49-F238E27FC236}">
                <a16:creationId xmlns:a16="http://schemas.microsoft.com/office/drawing/2014/main" id="{E147B4EC-5AF7-44FD-B96A-05D4CAEBCEB8}"/>
              </a:ext>
            </a:extLst>
          </p:cNvPr>
          <p:cNvSpPr>
            <a:spLocks noGrp="1"/>
          </p:cNvSpPr>
          <p:nvPr>
            <p:ph type="dt" idx="2"/>
          </p:nvPr>
        </p:nvSpPr>
        <p:spPr>
          <a:xfrm>
            <a:off x="628650" y="6356352"/>
            <a:ext cx="20574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4D6C06E-AE49-334B-9810-D4D60A6A3F8D}" type="datetimeFigureOut">
              <a:t>21/09/2026</a:t>
            </a:fld>
            <a:endParaRPr/>
          </a:p>
        </p:txBody>
      </p:sp>
      <p:sp>
        <p:nvSpPr>
          <p:cNvPr id="5" name="Footer Placeholder 4">
            <a:extLst>
              <a:ext uri="{FF2B5EF4-FFF2-40B4-BE49-F238E27FC236}">
                <a16:creationId xmlns:a16="http://schemas.microsoft.com/office/drawing/2014/main" id="{F7536C44-E924-4FF7-AEF2-4C6158090B51}"/>
              </a:ext>
            </a:extLst>
          </p:cNvPr>
          <p:cNvSpPr>
            <a:spLocks noGrp="1"/>
          </p:cNvSpPr>
          <p:nvPr>
            <p:ph type="ftr" idx="3"/>
          </p:nvPr>
        </p:nvSpPr>
        <p:spPr>
          <a:xfrm>
            <a:off x="3028950" y="6356352"/>
            <a:ext cx="30861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E4B581BB-7B5B-4E3B-AEDB-7A1FA6348B1E}"/>
              </a:ext>
            </a:extLst>
          </p:cNvPr>
          <p:cNvSpPr>
            <a:spLocks noGrp="1"/>
          </p:cNvSpPr>
          <p:nvPr>
            <p:ph type="sldNum" idx="4"/>
          </p:nvPr>
        </p:nvSpPr>
        <p:spPr>
          <a:xfrm>
            <a:off x="6457950" y="6356352"/>
            <a:ext cx="20574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795DA097-91D5-884A-AB6D-3E1FFBDE92C7}"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a:lnSpc>
          <a:spcPct val="90000"/>
        </a:lnSpc>
        <a:spcBef>
          <a:spcPct val="0"/>
        </a:spcBef>
        <a:buNone/>
        <a:defRPr sz="4400" kern="1200">
          <a:solidFill>
            <a:schemeClr val="tx1"/>
          </a:solidFill>
          <a:latin typeface="+mj-lt"/>
          <a:ea typeface="+mj-lt"/>
          <a:cs typeface="+mj-lt"/>
        </a:defRPr>
      </a:lvl1pPr>
    </p:titleStyle>
    <p:bodyStyle>
      <a:lvl1pPr marL="228594" indent="-228594" algn="l" defTabSz="914377">
        <a:lnSpc>
          <a:spcPct val="90000"/>
        </a:lnSpc>
        <a:spcBef>
          <a:spcPts val="1000"/>
        </a:spcBef>
        <a:buFont typeface="Arial"/>
        <a:buChar char="•"/>
        <a:defRPr sz="2800" kern="1200">
          <a:solidFill>
            <a:schemeClr val="tx1"/>
          </a:solidFill>
          <a:latin typeface="+mn-lt"/>
          <a:ea typeface="+mn-lt"/>
          <a:cs typeface="+mn-lt"/>
        </a:defRPr>
      </a:lvl1pPr>
      <a:lvl2pPr marL="685783" indent="-228594" algn="l" defTabSz="914377">
        <a:lnSpc>
          <a:spcPct val="90000"/>
        </a:lnSpc>
        <a:spcBef>
          <a:spcPts val="500"/>
        </a:spcBef>
        <a:buFont typeface="Arial"/>
        <a:buChar char="•"/>
        <a:defRPr sz="2400" kern="1200">
          <a:solidFill>
            <a:schemeClr val="tx1"/>
          </a:solidFill>
          <a:latin typeface="+mn-lt"/>
          <a:ea typeface="+mn-lt"/>
          <a:cs typeface="+mn-lt"/>
        </a:defRPr>
      </a:lvl2pPr>
      <a:lvl3pPr marL="1142971" indent="-228594" algn="l" defTabSz="914377">
        <a:lnSpc>
          <a:spcPct val="90000"/>
        </a:lnSpc>
        <a:spcBef>
          <a:spcPts val="500"/>
        </a:spcBef>
        <a:buFont typeface="Arial"/>
        <a:buChar char="•"/>
        <a:defRPr sz="2000" kern="1200">
          <a:solidFill>
            <a:schemeClr val="tx1"/>
          </a:solidFill>
          <a:latin typeface="+mn-lt"/>
          <a:ea typeface="+mn-lt"/>
          <a:cs typeface="+mn-lt"/>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377">
        <a:buNone/>
        <a:defRPr sz="1800" kern="1200">
          <a:solidFill>
            <a:schemeClr val="tx1"/>
          </a:solidFill>
          <a:latin typeface="+mn-lt"/>
          <a:ea typeface="+mn-lt"/>
          <a:cs typeface="+mn-lt"/>
        </a:defRPr>
      </a:lvl1pPr>
      <a:lvl2pPr marL="457189" algn="l" defTabSz="914377">
        <a:buNone/>
        <a:defRPr sz="1800" kern="1200">
          <a:solidFill>
            <a:schemeClr val="tx1"/>
          </a:solidFill>
          <a:latin typeface="+mn-lt"/>
          <a:ea typeface="+mn-lt"/>
          <a:cs typeface="+mn-lt"/>
        </a:defRPr>
      </a:lvl2pPr>
      <a:lvl3pPr marL="914377" algn="l" defTabSz="914377">
        <a:buNone/>
        <a:defRPr sz="1800" kern="1200">
          <a:solidFill>
            <a:schemeClr val="tx1"/>
          </a:solidFill>
          <a:latin typeface="+mn-lt"/>
          <a:ea typeface="+mn-lt"/>
          <a:cs typeface="+mn-lt"/>
        </a:defRPr>
      </a:lvl3pPr>
      <a:lvl4pPr marL="1371566" algn="l" defTabSz="914377">
        <a:buNone/>
        <a:defRPr sz="1800" kern="1200">
          <a:solidFill>
            <a:schemeClr val="tx1"/>
          </a:solidFill>
          <a:latin typeface="+mn-lt"/>
          <a:ea typeface="+mn-lt"/>
          <a:cs typeface="+mn-lt"/>
        </a:defRPr>
      </a:lvl4pPr>
      <a:lvl5pPr marL="1828754" algn="l" defTabSz="914377">
        <a:buNone/>
        <a:defRPr sz="1800" kern="1200">
          <a:solidFill>
            <a:schemeClr val="tx1"/>
          </a:solidFill>
          <a:latin typeface="+mn-lt"/>
          <a:ea typeface="+mn-lt"/>
          <a:cs typeface="+mn-lt"/>
        </a:defRPr>
      </a:lvl5pPr>
      <a:lvl6pPr marL="2285943" algn="l" defTabSz="914377">
        <a:buNone/>
        <a:defRPr sz="1800" kern="1200">
          <a:solidFill>
            <a:schemeClr val="tx1"/>
          </a:solidFill>
          <a:latin typeface="+mn-lt"/>
          <a:ea typeface="+mn-lt"/>
          <a:cs typeface="+mn-lt"/>
        </a:defRPr>
      </a:lvl6pPr>
      <a:lvl7pPr marL="2743131" algn="l" defTabSz="914377">
        <a:buNone/>
        <a:defRPr sz="1800" kern="1200">
          <a:solidFill>
            <a:schemeClr val="tx1"/>
          </a:solidFill>
          <a:latin typeface="+mn-lt"/>
          <a:ea typeface="+mn-lt"/>
          <a:cs typeface="+mn-lt"/>
        </a:defRPr>
      </a:lvl7pPr>
      <a:lvl8pPr marL="3200320" algn="l" defTabSz="914377">
        <a:buNone/>
        <a:defRPr sz="1800" kern="1200">
          <a:solidFill>
            <a:schemeClr val="tx1"/>
          </a:solidFill>
          <a:latin typeface="+mn-lt"/>
          <a:ea typeface="+mn-lt"/>
          <a:cs typeface="+mn-lt"/>
        </a:defRPr>
      </a:lvl8pPr>
      <a:lvl9pPr marL="3657509" algn="l" defTabSz="914377">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ext-1">
            <a:extLst>
              <a:ext uri="{FF2B5EF4-FFF2-40B4-BE49-F238E27FC236}">
                <a16:creationId xmlns:a16="http://schemas.microsoft.com/office/drawing/2014/main" id="{845F24E0-5444-490C-8B5D-EE534698181A}"/>
              </a:ext>
            </a:extLst>
          </p:cNvPr>
          <p:cNvSpPr>
            <a:spLocks noGrp="1"/>
          </p:cNvSpPr>
          <p:nvPr/>
        </p:nvSpPr>
        <p:spPr>
          <a:xfrm>
            <a:off x="800100" y="3238500"/>
            <a:ext cx="7524750" cy="1066800"/>
          </a:xfrm>
          <a:prstGeom prst="rect">
            <a:avLst/>
          </a:prstGeom>
          <a:noFill/>
          <a:ln w="0">
            <a:noFill/>
          </a:ln>
        </p:spPr>
        <p:txBody>
          <a:bodyPr wrap="square" lIns="0" tIns="0" rIns="0" bIns="0" anchor="t">
            <a:noAutofit/>
          </a:bodyPr>
          <a:lstStyle/>
          <a:p>
            <a:pPr algn="l">
              <a:defRPr sz="2775" b="1">
                <a:solidFill>
                  <a:srgbClr val="FFFFFF"/>
                </a:solidFill>
                <a:latin typeface="Malacitana-Sans"/>
                <a:ea typeface="Malacitana-Sans"/>
                <a:cs typeface="Malacitana-Sans"/>
              </a:defRPr>
            </a:pPr>
            <a:r>
              <a:rPr lang="es-ES" sz="2775" b="1" noProof="0" dirty="0">
                <a:solidFill>
                  <a:srgbClr val="FFFFFF"/>
                </a:solidFill>
                <a:latin typeface="Malacitana-Sans"/>
                <a:ea typeface="Malacitana-Sans"/>
                <a:cs typeface="Malacitana-Sans"/>
              </a:rPr>
              <a:t>Evaluación de seguridad en</a:t>
            </a:r>
          </a:p>
          <a:p>
            <a:pPr algn="l">
              <a:defRPr sz="2775" b="1">
                <a:solidFill>
                  <a:srgbClr val="FFFFFF"/>
                </a:solidFill>
                <a:latin typeface="Malacitana-Sans"/>
                <a:ea typeface="Malacitana-Sans"/>
                <a:cs typeface="Malacitana-Sans"/>
              </a:defRPr>
            </a:pPr>
            <a:r>
              <a:rPr lang="es-ES" sz="2775" b="1" noProof="0" dirty="0">
                <a:solidFill>
                  <a:srgbClr val="FFFFFF"/>
                </a:solidFill>
                <a:latin typeface="Malacitana-Sans"/>
                <a:ea typeface="Malacitana-Sans"/>
                <a:cs typeface="Malacitana-Sans"/>
              </a:rPr>
              <a:t>ecosistemas </a:t>
            </a:r>
            <a:r>
              <a:rPr lang="es-ES" sz="2775" b="1" noProof="0" dirty="0" err="1">
                <a:solidFill>
                  <a:srgbClr val="FFFFFF"/>
                </a:solidFill>
                <a:latin typeface="Malacitana-Sans"/>
                <a:ea typeface="Malacitana-Sans"/>
                <a:cs typeface="Malacitana-Sans"/>
              </a:rPr>
              <a:t>Widevine</a:t>
            </a:r>
            <a:r>
              <a:rPr lang="es-ES" sz="2775" b="1" noProof="0" dirty="0">
                <a:solidFill>
                  <a:srgbClr val="FFFFFF"/>
                </a:solidFill>
                <a:latin typeface="Malacitana-Sans"/>
                <a:ea typeface="Malacitana-Sans"/>
                <a:cs typeface="Malacitana-Sans"/>
              </a:rPr>
              <a:t> DRM</a:t>
            </a:r>
          </a:p>
        </p:txBody>
      </p:sp>
      <p:sp>
        <p:nvSpPr>
          <p:cNvPr id="2" name="text-2">
            <a:extLst>
              <a:ext uri="{FF2B5EF4-FFF2-40B4-BE49-F238E27FC236}">
                <a16:creationId xmlns:a16="http://schemas.microsoft.com/office/drawing/2014/main" id="{9ECC339A-AB7B-4B6B-886E-438C821AB79F}"/>
              </a:ext>
            </a:extLst>
          </p:cNvPr>
          <p:cNvSpPr>
            <a:spLocks noGrp="1"/>
          </p:cNvSpPr>
          <p:nvPr/>
        </p:nvSpPr>
        <p:spPr>
          <a:xfrm>
            <a:off x="800100" y="4305300"/>
            <a:ext cx="7524750" cy="628650"/>
          </a:xfrm>
          <a:prstGeom prst="rect">
            <a:avLst/>
          </a:prstGeom>
          <a:noFill/>
          <a:ln w="0">
            <a:noFill/>
          </a:ln>
        </p:spPr>
        <p:txBody>
          <a:bodyPr wrap="square" lIns="0" tIns="0" rIns="0" bIns="0" anchor="t">
            <a:noAutofit/>
          </a:bodyPr>
          <a:lstStyle/>
          <a:p>
            <a:pPr algn="l">
              <a:defRPr sz="2100" b="0">
                <a:solidFill>
                  <a:srgbClr val="FFFFFF"/>
                </a:solidFill>
                <a:latin typeface="Malacitana-Sans"/>
                <a:ea typeface="Malacitana-Sans"/>
                <a:cs typeface="Malacitana-Sans"/>
              </a:defRPr>
            </a:pPr>
            <a:r>
              <a:rPr lang="es-ES" sz="2100" b="0" noProof="0" dirty="0">
                <a:solidFill>
                  <a:srgbClr val="FFFFFF"/>
                </a:solidFill>
                <a:latin typeface="Malacitana-Sans"/>
                <a:ea typeface="Malacitana-Sans"/>
                <a:cs typeface="Malacitana-Sans"/>
              </a:rPr>
              <a:t>Diseño de una Arquitectura de defensa en profundidad</a:t>
            </a:r>
          </a:p>
          <a:p>
            <a:pPr algn="l">
              <a:defRPr sz="2100" b="0">
                <a:solidFill>
                  <a:srgbClr val="FFFFFF"/>
                </a:solidFill>
                <a:latin typeface="Malacitana-Sans"/>
                <a:ea typeface="Malacitana-Sans"/>
                <a:cs typeface="Malacitana-Sans"/>
              </a:defRPr>
            </a:pPr>
            <a:r>
              <a:rPr lang="es-ES" sz="2100" b="0" noProof="0" dirty="0">
                <a:solidFill>
                  <a:srgbClr val="FFFFFF"/>
                </a:solidFill>
                <a:latin typeface="Malacitana-Sans"/>
                <a:ea typeface="Malacitana-Sans"/>
                <a:cs typeface="Malacitana-Sans"/>
              </a:rPr>
              <a:t>para el streaming en directo</a:t>
            </a:r>
          </a:p>
        </p:txBody>
      </p:sp>
      <p:sp>
        <p:nvSpPr>
          <p:cNvPr id="3" name="text-3">
            <a:extLst>
              <a:ext uri="{FF2B5EF4-FFF2-40B4-BE49-F238E27FC236}">
                <a16:creationId xmlns:a16="http://schemas.microsoft.com/office/drawing/2014/main" id="{F6F9DE2E-BA93-4A35-9B5F-C9A0789F52A5}"/>
              </a:ext>
            </a:extLst>
          </p:cNvPr>
          <p:cNvSpPr>
            <a:spLocks noGrp="1"/>
          </p:cNvSpPr>
          <p:nvPr/>
        </p:nvSpPr>
        <p:spPr>
          <a:xfrm>
            <a:off x="800100" y="5191125"/>
            <a:ext cx="7239000" cy="400050"/>
          </a:xfrm>
          <a:prstGeom prst="rect">
            <a:avLst/>
          </a:prstGeom>
          <a:noFill/>
          <a:ln w="0">
            <a:noFill/>
          </a:ln>
        </p:spPr>
        <p:txBody>
          <a:bodyPr wrap="square" lIns="0" tIns="0" rIns="0" bIns="0" anchor="t">
            <a:noAutofit/>
          </a:bodyPr>
          <a:lstStyle/>
          <a:p>
            <a:pPr algn="l">
              <a:defRPr sz="2175" b="1">
                <a:solidFill>
                  <a:srgbClr val="FFFFFF"/>
                </a:solidFill>
                <a:latin typeface="Malacitana-Sans"/>
                <a:ea typeface="Malacitana-Sans"/>
                <a:cs typeface="Malacitana-Sans"/>
              </a:defRPr>
            </a:pPr>
            <a:r>
              <a:rPr lang="es-ES" sz="2175" b="1" noProof="0" dirty="0">
                <a:solidFill>
                  <a:srgbClr val="FFFFFF"/>
                </a:solidFill>
                <a:latin typeface="Malacitana-Sans"/>
                <a:ea typeface="Malacitana-Sans"/>
                <a:cs typeface="Malacitana-Sans"/>
              </a:rPr>
              <a:t>Jesús Ramírez Gálvez</a:t>
            </a:r>
          </a:p>
        </p:txBody>
      </p:sp>
      <p:sp>
        <p:nvSpPr>
          <p:cNvPr id="4" name="text-4">
            <a:extLst>
              <a:ext uri="{FF2B5EF4-FFF2-40B4-BE49-F238E27FC236}">
                <a16:creationId xmlns:a16="http://schemas.microsoft.com/office/drawing/2014/main" id="{72CD2380-2BBF-4777-9BB4-5E7A32525D79}"/>
              </a:ext>
            </a:extLst>
          </p:cNvPr>
          <p:cNvSpPr>
            <a:spLocks noGrp="1"/>
          </p:cNvSpPr>
          <p:nvPr/>
        </p:nvSpPr>
        <p:spPr>
          <a:xfrm>
            <a:off x="800100" y="5619750"/>
            <a:ext cx="7334250" cy="352425"/>
          </a:xfrm>
          <a:prstGeom prst="rect">
            <a:avLst/>
          </a:prstGeom>
          <a:noFill/>
          <a:ln w="0">
            <a:noFill/>
          </a:ln>
        </p:spPr>
        <p:txBody>
          <a:bodyPr wrap="square" lIns="0" tIns="0" rIns="0" bIns="0" anchor="t">
            <a:noAutofit/>
          </a:bodyPr>
          <a:lstStyle/>
          <a:p>
            <a:pPr>
              <a:defRPr sz="1650" b="0">
                <a:solidFill>
                  <a:srgbClr val="FFFFFF"/>
                </a:solidFill>
                <a:latin typeface="Malacitana-Sans"/>
                <a:ea typeface="Malacitana-Sans"/>
                <a:cs typeface="Malacitana-Sans"/>
              </a:defRPr>
            </a:pPr>
            <a:r>
              <a:rPr lang="es-ES" sz="1650" b="0" noProof="0" dirty="0">
                <a:solidFill>
                  <a:srgbClr val="FFFFFF"/>
                </a:solidFill>
                <a:latin typeface="Malacitana-Sans"/>
                <a:ea typeface="Malacitana-Sans"/>
                <a:cs typeface="Malacitana-Sans"/>
              </a:rPr>
              <a:t>Trabajo Fin de Máster · Máster </a:t>
            </a:r>
            <a:r>
              <a:rPr lang="es-ES" sz="1650" noProof="0" dirty="0">
                <a:solidFill>
                  <a:srgbClr val="FFFFFF"/>
                </a:solidFill>
                <a:latin typeface="Malacitana-Sans"/>
                <a:ea typeface="Malacitana-Sans"/>
                <a:cs typeface="Malacitana-Sans"/>
              </a:rPr>
              <a:t>en Ciberseguridad · </a:t>
            </a:r>
            <a:r>
              <a:rPr lang="es-ES" sz="1650" b="0" noProof="0" dirty="0">
                <a:solidFill>
                  <a:srgbClr val="FFFFFF"/>
                </a:solidFill>
                <a:latin typeface="Malacitana-Sans"/>
                <a:ea typeface="Malacitana-Sans"/>
                <a:cs typeface="Malacitana-Sans"/>
              </a:rPr>
              <a:t>Universidad de Málaga</a:t>
            </a:r>
          </a:p>
        </p:txBody>
      </p:sp>
      <p:sp>
        <p:nvSpPr>
          <p:cNvPr id="7" name="text-4">
            <a:extLst>
              <a:ext uri="{FF2B5EF4-FFF2-40B4-BE49-F238E27FC236}">
                <a16:creationId xmlns:a16="http://schemas.microsoft.com/office/drawing/2014/main" id="{DB918DE2-6F21-C529-417C-A86F8174AE38}"/>
              </a:ext>
            </a:extLst>
          </p:cNvPr>
          <p:cNvSpPr>
            <a:spLocks noGrp="1"/>
          </p:cNvSpPr>
          <p:nvPr/>
        </p:nvSpPr>
        <p:spPr>
          <a:xfrm>
            <a:off x="800100" y="6100762"/>
            <a:ext cx="7334250" cy="352425"/>
          </a:xfrm>
          <a:prstGeom prst="rect">
            <a:avLst/>
          </a:prstGeom>
          <a:noFill/>
          <a:ln w="0">
            <a:noFill/>
          </a:ln>
        </p:spPr>
        <p:txBody>
          <a:bodyPr wrap="square" lIns="0" tIns="0" rIns="0" bIns="0" anchor="t">
            <a:noAutofit/>
          </a:bodyPr>
          <a:lstStyle/>
          <a:p>
            <a:pPr>
              <a:defRPr sz="1650" b="0">
                <a:solidFill>
                  <a:srgbClr val="FFFFFF"/>
                </a:solidFill>
                <a:latin typeface="Malacitana-Sans"/>
                <a:ea typeface="Malacitana-Sans"/>
                <a:cs typeface="Malacitana-Sans"/>
              </a:defRPr>
            </a:pPr>
            <a:r>
              <a:rPr lang="es-ES" sz="1650" b="0" noProof="0" dirty="0">
                <a:solidFill>
                  <a:srgbClr val="FFFFFF"/>
                </a:solidFill>
                <a:latin typeface="Malacitana-Sans"/>
                <a:ea typeface="Malacitana-Sans"/>
                <a:cs typeface="Malacitana-Sans"/>
              </a:rPr>
              <a:t>22 de septiembre de 2026</a:t>
            </a:r>
          </a:p>
        </p:txBody>
      </p:sp>
    </p:spTree>
    <p:extLst>
      <p:ext uri="{BB962C8B-B14F-4D97-AF65-F5344CB8AC3E}">
        <p14:creationId xmlns:p14="http://schemas.microsoft.com/office/powerpoint/2010/main" val="2793373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text-5">
            <a:extLst>
              <a:ext uri="{FF2B5EF4-FFF2-40B4-BE49-F238E27FC236}">
                <a16:creationId xmlns:a16="http://schemas.microsoft.com/office/drawing/2014/main" id="{36095C55-B0F9-4ABB-A848-6AAA4003DC97}"/>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¿Basta con cifrar el contenido?</a:t>
            </a:r>
          </a:p>
        </p:txBody>
      </p:sp>
      <p:sp>
        <p:nvSpPr>
          <p:cNvPr id="2" name="text-6">
            <a:extLst>
              <a:ext uri="{FF2B5EF4-FFF2-40B4-BE49-F238E27FC236}">
                <a16:creationId xmlns:a16="http://schemas.microsoft.com/office/drawing/2014/main" id="{AE3F20E8-8EC2-441A-A9DB-A7DFA4EA8B4A}"/>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INTRODUCCIÓN</a:t>
            </a:r>
          </a:p>
        </p:txBody>
      </p:sp>
      <p:sp>
        <p:nvSpPr>
          <p:cNvPr id="3" name="text-7">
            <a:extLst>
              <a:ext uri="{FF2B5EF4-FFF2-40B4-BE49-F238E27FC236}">
                <a16:creationId xmlns:a16="http://schemas.microsoft.com/office/drawing/2014/main" id="{9031E3E1-351C-4EF5-B2B7-575DE66B7648}"/>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
        <p:nvSpPr>
          <p:cNvPr id="4" name="text-8">
            <a:extLst>
              <a:ext uri="{FF2B5EF4-FFF2-40B4-BE49-F238E27FC236}">
                <a16:creationId xmlns:a16="http://schemas.microsoft.com/office/drawing/2014/main" id="{185E89FF-FD41-417F-9205-16C9231832B7}"/>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02</a:t>
            </a:r>
          </a:p>
        </p:txBody>
      </p:sp>
      <p:sp>
        <p:nvSpPr>
          <p:cNvPr id="5" name="text-9">
            <a:extLst>
              <a:ext uri="{FF2B5EF4-FFF2-40B4-BE49-F238E27FC236}">
                <a16:creationId xmlns:a16="http://schemas.microsoft.com/office/drawing/2014/main" id="{89AC4A24-1B21-46D1-AF41-FE16B8B2DF11}"/>
              </a:ext>
            </a:extLst>
          </p:cNvPr>
          <p:cNvSpPr>
            <a:spLocks noGrp="1"/>
          </p:cNvSpPr>
          <p:nvPr/>
        </p:nvSpPr>
        <p:spPr>
          <a:xfrm>
            <a:off x="523875" y="1704975"/>
            <a:ext cx="8096250" cy="1190625"/>
          </a:xfrm>
          <a:prstGeom prst="rect">
            <a:avLst/>
          </a:prstGeom>
          <a:noFill/>
          <a:ln w="0">
            <a:noFill/>
          </a:ln>
        </p:spPr>
        <p:txBody>
          <a:bodyPr wrap="square" lIns="0" tIns="0" rIns="0" bIns="0" anchor="t">
            <a:noAutofit/>
          </a:bodyPr>
          <a:lstStyle/>
          <a:p>
            <a:pPr algn="l">
              <a:defRPr sz="3225" b="1">
                <a:solidFill>
                  <a:srgbClr val="004479"/>
                </a:solidFill>
                <a:latin typeface="Malacitana-Sans"/>
                <a:ea typeface="Malacitana-Sans"/>
                <a:cs typeface="Malacitana-Sans"/>
              </a:defRPr>
            </a:pPr>
            <a:r>
              <a:rPr lang="es-ES" sz="3225" b="1" noProof="0" dirty="0" err="1">
                <a:solidFill>
                  <a:srgbClr val="004479"/>
                </a:solidFill>
                <a:latin typeface="Malacitana-Sans"/>
                <a:ea typeface="Malacitana-Sans"/>
                <a:cs typeface="Malacitana-Sans"/>
              </a:rPr>
              <a:t>Widevine</a:t>
            </a:r>
            <a:r>
              <a:rPr lang="es-ES" sz="3225" b="1" noProof="0" dirty="0">
                <a:solidFill>
                  <a:srgbClr val="004479"/>
                </a:solidFill>
                <a:latin typeface="Malacitana-Sans"/>
                <a:ea typeface="Malacitana-Sans"/>
                <a:cs typeface="Malacitana-Sans"/>
              </a:rPr>
              <a:t> protege el contenido.</a:t>
            </a:r>
          </a:p>
          <a:p>
            <a:pPr algn="l">
              <a:defRPr sz="3225" b="1">
                <a:solidFill>
                  <a:srgbClr val="004479"/>
                </a:solidFill>
                <a:latin typeface="Malacitana-Sans"/>
                <a:ea typeface="Malacitana-Sans"/>
                <a:cs typeface="Malacitana-Sans"/>
              </a:defRPr>
            </a:pPr>
            <a:r>
              <a:rPr lang="es-ES" sz="3225" b="1" noProof="0" dirty="0">
                <a:solidFill>
                  <a:srgbClr val="004479"/>
                </a:solidFill>
                <a:latin typeface="Malacitana-Sans"/>
                <a:ea typeface="Malacitana-Sans"/>
                <a:cs typeface="Malacitana-Sans"/>
              </a:rPr>
              <a:t>¿Quién protege su distribución?</a:t>
            </a:r>
          </a:p>
        </p:txBody>
      </p:sp>
      <p:sp>
        <p:nvSpPr>
          <p:cNvPr id="6" name="panel-10">
            <a:extLst>
              <a:ext uri="{FF2B5EF4-FFF2-40B4-BE49-F238E27FC236}">
                <a16:creationId xmlns:a16="http://schemas.microsoft.com/office/drawing/2014/main" id="{5ADA2558-E289-4FC9-99B2-77A0FD4B7D75}"/>
              </a:ext>
            </a:extLst>
          </p:cNvPr>
          <p:cNvSpPr>
            <a:spLocks noGrp="1"/>
          </p:cNvSpPr>
          <p:nvPr/>
        </p:nvSpPr>
        <p:spPr>
          <a:xfrm>
            <a:off x="523875" y="3314700"/>
            <a:ext cx="2571750" cy="1962150"/>
          </a:xfrm>
          <a:prstGeom prst="rect">
            <a:avLst/>
          </a:prstGeom>
          <a:solidFill>
            <a:srgbClr val="EDF6FA"/>
          </a:solidFill>
          <a:ln w="0">
            <a:noFill/>
          </a:ln>
        </p:spPr>
        <p:txBody>
          <a:bodyPr/>
          <a:lstStyle/>
          <a:p>
            <a:endParaRPr lang="es-ES" noProof="0" dirty="0"/>
          </a:p>
        </p:txBody>
      </p:sp>
      <p:sp>
        <p:nvSpPr>
          <p:cNvPr id="7" name="text-11">
            <a:extLst>
              <a:ext uri="{FF2B5EF4-FFF2-40B4-BE49-F238E27FC236}">
                <a16:creationId xmlns:a16="http://schemas.microsoft.com/office/drawing/2014/main" id="{BFB0D173-9033-4A95-978F-204AE78C81B9}"/>
              </a:ext>
            </a:extLst>
          </p:cNvPr>
          <p:cNvSpPr>
            <a:spLocks noGrp="1"/>
          </p:cNvSpPr>
          <p:nvPr/>
        </p:nvSpPr>
        <p:spPr>
          <a:xfrm>
            <a:off x="714375" y="3467100"/>
            <a:ext cx="2190750"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01</a:t>
            </a:r>
          </a:p>
        </p:txBody>
      </p:sp>
      <p:sp>
        <p:nvSpPr>
          <p:cNvPr id="8" name="text-12">
            <a:extLst>
              <a:ext uri="{FF2B5EF4-FFF2-40B4-BE49-F238E27FC236}">
                <a16:creationId xmlns:a16="http://schemas.microsoft.com/office/drawing/2014/main" id="{5B56DA89-1D7F-4E4A-9C8D-DF4DC01CC376}"/>
              </a:ext>
            </a:extLst>
          </p:cNvPr>
          <p:cNvSpPr>
            <a:spLocks noGrp="1"/>
          </p:cNvSpPr>
          <p:nvPr/>
        </p:nvSpPr>
        <p:spPr>
          <a:xfrm>
            <a:off x="714375" y="3933825"/>
            <a:ext cx="2190750"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Acceso</a:t>
            </a:r>
          </a:p>
        </p:txBody>
      </p:sp>
      <p:sp>
        <p:nvSpPr>
          <p:cNvPr id="9" name="text-13">
            <a:extLst>
              <a:ext uri="{FF2B5EF4-FFF2-40B4-BE49-F238E27FC236}">
                <a16:creationId xmlns:a16="http://schemas.microsoft.com/office/drawing/2014/main" id="{741A453E-F882-42AF-BB92-D3E2336BF366}"/>
              </a:ext>
            </a:extLst>
          </p:cNvPr>
          <p:cNvSpPr>
            <a:spLocks noGrp="1"/>
          </p:cNvSpPr>
          <p:nvPr/>
        </p:nvSpPr>
        <p:spPr>
          <a:xfrm>
            <a:off x="714375" y="4610100"/>
            <a:ext cx="2190750" cy="581025"/>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Licencias y permisos</a:t>
            </a:r>
          </a:p>
        </p:txBody>
      </p:sp>
      <p:sp>
        <p:nvSpPr>
          <p:cNvPr id="10" name="panel-14">
            <a:extLst>
              <a:ext uri="{FF2B5EF4-FFF2-40B4-BE49-F238E27FC236}">
                <a16:creationId xmlns:a16="http://schemas.microsoft.com/office/drawing/2014/main" id="{2F1C965A-0967-4D5B-8265-C88E4DA9BC17}"/>
              </a:ext>
            </a:extLst>
          </p:cNvPr>
          <p:cNvSpPr>
            <a:spLocks noGrp="1"/>
          </p:cNvSpPr>
          <p:nvPr/>
        </p:nvSpPr>
        <p:spPr>
          <a:xfrm>
            <a:off x="3286125" y="3314700"/>
            <a:ext cx="2571750" cy="1962150"/>
          </a:xfrm>
          <a:prstGeom prst="rect">
            <a:avLst/>
          </a:prstGeom>
          <a:solidFill>
            <a:srgbClr val="EDF6FA"/>
          </a:solidFill>
          <a:ln w="0">
            <a:noFill/>
          </a:ln>
        </p:spPr>
        <p:txBody>
          <a:bodyPr/>
          <a:lstStyle/>
          <a:p>
            <a:endParaRPr lang="es-ES" noProof="0" dirty="0"/>
          </a:p>
        </p:txBody>
      </p:sp>
      <p:sp>
        <p:nvSpPr>
          <p:cNvPr id="11" name="text-15">
            <a:extLst>
              <a:ext uri="{FF2B5EF4-FFF2-40B4-BE49-F238E27FC236}">
                <a16:creationId xmlns:a16="http://schemas.microsoft.com/office/drawing/2014/main" id="{F94FF1DD-02F3-4D1D-A352-D9CC2A579334}"/>
              </a:ext>
            </a:extLst>
          </p:cNvPr>
          <p:cNvSpPr>
            <a:spLocks noGrp="1"/>
          </p:cNvSpPr>
          <p:nvPr/>
        </p:nvSpPr>
        <p:spPr>
          <a:xfrm>
            <a:off x="3476625" y="3467100"/>
            <a:ext cx="2190750"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02</a:t>
            </a:r>
          </a:p>
        </p:txBody>
      </p:sp>
      <p:sp>
        <p:nvSpPr>
          <p:cNvPr id="12" name="text-16">
            <a:extLst>
              <a:ext uri="{FF2B5EF4-FFF2-40B4-BE49-F238E27FC236}">
                <a16:creationId xmlns:a16="http://schemas.microsoft.com/office/drawing/2014/main" id="{ADF9AA16-B9B1-4175-9097-F67FD31FD280}"/>
              </a:ext>
            </a:extLst>
          </p:cNvPr>
          <p:cNvSpPr>
            <a:spLocks noGrp="1"/>
          </p:cNvSpPr>
          <p:nvPr/>
        </p:nvSpPr>
        <p:spPr>
          <a:xfrm>
            <a:off x="3476625" y="3933825"/>
            <a:ext cx="2190750"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Uso de cuentas</a:t>
            </a:r>
          </a:p>
        </p:txBody>
      </p:sp>
      <p:sp>
        <p:nvSpPr>
          <p:cNvPr id="13" name="text-17">
            <a:extLst>
              <a:ext uri="{FF2B5EF4-FFF2-40B4-BE49-F238E27FC236}">
                <a16:creationId xmlns:a16="http://schemas.microsoft.com/office/drawing/2014/main" id="{64F16DC6-3F8F-4BE4-B0BB-A513B3849631}"/>
              </a:ext>
            </a:extLst>
          </p:cNvPr>
          <p:cNvSpPr>
            <a:spLocks noGrp="1"/>
          </p:cNvSpPr>
          <p:nvPr/>
        </p:nvSpPr>
        <p:spPr>
          <a:xfrm>
            <a:off x="3476625" y="4610100"/>
            <a:ext cx="2190750" cy="581025"/>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Sesiones y concurrencia</a:t>
            </a:r>
          </a:p>
        </p:txBody>
      </p:sp>
      <p:sp>
        <p:nvSpPr>
          <p:cNvPr id="14" name="panel-18">
            <a:extLst>
              <a:ext uri="{FF2B5EF4-FFF2-40B4-BE49-F238E27FC236}">
                <a16:creationId xmlns:a16="http://schemas.microsoft.com/office/drawing/2014/main" id="{CA9A3976-5AB6-44C2-900F-6EEF1FA39868}"/>
              </a:ext>
            </a:extLst>
          </p:cNvPr>
          <p:cNvSpPr>
            <a:spLocks noGrp="1"/>
          </p:cNvSpPr>
          <p:nvPr/>
        </p:nvSpPr>
        <p:spPr>
          <a:xfrm>
            <a:off x="6048375" y="3314700"/>
            <a:ext cx="2571750" cy="1962150"/>
          </a:xfrm>
          <a:prstGeom prst="rect">
            <a:avLst/>
          </a:prstGeom>
          <a:solidFill>
            <a:srgbClr val="EDF6FA"/>
          </a:solidFill>
          <a:ln w="0">
            <a:noFill/>
          </a:ln>
        </p:spPr>
        <p:txBody>
          <a:bodyPr/>
          <a:lstStyle/>
          <a:p>
            <a:endParaRPr lang="es-ES" noProof="0" dirty="0"/>
          </a:p>
        </p:txBody>
      </p:sp>
      <p:sp>
        <p:nvSpPr>
          <p:cNvPr id="15" name="text-19">
            <a:extLst>
              <a:ext uri="{FF2B5EF4-FFF2-40B4-BE49-F238E27FC236}">
                <a16:creationId xmlns:a16="http://schemas.microsoft.com/office/drawing/2014/main" id="{53AB2CD3-C018-4E8B-BEB5-8FF481D526EE}"/>
              </a:ext>
            </a:extLst>
          </p:cNvPr>
          <p:cNvSpPr>
            <a:spLocks noGrp="1"/>
          </p:cNvSpPr>
          <p:nvPr/>
        </p:nvSpPr>
        <p:spPr>
          <a:xfrm>
            <a:off x="6238875" y="3467100"/>
            <a:ext cx="2190750"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03</a:t>
            </a:r>
          </a:p>
        </p:txBody>
      </p:sp>
      <p:sp>
        <p:nvSpPr>
          <p:cNvPr id="16" name="text-20">
            <a:extLst>
              <a:ext uri="{FF2B5EF4-FFF2-40B4-BE49-F238E27FC236}">
                <a16:creationId xmlns:a16="http://schemas.microsoft.com/office/drawing/2014/main" id="{D4AB8B06-A078-4A50-98AF-29B04042752F}"/>
              </a:ext>
            </a:extLst>
          </p:cNvPr>
          <p:cNvSpPr>
            <a:spLocks noGrp="1"/>
          </p:cNvSpPr>
          <p:nvPr/>
        </p:nvSpPr>
        <p:spPr>
          <a:xfrm>
            <a:off x="6238875" y="3933825"/>
            <a:ext cx="2190750"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Distribución</a:t>
            </a:r>
          </a:p>
        </p:txBody>
      </p:sp>
      <p:sp>
        <p:nvSpPr>
          <p:cNvPr id="17" name="text-21">
            <a:extLst>
              <a:ext uri="{FF2B5EF4-FFF2-40B4-BE49-F238E27FC236}">
                <a16:creationId xmlns:a16="http://schemas.microsoft.com/office/drawing/2014/main" id="{449B6683-30A2-4151-B8A8-8162EA56790C}"/>
              </a:ext>
            </a:extLst>
          </p:cNvPr>
          <p:cNvSpPr>
            <a:spLocks noGrp="1"/>
          </p:cNvSpPr>
          <p:nvPr/>
        </p:nvSpPr>
        <p:spPr>
          <a:xfrm>
            <a:off x="6238875" y="4610100"/>
            <a:ext cx="2190750" cy="581025"/>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Consumo fuera de contexto</a:t>
            </a:r>
          </a:p>
        </p:txBody>
      </p:sp>
      <p:sp>
        <p:nvSpPr>
          <p:cNvPr id="18" name="panel-22">
            <a:extLst>
              <a:ext uri="{FF2B5EF4-FFF2-40B4-BE49-F238E27FC236}">
                <a16:creationId xmlns:a16="http://schemas.microsoft.com/office/drawing/2014/main" id="{2EE6CC92-E87E-417D-BE8E-CB05737304C6}"/>
              </a:ext>
            </a:extLst>
          </p:cNvPr>
          <p:cNvSpPr>
            <a:spLocks noGrp="1"/>
          </p:cNvSpPr>
          <p:nvPr/>
        </p:nvSpPr>
        <p:spPr>
          <a:xfrm>
            <a:off x="523875" y="5724525"/>
            <a:ext cx="8096250" cy="504825"/>
          </a:xfrm>
          <a:prstGeom prst="rect">
            <a:avLst/>
          </a:prstGeom>
          <a:solidFill>
            <a:srgbClr val="004479"/>
          </a:solidFill>
          <a:ln w="0">
            <a:noFill/>
          </a:ln>
        </p:spPr>
        <p:txBody>
          <a:bodyPr/>
          <a:lstStyle/>
          <a:p>
            <a:endParaRPr lang="es-ES" noProof="0" dirty="0"/>
          </a:p>
        </p:txBody>
      </p:sp>
      <p:sp>
        <p:nvSpPr>
          <p:cNvPr id="19" name="text-23">
            <a:extLst>
              <a:ext uri="{FF2B5EF4-FFF2-40B4-BE49-F238E27FC236}">
                <a16:creationId xmlns:a16="http://schemas.microsoft.com/office/drawing/2014/main" id="{16AB49FB-43D8-4D98-AA1E-73DE963554B1}"/>
              </a:ext>
            </a:extLst>
          </p:cNvPr>
          <p:cNvSpPr>
            <a:spLocks noGrp="1"/>
          </p:cNvSpPr>
          <p:nvPr/>
        </p:nvSpPr>
        <p:spPr>
          <a:xfrm>
            <a:off x="704850" y="5838825"/>
            <a:ext cx="7734300" cy="304800"/>
          </a:xfrm>
          <a:prstGeom prst="rect">
            <a:avLst/>
          </a:prstGeom>
          <a:noFill/>
          <a:ln w="0">
            <a:noFill/>
          </a:ln>
        </p:spPr>
        <p:txBody>
          <a:bodyPr wrap="square" lIns="0" tIns="0" rIns="0" bIns="0" anchor="t">
            <a:noAutofit/>
          </a:bodyPr>
          <a:lstStyle/>
          <a:p>
            <a:pPr algn="l">
              <a:defRPr sz="1725" b="1">
                <a:solidFill>
                  <a:srgbClr val="FFFFFF"/>
                </a:solidFill>
                <a:latin typeface="Malacitana-Sans"/>
                <a:ea typeface="Malacitana-Sans"/>
                <a:cs typeface="Malacitana-Sans"/>
              </a:defRPr>
            </a:pPr>
            <a:r>
              <a:rPr lang="es-ES" sz="1725" b="1" noProof="0" dirty="0">
                <a:solidFill>
                  <a:srgbClr val="FFFFFF"/>
                </a:solidFill>
                <a:latin typeface="Malacitana-Sans"/>
                <a:ea typeface="Malacitana-Sans"/>
                <a:cs typeface="Malacitana-Sans"/>
              </a:rPr>
              <a:t>Hipótesis: el DRM necesita controles adicionales.</a:t>
            </a:r>
          </a:p>
        </p:txBody>
      </p:sp>
    </p:spTree>
    <p:extLst>
      <p:ext uri="{BB962C8B-B14F-4D97-AF65-F5344CB8AC3E}">
        <p14:creationId xmlns:p14="http://schemas.microsoft.com/office/powerpoint/2010/main" val="2136667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2" name="text-24">
            <a:extLst>
              <a:ext uri="{FF2B5EF4-FFF2-40B4-BE49-F238E27FC236}">
                <a16:creationId xmlns:a16="http://schemas.microsoft.com/office/drawing/2014/main" id="{6C4E9A33-2301-46BF-9C2B-8A7E21A2CE70}"/>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Objetivos del trabajo</a:t>
            </a:r>
          </a:p>
        </p:txBody>
      </p:sp>
      <p:sp>
        <p:nvSpPr>
          <p:cNvPr id="2" name="text-25">
            <a:extLst>
              <a:ext uri="{FF2B5EF4-FFF2-40B4-BE49-F238E27FC236}">
                <a16:creationId xmlns:a16="http://schemas.microsoft.com/office/drawing/2014/main" id="{531B9C4B-54BC-4F66-9064-D400361E96F3}"/>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INTRODUCCIÓN</a:t>
            </a:r>
          </a:p>
        </p:txBody>
      </p:sp>
      <p:sp>
        <p:nvSpPr>
          <p:cNvPr id="4" name="text-27">
            <a:extLst>
              <a:ext uri="{FF2B5EF4-FFF2-40B4-BE49-F238E27FC236}">
                <a16:creationId xmlns:a16="http://schemas.microsoft.com/office/drawing/2014/main" id="{3507E77C-CC3A-4831-B0DC-47C7C56C5E6B}"/>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03</a:t>
            </a:r>
          </a:p>
        </p:txBody>
      </p:sp>
      <p:sp>
        <p:nvSpPr>
          <p:cNvPr id="5" name="text-28">
            <a:extLst>
              <a:ext uri="{FF2B5EF4-FFF2-40B4-BE49-F238E27FC236}">
                <a16:creationId xmlns:a16="http://schemas.microsoft.com/office/drawing/2014/main" id="{AE3B1384-EBC5-41FD-88FC-E12B06B3727F}"/>
              </a:ext>
            </a:extLst>
          </p:cNvPr>
          <p:cNvSpPr>
            <a:spLocks noGrp="1"/>
          </p:cNvSpPr>
          <p:nvPr/>
        </p:nvSpPr>
        <p:spPr>
          <a:xfrm>
            <a:off x="523875" y="1581150"/>
            <a:ext cx="8096250" cy="762000"/>
          </a:xfrm>
          <a:prstGeom prst="rect">
            <a:avLst/>
          </a:prstGeom>
          <a:noFill/>
          <a:ln w="0">
            <a:noFill/>
          </a:ln>
        </p:spPr>
        <p:txBody>
          <a:bodyPr wrap="square" lIns="0" tIns="0" rIns="0" bIns="0" anchor="t">
            <a:noAutofit/>
          </a:bodyPr>
          <a:lstStyle/>
          <a:p>
            <a:pPr algn="l">
              <a:defRPr sz="2325" b="1">
                <a:solidFill>
                  <a:srgbClr val="004479"/>
                </a:solidFill>
                <a:latin typeface="Malacitana-Sans"/>
                <a:ea typeface="Malacitana-Sans"/>
                <a:cs typeface="Malacitana-Sans"/>
              </a:defRPr>
            </a:pPr>
            <a:r>
              <a:rPr lang="es-ES" sz="2325" b="1" noProof="0" dirty="0">
                <a:solidFill>
                  <a:srgbClr val="004479"/>
                </a:solidFill>
                <a:latin typeface="Malacitana-Sans"/>
                <a:ea typeface="Malacitana-Sans"/>
                <a:cs typeface="Malacitana-Sans"/>
              </a:rPr>
              <a:t>Diseñar, implementar y auditar un entorno OTT</a:t>
            </a:r>
          </a:p>
          <a:p>
            <a:pPr algn="l">
              <a:defRPr sz="2325" b="1">
                <a:solidFill>
                  <a:srgbClr val="004479"/>
                </a:solidFill>
                <a:latin typeface="Malacitana-Sans"/>
                <a:ea typeface="Malacitana-Sans"/>
                <a:cs typeface="Malacitana-Sans"/>
              </a:defRPr>
            </a:pPr>
            <a:r>
              <a:rPr lang="es-ES" sz="2325" b="1" noProof="0" dirty="0">
                <a:solidFill>
                  <a:srgbClr val="004479"/>
                </a:solidFill>
                <a:latin typeface="Malacitana-Sans"/>
                <a:ea typeface="Malacitana-Sans"/>
                <a:cs typeface="Malacitana-Sans"/>
              </a:rPr>
              <a:t>con </a:t>
            </a:r>
            <a:r>
              <a:rPr lang="es-ES" sz="2325" b="1" noProof="0" dirty="0" err="1">
                <a:solidFill>
                  <a:srgbClr val="004479"/>
                </a:solidFill>
                <a:latin typeface="Malacitana-Sans"/>
                <a:ea typeface="Malacitana-Sans"/>
                <a:cs typeface="Malacitana-Sans"/>
              </a:rPr>
              <a:t>Widevine</a:t>
            </a:r>
            <a:r>
              <a:rPr lang="es-ES" sz="2325" b="1" noProof="0" dirty="0">
                <a:solidFill>
                  <a:srgbClr val="004479"/>
                </a:solidFill>
                <a:latin typeface="Malacitana-Sans"/>
                <a:ea typeface="Malacitana-Sans"/>
                <a:cs typeface="Malacitana-Sans"/>
              </a:rPr>
              <a:t> y defensa en profundidad.</a:t>
            </a:r>
          </a:p>
        </p:txBody>
      </p:sp>
      <p:sp>
        <p:nvSpPr>
          <p:cNvPr id="6" name="panel-29">
            <a:extLst>
              <a:ext uri="{FF2B5EF4-FFF2-40B4-BE49-F238E27FC236}">
                <a16:creationId xmlns:a16="http://schemas.microsoft.com/office/drawing/2014/main" id="{91F6A657-5249-475F-87E9-F7504834B499}"/>
              </a:ext>
            </a:extLst>
          </p:cNvPr>
          <p:cNvSpPr>
            <a:spLocks noGrp="1"/>
          </p:cNvSpPr>
          <p:nvPr/>
        </p:nvSpPr>
        <p:spPr>
          <a:xfrm>
            <a:off x="523875" y="2724150"/>
            <a:ext cx="3952875" cy="1409700"/>
          </a:xfrm>
          <a:prstGeom prst="rect">
            <a:avLst/>
          </a:prstGeom>
          <a:solidFill>
            <a:srgbClr val="EDF6FA"/>
          </a:solidFill>
          <a:ln w="0">
            <a:noFill/>
          </a:ln>
        </p:spPr>
        <p:txBody>
          <a:bodyPr/>
          <a:lstStyle/>
          <a:p>
            <a:endParaRPr lang="es-ES" noProof="0" dirty="0"/>
          </a:p>
        </p:txBody>
      </p:sp>
      <p:sp>
        <p:nvSpPr>
          <p:cNvPr id="7" name="text-30">
            <a:extLst>
              <a:ext uri="{FF2B5EF4-FFF2-40B4-BE49-F238E27FC236}">
                <a16:creationId xmlns:a16="http://schemas.microsoft.com/office/drawing/2014/main" id="{2ED56C00-174A-44B8-99D8-76C6DA48A58F}"/>
              </a:ext>
            </a:extLst>
          </p:cNvPr>
          <p:cNvSpPr>
            <a:spLocks noGrp="1"/>
          </p:cNvSpPr>
          <p:nvPr/>
        </p:nvSpPr>
        <p:spPr>
          <a:xfrm>
            <a:off x="695325" y="2876550"/>
            <a:ext cx="495300" cy="371475"/>
          </a:xfrm>
          <a:prstGeom prst="rect">
            <a:avLst/>
          </a:prstGeom>
          <a:noFill/>
          <a:ln w="0">
            <a:noFill/>
          </a:ln>
        </p:spPr>
        <p:txBody>
          <a:bodyPr wrap="square" lIns="0" tIns="0" rIns="0" bIns="0" anchor="t">
            <a:noAutofit/>
          </a:bodyPr>
          <a:lstStyle/>
          <a:p>
            <a:pPr algn="l">
              <a:defRPr sz="2175" b="1">
                <a:solidFill>
                  <a:srgbClr val="00AAD6"/>
                </a:solidFill>
                <a:latin typeface="Malacitana-Sans"/>
                <a:ea typeface="Malacitana-Sans"/>
                <a:cs typeface="Malacitana-Sans"/>
              </a:defRPr>
            </a:pPr>
            <a:r>
              <a:rPr lang="es-ES" sz="2175" b="1" noProof="0" dirty="0">
                <a:solidFill>
                  <a:srgbClr val="00AAD6"/>
                </a:solidFill>
                <a:latin typeface="Malacitana-Sans"/>
                <a:ea typeface="Malacitana-Sans"/>
                <a:cs typeface="Malacitana-Sans"/>
              </a:rPr>
              <a:t>01</a:t>
            </a:r>
          </a:p>
        </p:txBody>
      </p:sp>
      <p:sp>
        <p:nvSpPr>
          <p:cNvPr id="8" name="text-31">
            <a:extLst>
              <a:ext uri="{FF2B5EF4-FFF2-40B4-BE49-F238E27FC236}">
                <a16:creationId xmlns:a16="http://schemas.microsoft.com/office/drawing/2014/main" id="{950C91E9-5935-4D96-B2FC-C2F0C374DAC0}"/>
              </a:ext>
            </a:extLst>
          </p:cNvPr>
          <p:cNvSpPr>
            <a:spLocks noGrp="1"/>
          </p:cNvSpPr>
          <p:nvPr/>
        </p:nvSpPr>
        <p:spPr>
          <a:xfrm>
            <a:off x="1295400" y="2886075"/>
            <a:ext cx="3000375" cy="34290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Construir</a:t>
            </a:r>
          </a:p>
        </p:txBody>
      </p:sp>
      <p:sp>
        <p:nvSpPr>
          <p:cNvPr id="9" name="text-32">
            <a:extLst>
              <a:ext uri="{FF2B5EF4-FFF2-40B4-BE49-F238E27FC236}">
                <a16:creationId xmlns:a16="http://schemas.microsoft.com/office/drawing/2014/main" id="{1B9D7D65-8773-4458-A7EC-503CD24563DC}"/>
              </a:ext>
            </a:extLst>
          </p:cNvPr>
          <p:cNvSpPr>
            <a:spLocks noGrp="1"/>
          </p:cNvSpPr>
          <p:nvPr/>
        </p:nvSpPr>
        <p:spPr>
          <a:xfrm>
            <a:off x="714375" y="3438525"/>
            <a:ext cx="3571875" cy="542925"/>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Laboratorio reproducible · CENC · origen y CDN</a:t>
            </a:r>
          </a:p>
        </p:txBody>
      </p:sp>
      <p:sp>
        <p:nvSpPr>
          <p:cNvPr id="10" name="panel-33">
            <a:extLst>
              <a:ext uri="{FF2B5EF4-FFF2-40B4-BE49-F238E27FC236}">
                <a16:creationId xmlns:a16="http://schemas.microsoft.com/office/drawing/2014/main" id="{81611B23-C83E-4A4F-8E91-B2ACD4E5E3A3}"/>
              </a:ext>
            </a:extLst>
          </p:cNvPr>
          <p:cNvSpPr>
            <a:spLocks noGrp="1"/>
          </p:cNvSpPr>
          <p:nvPr/>
        </p:nvSpPr>
        <p:spPr>
          <a:xfrm>
            <a:off x="4667250" y="2724150"/>
            <a:ext cx="3952875" cy="1409700"/>
          </a:xfrm>
          <a:prstGeom prst="rect">
            <a:avLst/>
          </a:prstGeom>
          <a:solidFill>
            <a:srgbClr val="EDF6FA"/>
          </a:solidFill>
          <a:ln w="0">
            <a:noFill/>
          </a:ln>
        </p:spPr>
        <p:txBody>
          <a:bodyPr/>
          <a:lstStyle/>
          <a:p>
            <a:endParaRPr lang="es-ES" noProof="0" dirty="0"/>
          </a:p>
        </p:txBody>
      </p:sp>
      <p:sp>
        <p:nvSpPr>
          <p:cNvPr id="11" name="text-34">
            <a:extLst>
              <a:ext uri="{FF2B5EF4-FFF2-40B4-BE49-F238E27FC236}">
                <a16:creationId xmlns:a16="http://schemas.microsoft.com/office/drawing/2014/main" id="{63D41161-2ECA-4F7C-8943-4C862CAE7EAA}"/>
              </a:ext>
            </a:extLst>
          </p:cNvPr>
          <p:cNvSpPr>
            <a:spLocks noGrp="1"/>
          </p:cNvSpPr>
          <p:nvPr/>
        </p:nvSpPr>
        <p:spPr>
          <a:xfrm>
            <a:off x="4838700" y="2876550"/>
            <a:ext cx="495300" cy="371475"/>
          </a:xfrm>
          <a:prstGeom prst="rect">
            <a:avLst/>
          </a:prstGeom>
          <a:noFill/>
          <a:ln w="0">
            <a:noFill/>
          </a:ln>
        </p:spPr>
        <p:txBody>
          <a:bodyPr wrap="square" lIns="0" tIns="0" rIns="0" bIns="0" anchor="t">
            <a:noAutofit/>
          </a:bodyPr>
          <a:lstStyle/>
          <a:p>
            <a:pPr algn="l">
              <a:defRPr sz="2175" b="1">
                <a:solidFill>
                  <a:srgbClr val="00AAD6"/>
                </a:solidFill>
                <a:latin typeface="Malacitana-Sans"/>
                <a:ea typeface="Malacitana-Sans"/>
                <a:cs typeface="Malacitana-Sans"/>
              </a:defRPr>
            </a:pPr>
            <a:r>
              <a:rPr lang="es-ES" sz="2175" b="1" noProof="0" dirty="0">
                <a:solidFill>
                  <a:srgbClr val="00AAD6"/>
                </a:solidFill>
                <a:latin typeface="Malacitana-Sans"/>
                <a:ea typeface="Malacitana-Sans"/>
                <a:cs typeface="Malacitana-Sans"/>
              </a:rPr>
              <a:t>02</a:t>
            </a:r>
          </a:p>
        </p:txBody>
      </p:sp>
      <p:sp>
        <p:nvSpPr>
          <p:cNvPr id="12" name="text-35">
            <a:extLst>
              <a:ext uri="{FF2B5EF4-FFF2-40B4-BE49-F238E27FC236}">
                <a16:creationId xmlns:a16="http://schemas.microsoft.com/office/drawing/2014/main" id="{B27F729D-4436-4081-BB91-5F9AE3046776}"/>
              </a:ext>
            </a:extLst>
          </p:cNvPr>
          <p:cNvSpPr>
            <a:spLocks noGrp="1"/>
          </p:cNvSpPr>
          <p:nvPr/>
        </p:nvSpPr>
        <p:spPr>
          <a:xfrm>
            <a:off x="5438775" y="2886075"/>
            <a:ext cx="3000375" cy="34290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Auditar</a:t>
            </a:r>
          </a:p>
        </p:txBody>
      </p:sp>
      <p:sp>
        <p:nvSpPr>
          <p:cNvPr id="13" name="text-36">
            <a:extLst>
              <a:ext uri="{FF2B5EF4-FFF2-40B4-BE49-F238E27FC236}">
                <a16:creationId xmlns:a16="http://schemas.microsoft.com/office/drawing/2014/main" id="{A065A313-AD37-41B4-A618-110BB1A3FAB1}"/>
              </a:ext>
            </a:extLst>
          </p:cNvPr>
          <p:cNvSpPr>
            <a:spLocks noGrp="1"/>
          </p:cNvSpPr>
          <p:nvPr/>
        </p:nvSpPr>
        <p:spPr>
          <a:xfrm>
            <a:off x="4857750" y="3438525"/>
            <a:ext cx="3571875" cy="542925"/>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Cliente · CDM · intercambio de licencias</a:t>
            </a:r>
          </a:p>
        </p:txBody>
      </p:sp>
      <p:sp>
        <p:nvSpPr>
          <p:cNvPr id="14" name="panel-37">
            <a:extLst>
              <a:ext uri="{FF2B5EF4-FFF2-40B4-BE49-F238E27FC236}">
                <a16:creationId xmlns:a16="http://schemas.microsoft.com/office/drawing/2014/main" id="{55297DEC-AB75-44FA-9B67-22027E4E6067}"/>
              </a:ext>
            </a:extLst>
          </p:cNvPr>
          <p:cNvSpPr>
            <a:spLocks noGrp="1"/>
          </p:cNvSpPr>
          <p:nvPr/>
        </p:nvSpPr>
        <p:spPr>
          <a:xfrm>
            <a:off x="523875" y="4324350"/>
            <a:ext cx="3952875" cy="1409700"/>
          </a:xfrm>
          <a:prstGeom prst="rect">
            <a:avLst/>
          </a:prstGeom>
          <a:solidFill>
            <a:srgbClr val="EDF6FA"/>
          </a:solidFill>
          <a:ln w="0">
            <a:noFill/>
          </a:ln>
        </p:spPr>
        <p:txBody>
          <a:bodyPr/>
          <a:lstStyle/>
          <a:p>
            <a:endParaRPr lang="es-ES" noProof="0" dirty="0"/>
          </a:p>
        </p:txBody>
      </p:sp>
      <p:sp>
        <p:nvSpPr>
          <p:cNvPr id="15" name="text-38">
            <a:extLst>
              <a:ext uri="{FF2B5EF4-FFF2-40B4-BE49-F238E27FC236}">
                <a16:creationId xmlns:a16="http://schemas.microsoft.com/office/drawing/2014/main" id="{417951A9-6A20-426A-A754-2A90710F14D8}"/>
              </a:ext>
            </a:extLst>
          </p:cNvPr>
          <p:cNvSpPr>
            <a:spLocks noGrp="1"/>
          </p:cNvSpPr>
          <p:nvPr/>
        </p:nvSpPr>
        <p:spPr>
          <a:xfrm>
            <a:off x="695325" y="4476750"/>
            <a:ext cx="495300" cy="371475"/>
          </a:xfrm>
          <a:prstGeom prst="rect">
            <a:avLst/>
          </a:prstGeom>
          <a:noFill/>
          <a:ln w="0">
            <a:noFill/>
          </a:ln>
        </p:spPr>
        <p:txBody>
          <a:bodyPr wrap="square" lIns="0" tIns="0" rIns="0" bIns="0" anchor="t">
            <a:noAutofit/>
          </a:bodyPr>
          <a:lstStyle/>
          <a:p>
            <a:pPr algn="l">
              <a:defRPr sz="2175" b="1">
                <a:solidFill>
                  <a:srgbClr val="00AAD6"/>
                </a:solidFill>
                <a:latin typeface="Malacitana-Sans"/>
                <a:ea typeface="Malacitana-Sans"/>
                <a:cs typeface="Malacitana-Sans"/>
              </a:defRPr>
            </a:pPr>
            <a:r>
              <a:rPr lang="es-ES" sz="2175" b="1" noProof="0" dirty="0">
                <a:solidFill>
                  <a:srgbClr val="00AAD6"/>
                </a:solidFill>
                <a:latin typeface="Malacitana-Sans"/>
                <a:ea typeface="Malacitana-Sans"/>
                <a:cs typeface="Malacitana-Sans"/>
              </a:rPr>
              <a:t>03</a:t>
            </a:r>
          </a:p>
        </p:txBody>
      </p:sp>
      <p:sp>
        <p:nvSpPr>
          <p:cNvPr id="16" name="text-39">
            <a:extLst>
              <a:ext uri="{FF2B5EF4-FFF2-40B4-BE49-F238E27FC236}">
                <a16:creationId xmlns:a16="http://schemas.microsoft.com/office/drawing/2014/main" id="{6C57037C-9493-44C9-B10C-3291EA9EDA84}"/>
              </a:ext>
            </a:extLst>
          </p:cNvPr>
          <p:cNvSpPr>
            <a:spLocks noGrp="1"/>
          </p:cNvSpPr>
          <p:nvPr/>
        </p:nvSpPr>
        <p:spPr>
          <a:xfrm>
            <a:off x="1295400" y="4486275"/>
            <a:ext cx="3000375" cy="34290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Autorizar</a:t>
            </a:r>
          </a:p>
        </p:txBody>
      </p:sp>
      <p:sp>
        <p:nvSpPr>
          <p:cNvPr id="17" name="text-40">
            <a:extLst>
              <a:ext uri="{FF2B5EF4-FFF2-40B4-BE49-F238E27FC236}">
                <a16:creationId xmlns:a16="http://schemas.microsoft.com/office/drawing/2014/main" id="{CB7A939F-6D04-4D42-96D4-5610B8E9E208}"/>
              </a:ext>
            </a:extLst>
          </p:cNvPr>
          <p:cNvSpPr>
            <a:spLocks noGrp="1"/>
          </p:cNvSpPr>
          <p:nvPr/>
        </p:nvSpPr>
        <p:spPr>
          <a:xfrm>
            <a:off x="714375" y="5038725"/>
            <a:ext cx="3571875" cy="542925"/>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Identidad y permisos por activo</a:t>
            </a:r>
          </a:p>
        </p:txBody>
      </p:sp>
      <p:sp>
        <p:nvSpPr>
          <p:cNvPr id="18" name="panel-41">
            <a:extLst>
              <a:ext uri="{FF2B5EF4-FFF2-40B4-BE49-F238E27FC236}">
                <a16:creationId xmlns:a16="http://schemas.microsoft.com/office/drawing/2014/main" id="{DD444D72-265D-4941-A924-91FBC23F96E0}"/>
              </a:ext>
            </a:extLst>
          </p:cNvPr>
          <p:cNvSpPr>
            <a:spLocks noGrp="1"/>
          </p:cNvSpPr>
          <p:nvPr/>
        </p:nvSpPr>
        <p:spPr>
          <a:xfrm>
            <a:off x="4667250" y="4324350"/>
            <a:ext cx="3952875" cy="1409700"/>
          </a:xfrm>
          <a:prstGeom prst="rect">
            <a:avLst/>
          </a:prstGeom>
          <a:solidFill>
            <a:srgbClr val="EDF6FA"/>
          </a:solidFill>
          <a:ln w="0">
            <a:noFill/>
          </a:ln>
        </p:spPr>
        <p:txBody>
          <a:bodyPr/>
          <a:lstStyle/>
          <a:p>
            <a:endParaRPr lang="es-ES" noProof="0" dirty="0"/>
          </a:p>
        </p:txBody>
      </p:sp>
      <p:sp>
        <p:nvSpPr>
          <p:cNvPr id="19" name="text-42">
            <a:extLst>
              <a:ext uri="{FF2B5EF4-FFF2-40B4-BE49-F238E27FC236}">
                <a16:creationId xmlns:a16="http://schemas.microsoft.com/office/drawing/2014/main" id="{DCBD6C77-8061-4D99-BA4D-9F48DC03B715}"/>
              </a:ext>
            </a:extLst>
          </p:cNvPr>
          <p:cNvSpPr>
            <a:spLocks noGrp="1"/>
          </p:cNvSpPr>
          <p:nvPr/>
        </p:nvSpPr>
        <p:spPr>
          <a:xfrm>
            <a:off x="4838700" y="4476750"/>
            <a:ext cx="495300" cy="371475"/>
          </a:xfrm>
          <a:prstGeom prst="rect">
            <a:avLst/>
          </a:prstGeom>
          <a:noFill/>
          <a:ln w="0">
            <a:noFill/>
          </a:ln>
        </p:spPr>
        <p:txBody>
          <a:bodyPr wrap="square" lIns="0" tIns="0" rIns="0" bIns="0" anchor="t">
            <a:noAutofit/>
          </a:bodyPr>
          <a:lstStyle/>
          <a:p>
            <a:pPr algn="l">
              <a:defRPr sz="2175" b="1">
                <a:solidFill>
                  <a:srgbClr val="00AAD6"/>
                </a:solidFill>
                <a:latin typeface="Malacitana-Sans"/>
                <a:ea typeface="Malacitana-Sans"/>
                <a:cs typeface="Malacitana-Sans"/>
              </a:defRPr>
            </a:pPr>
            <a:r>
              <a:rPr lang="es-ES" sz="2175" b="1" noProof="0" dirty="0">
                <a:solidFill>
                  <a:srgbClr val="00AAD6"/>
                </a:solidFill>
                <a:latin typeface="Malacitana-Sans"/>
                <a:ea typeface="Malacitana-Sans"/>
                <a:cs typeface="Malacitana-Sans"/>
              </a:rPr>
              <a:t>04</a:t>
            </a:r>
          </a:p>
        </p:txBody>
      </p:sp>
      <p:sp>
        <p:nvSpPr>
          <p:cNvPr id="20" name="text-43">
            <a:extLst>
              <a:ext uri="{FF2B5EF4-FFF2-40B4-BE49-F238E27FC236}">
                <a16:creationId xmlns:a16="http://schemas.microsoft.com/office/drawing/2014/main" id="{02E0B7A7-22B5-43B4-B882-1219151A6102}"/>
              </a:ext>
            </a:extLst>
          </p:cNvPr>
          <p:cNvSpPr>
            <a:spLocks noGrp="1"/>
          </p:cNvSpPr>
          <p:nvPr/>
        </p:nvSpPr>
        <p:spPr>
          <a:xfrm>
            <a:off x="5438775" y="4486275"/>
            <a:ext cx="3000375" cy="34290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Detectar y responder</a:t>
            </a:r>
          </a:p>
        </p:txBody>
      </p:sp>
      <p:sp>
        <p:nvSpPr>
          <p:cNvPr id="21" name="text-44">
            <a:extLst>
              <a:ext uri="{FF2B5EF4-FFF2-40B4-BE49-F238E27FC236}">
                <a16:creationId xmlns:a16="http://schemas.microsoft.com/office/drawing/2014/main" id="{EAFDAF3F-4C7D-4B72-AF86-A07FC4E0F487}"/>
              </a:ext>
            </a:extLst>
          </p:cNvPr>
          <p:cNvSpPr>
            <a:spLocks noGrp="1"/>
          </p:cNvSpPr>
          <p:nvPr/>
        </p:nvSpPr>
        <p:spPr>
          <a:xfrm>
            <a:off x="4857750" y="5038725"/>
            <a:ext cx="3571875" cy="542925"/>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Concurrencia · anomalías · bloqueos</a:t>
            </a:r>
          </a:p>
        </p:txBody>
      </p:sp>
      <p:sp>
        <p:nvSpPr>
          <p:cNvPr id="24" name="text-7">
            <a:extLst>
              <a:ext uri="{FF2B5EF4-FFF2-40B4-BE49-F238E27FC236}">
                <a16:creationId xmlns:a16="http://schemas.microsoft.com/office/drawing/2014/main" id="{D419BF3D-57DD-524D-3842-4FC8470D7DCC}"/>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text-45">
            <a:extLst>
              <a:ext uri="{FF2B5EF4-FFF2-40B4-BE49-F238E27FC236}">
                <a16:creationId xmlns:a16="http://schemas.microsoft.com/office/drawing/2014/main" id="{D2B71504-9874-4423-AC9D-2039737D1FDE}"/>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Metodología y contribuciones</a:t>
            </a:r>
          </a:p>
        </p:txBody>
      </p:sp>
      <p:sp>
        <p:nvSpPr>
          <p:cNvPr id="2" name="text-46">
            <a:extLst>
              <a:ext uri="{FF2B5EF4-FFF2-40B4-BE49-F238E27FC236}">
                <a16:creationId xmlns:a16="http://schemas.microsoft.com/office/drawing/2014/main" id="{6F424EEB-7E7D-4B33-9ACF-C60A16001A0C}"/>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ENFOQUE EXPERIMENTAL, INCREMENTAL E ITERATIVO</a:t>
            </a:r>
          </a:p>
        </p:txBody>
      </p:sp>
      <p:sp>
        <p:nvSpPr>
          <p:cNvPr id="4" name="text-48">
            <a:extLst>
              <a:ext uri="{FF2B5EF4-FFF2-40B4-BE49-F238E27FC236}">
                <a16:creationId xmlns:a16="http://schemas.microsoft.com/office/drawing/2014/main" id="{4519E565-61EF-48CB-846C-1E6F0C2FB4DD}"/>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04</a:t>
            </a:r>
          </a:p>
        </p:txBody>
      </p:sp>
      <p:sp>
        <p:nvSpPr>
          <p:cNvPr id="5" name="text-49">
            <a:extLst>
              <a:ext uri="{FF2B5EF4-FFF2-40B4-BE49-F238E27FC236}">
                <a16:creationId xmlns:a16="http://schemas.microsoft.com/office/drawing/2014/main" id="{EC41AD0B-4FA6-4BFB-B5C7-C23ABFC1E79F}"/>
              </a:ext>
            </a:extLst>
          </p:cNvPr>
          <p:cNvSpPr>
            <a:spLocks noGrp="1"/>
          </p:cNvSpPr>
          <p:nvPr/>
        </p:nvSpPr>
        <p:spPr>
          <a:xfrm>
            <a:off x="523875" y="1552575"/>
            <a:ext cx="8096250" cy="457200"/>
          </a:xfrm>
          <a:prstGeom prst="rect">
            <a:avLst/>
          </a:prstGeom>
          <a:noFill/>
          <a:ln w="0">
            <a:noFill/>
          </a:ln>
        </p:spPr>
        <p:txBody>
          <a:bodyPr wrap="square" lIns="0" tIns="0" rIns="0" bIns="0" anchor="t">
            <a:noAutofit/>
          </a:bodyPr>
          <a:lstStyle/>
          <a:p>
            <a:pPr algn="l">
              <a:defRPr sz="2325" b="1">
                <a:solidFill>
                  <a:srgbClr val="004479"/>
                </a:solidFill>
                <a:latin typeface="Malacitana-Sans"/>
                <a:ea typeface="Malacitana-Sans"/>
                <a:cs typeface="Malacitana-Sans"/>
              </a:defRPr>
            </a:pPr>
            <a:r>
              <a:rPr lang="es-ES" sz="2325" b="1" noProof="0" dirty="0">
                <a:solidFill>
                  <a:srgbClr val="004479"/>
                </a:solidFill>
                <a:latin typeface="Malacitana-Sans"/>
                <a:ea typeface="Malacitana-Sans"/>
                <a:cs typeface="Malacitana-Sans"/>
              </a:rPr>
              <a:t>Construir · observar · corregir · comprobar</a:t>
            </a:r>
          </a:p>
        </p:txBody>
      </p:sp>
      <p:sp>
        <p:nvSpPr>
          <p:cNvPr id="6" name="panel-50">
            <a:extLst>
              <a:ext uri="{FF2B5EF4-FFF2-40B4-BE49-F238E27FC236}">
                <a16:creationId xmlns:a16="http://schemas.microsoft.com/office/drawing/2014/main" id="{7CCEC92C-C9DA-44EC-9923-3E2A15A4FD26}"/>
              </a:ext>
            </a:extLst>
          </p:cNvPr>
          <p:cNvSpPr>
            <a:spLocks noGrp="1"/>
          </p:cNvSpPr>
          <p:nvPr/>
        </p:nvSpPr>
        <p:spPr>
          <a:xfrm>
            <a:off x="523875" y="2371725"/>
            <a:ext cx="2571750" cy="1123950"/>
          </a:xfrm>
          <a:prstGeom prst="rect">
            <a:avLst/>
          </a:prstGeom>
          <a:solidFill>
            <a:srgbClr val="EDF6FA"/>
          </a:solidFill>
          <a:ln w="0">
            <a:noFill/>
          </a:ln>
        </p:spPr>
        <p:txBody>
          <a:bodyPr/>
          <a:lstStyle/>
          <a:p>
            <a:endParaRPr lang="es-ES" noProof="0" dirty="0"/>
          </a:p>
        </p:txBody>
      </p:sp>
      <p:sp>
        <p:nvSpPr>
          <p:cNvPr id="7" name="text-51">
            <a:extLst>
              <a:ext uri="{FF2B5EF4-FFF2-40B4-BE49-F238E27FC236}">
                <a16:creationId xmlns:a16="http://schemas.microsoft.com/office/drawing/2014/main" id="{B1FE13E0-81E9-45B8-AE0D-393DCA0C1647}"/>
              </a:ext>
            </a:extLst>
          </p:cNvPr>
          <p:cNvSpPr>
            <a:spLocks noGrp="1"/>
          </p:cNvSpPr>
          <p:nvPr/>
        </p:nvSpPr>
        <p:spPr>
          <a:xfrm>
            <a:off x="714375" y="2543175"/>
            <a:ext cx="2190750" cy="361950"/>
          </a:xfrm>
          <a:prstGeom prst="rect">
            <a:avLst/>
          </a:prstGeom>
          <a:noFill/>
          <a:ln w="0">
            <a:noFill/>
          </a:ln>
        </p:spPr>
        <p:txBody>
          <a:bodyPr wrap="square" lIns="0" tIns="0" rIns="0" bIns="0" anchor="t">
            <a:noAutofit/>
          </a:bodyPr>
          <a:lstStyle/>
          <a:p>
            <a:pPr algn="l">
              <a:defRPr sz="2175" b="1">
                <a:solidFill>
                  <a:srgbClr val="00AAD6"/>
                </a:solidFill>
                <a:latin typeface="Malacitana-Sans"/>
                <a:ea typeface="Malacitana-Sans"/>
                <a:cs typeface="Malacitana-Sans"/>
              </a:defRPr>
            </a:pPr>
            <a:r>
              <a:rPr lang="es-ES" sz="2175" b="1" noProof="0" dirty="0">
                <a:solidFill>
                  <a:srgbClr val="00AAD6"/>
                </a:solidFill>
                <a:latin typeface="Malacitana-Sans"/>
                <a:ea typeface="Malacitana-Sans"/>
                <a:cs typeface="Malacitana-Sans"/>
              </a:rPr>
              <a:t>Fase 0</a:t>
            </a:r>
          </a:p>
        </p:txBody>
      </p:sp>
      <p:sp>
        <p:nvSpPr>
          <p:cNvPr id="8" name="text-52">
            <a:extLst>
              <a:ext uri="{FF2B5EF4-FFF2-40B4-BE49-F238E27FC236}">
                <a16:creationId xmlns:a16="http://schemas.microsoft.com/office/drawing/2014/main" id="{FA27E18F-1310-4EE0-BB83-0A3F68ABDA43}"/>
              </a:ext>
            </a:extLst>
          </p:cNvPr>
          <p:cNvSpPr>
            <a:spLocks noGrp="1"/>
          </p:cNvSpPr>
          <p:nvPr/>
        </p:nvSpPr>
        <p:spPr>
          <a:xfrm>
            <a:off x="714375" y="2981325"/>
            <a:ext cx="2190750" cy="400050"/>
          </a:xfrm>
          <a:prstGeom prst="rect">
            <a:avLst/>
          </a:prstGeom>
          <a:noFill/>
          <a:ln w="0">
            <a:noFill/>
          </a:ln>
        </p:spPr>
        <p:txBody>
          <a:bodyPr wrap="square" lIns="0" tIns="0" rIns="0" bIns="0" anchor="t">
            <a:noAutofit/>
          </a:bodyPr>
          <a:lstStyle/>
          <a:p>
            <a:pPr algn="l">
              <a:defRPr sz="1650" b="0">
                <a:solidFill>
                  <a:srgbClr val="004479"/>
                </a:solidFill>
                <a:latin typeface="Malacitana-Sans"/>
                <a:ea typeface="Malacitana-Sans"/>
                <a:cs typeface="Malacitana-Sans"/>
              </a:defRPr>
            </a:pPr>
            <a:r>
              <a:rPr lang="es-ES" sz="1650" b="0" noProof="0" dirty="0">
                <a:solidFill>
                  <a:srgbClr val="004479"/>
                </a:solidFill>
                <a:latin typeface="Malacitana-Sans"/>
                <a:ea typeface="Malacitana-Sans"/>
                <a:cs typeface="Malacitana-Sans"/>
              </a:rPr>
              <a:t>Línea base y auditoría</a:t>
            </a:r>
          </a:p>
        </p:txBody>
      </p:sp>
      <p:sp>
        <p:nvSpPr>
          <p:cNvPr id="9" name="panel-53">
            <a:extLst>
              <a:ext uri="{FF2B5EF4-FFF2-40B4-BE49-F238E27FC236}">
                <a16:creationId xmlns:a16="http://schemas.microsoft.com/office/drawing/2014/main" id="{97D90ECD-A626-4489-95D5-59F47B9B8519}"/>
              </a:ext>
            </a:extLst>
          </p:cNvPr>
          <p:cNvSpPr>
            <a:spLocks noGrp="1"/>
          </p:cNvSpPr>
          <p:nvPr/>
        </p:nvSpPr>
        <p:spPr>
          <a:xfrm>
            <a:off x="3286125" y="2371725"/>
            <a:ext cx="2571750" cy="1123950"/>
          </a:xfrm>
          <a:prstGeom prst="rect">
            <a:avLst/>
          </a:prstGeom>
          <a:solidFill>
            <a:srgbClr val="EDF6FA"/>
          </a:solidFill>
          <a:ln w="0">
            <a:noFill/>
          </a:ln>
        </p:spPr>
        <p:txBody>
          <a:bodyPr/>
          <a:lstStyle/>
          <a:p>
            <a:endParaRPr lang="es-ES" noProof="0" dirty="0"/>
          </a:p>
        </p:txBody>
      </p:sp>
      <p:sp>
        <p:nvSpPr>
          <p:cNvPr id="10" name="text-54">
            <a:extLst>
              <a:ext uri="{FF2B5EF4-FFF2-40B4-BE49-F238E27FC236}">
                <a16:creationId xmlns:a16="http://schemas.microsoft.com/office/drawing/2014/main" id="{F03B9D57-4C7E-4422-A4C7-446E7F604791}"/>
              </a:ext>
            </a:extLst>
          </p:cNvPr>
          <p:cNvSpPr>
            <a:spLocks noGrp="1"/>
          </p:cNvSpPr>
          <p:nvPr/>
        </p:nvSpPr>
        <p:spPr>
          <a:xfrm>
            <a:off x="3476625" y="2543175"/>
            <a:ext cx="2190750" cy="361950"/>
          </a:xfrm>
          <a:prstGeom prst="rect">
            <a:avLst/>
          </a:prstGeom>
          <a:noFill/>
          <a:ln w="0">
            <a:noFill/>
          </a:ln>
        </p:spPr>
        <p:txBody>
          <a:bodyPr wrap="square" lIns="0" tIns="0" rIns="0" bIns="0" anchor="t">
            <a:noAutofit/>
          </a:bodyPr>
          <a:lstStyle/>
          <a:p>
            <a:pPr algn="l">
              <a:defRPr sz="2175" b="1">
                <a:solidFill>
                  <a:srgbClr val="00AAD6"/>
                </a:solidFill>
                <a:latin typeface="Malacitana-Sans"/>
                <a:ea typeface="Malacitana-Sans"/>
                <a:cs typeface="Malacitana-Sans"/>
              </a:defRPr>
            </a:pPr>
            <a:r>
              <a:rPr lang="es-ES" sz="2175" b="1" noProof="0" dirty="0">
                <a:solidFill>
                  <a:srgbClr val="00AAD6"/>
                </a:solidFill>
                <a:latin typeface="Malacitana-Sans"/>
                <a:ea typeface="Malacitana-Sans"/>
                <a:cs typeface="Malacitana-Sans"/>
              </a:rPr>
              <a:t>Fase 1</a:t>
            </a:r>
          </a:p>
        </p:txBody>
      </p:sp>
      <p:sp>
        <p:nvSpPr>
          <p:cNvPr id="11" name="text-55">
            <a:extLst>
              <a:ext uri="{FF2B5EF4-FFF2-40B4-BE49-F238E27FC236}">
                <a16:creationId xmlns:a16="http://schemas.microsoft.com/office/drawing/2014/main" id="{6FF6F2F2-6CB5-4E06-85A2-C46081CF7025}"/>
              </a:ext>
            </a:extLst>
          </p:cNvPr>
          <p:cNvSpPr>
            <a:spLocks noGrp="1"/>
          </p:cNvSpPr>
          <p:nvPr/>
        </p:nvSpPr>
        <p:spPr>
          <a:xfrm>
            <a:off x="3476625" y="2981325"/>
            <a:ext cx="2190750" cy="400050"/>
          </a:xfrm>
          <a:prstGeom prst="rect">
            <a:avLst/>
          </a:prstGeom>
          <a:noFill/>
          <a:ln w="0">
            <a:noFill/>
          </a:ln>
        </p:spPr>
        <p:txBody>
          <a:bodyPr wrap="square" lIns="0" tIns="0" rIns="0" bIns="0" anchor="t">
            <a:noAutofit/>
          </a:bodyPr>
          <a:lstStyle/>
          <a:p>
            <a:pPr algn="l">
              <a:defRPr sz="1650" b="0">
                <a:solidFill>
                  <a:srgbClr val="004479"/>
                </a:solidFill>
                <a:latin typeface="Malacitana-Sans"/>
                <a:ea typeface="Malacitana-Sans"/>
                <a:cs typeface="Malacitana-Sans"/>
              </a:defRPr>
            </a:pPr>
            <a:r>
              <a:rPr lang="es-ES" sz="1650" b="0" noProof="0" dirty="0">
                <a:solidFill>
                  <a:srgbClr val="004479"/>
                </a:solidFill>
                <a:latin typeface="Malacitana-Sans"/>
                <a:ea typeface="Malacitana-Sans"/>
                <a:cs typeface="Malacitana-Sans"/>
              </a:rPr>
              <a:t>Prevención y regresión</a:t>
            </a:r>
          </a:p>
        </p:txBody>
      </p:sp>
      <p:sp>
        <p:nvSpPr>
          <p:cNvPr id="12" name="panel-56">
            <a:extLst>
              <a:ext uri="{FF2B5EF4-FFF2-40B4-BE49-F238E27FC236}">
                <a16:creationId xmlns:a16="http://schemas.microsoft.com/office/drawing/2014/main" id="{29E8464F-7B00-4B1D-954A-A16A11A9AC8E}"/>
              </a:ext>
            </a:extLst>
          </p:cNvPr>
          <p:cNvSpPr>
            <a:spLocks noGrp="1"/>
          </p:cNvSpPr>
          <p:nvPr/>
        </p:nvSpPr>
        <p:spPr>
          <a:xfrm>
            <a:off x="6048375" y="2371725"/>
            <a:ext cx="2571750" cy="1123950"/>
          </a:xfrm>
          <a:prstGeom prst="rect">
            <a:avLst/>
          </a:prstGeom>
          <a:solidFill>
            <a:srgbClr val="EDF6FA"/>
          </a:solidFill>
          <a:ln w="0">
            <a:noFill/>
          </a:ln>
        </p:spPr>
        <p:txBody>
          <a:bodyPr/>
          <a:lstStyle/>
          <a:p>
            <a:endParaRPr lang="es-ES" noProof="0" dirty="0"/>
          </a:p>
        </p:txBody>
      </p:sp>
      <p:sp>
        <p:nvSpPr>
          <p:cNvPr id="13" name="text-57">
            <a:extLst>
              <a:ext uri="{FF2B5EF4-FFF2-40B4-BE49-F238E27FC236}">
                <a16:creationId xmlns:a16="http://schemas.microsoft.com/office/drawing/2014/main" id="{A08A53E6-9B61-4D51-B0D7-904ABBFE6C59}"/>
              </a:ext>
            </a:extLst>
          </p:cNvPr>
          <p:cNvSpPr>
            <a:spLocks noGrp="1"/>
          </p:cNvSpPr>
          <p:nvPr/>
        </p:nvSpPr>
        <p:spPr>
          <a:xfrm>
            <a:off x="6238875" y="2543175"/>
            <a:ext cx="2190750" cy="361950"/>
          </a:xfrm>
          <a:prstGeom prst="rect">
            <a:avLst/>
          </a:prstGeom>
          <a:noFill/>
          <a:ln w="0">
            <a:noFill/>
          </a:ln>
        </p:spPr>
        <p:txBody>
          <a:bodyPr wrap="square" lIns="0" tIns="0" rIns="0" bIns="0" anchor="t">
            <a:noAutofit/>
          </a:bodyPr>
          <a:lstStyle/>
          <a:p>
            <a:pPr algn="l">
              <a:defRPr sz="2175" b="1">
                <a:solidFill>
                  <a:srgbClr val="00AAD6"/>
                </a:solidFill>
                <a:latin typeface="Malacitana-Sans"/>
                <a:ea typeface="Malacitana-Sans"/>
                <a:cs typeface="Malacitana-Sans"/>
              </a:defRPr>
            </a:pPr>
            <a:r>
              <a:rPr lang="es-ES" sz="2175" b="1" noProof="0" dirty="0">
                <a:solidFill>
                  <a:srgbClr val="00AAD6"/>
                </a:solidFill>
                <a:latin typeface="Malacitana-Sans"/>
                <a:ea typeface="Malacitana-Sans"/>
                <a:cs typeface="Malacitana-Sans"/>
              </a:rPr>
              <a:t>Fase 2</a:t>
            </a:r>
          </a:p>
        </p:txBody>
      </p:sp>
      <p:sp>
        <p:nvSpPr>
          <p:cNvPr id="14" name="text-58">
            <a:extLst>
              <a:ext uri="{FF2B5EF4-FFF2-40B4-BE49-F238E27FC236}">
                <a16:creationId xmlns:a16="http://schemas.microsoft.com/office/drawing/2014/main" id="{2B64F40A-7C59-4A17-94F1-B475D9C0B64C}"/>
              </a:ext>
            </a:extLst>
          </p:cNvPr>
          <p:cNvSpPr>
            <a:spLocks noGrp="1"/>
          </p:cNvSpPr>
          <p:nvPr/>
        </p:nvSpPr>
        <p:spPr>
          <a:xfrm>
            <a:off x="6238875" y="2981325"/>
            <a:ext cx="2190750" cy="400050"/>
          </a:xfrm>
          <a:prstGeom prst="rect">
            <a:avLst/>
          </a:prstGeom>
          <a:noFill/>
          <a:ln w="0">
            <a:noFill/>
          </a:ln>
        </p:spPr>
        <p:txBody>
          <a:bodyPr wrap="square" lIns="0" tIns="0" rIns="0" bIns="0" anchor="t">
            <a:noAutofit/>
          </a:bodyPr>
          <a:lstStyle/>
          <a:p>
            <a:pPr algn="l">
              <a:defRPr sz="1650" b="0">
                <a:solidFill>
                  <a:srgbClr val="004479"/>
                </a:solidFill>
                <a:latin typeface="Malacitana-Sans"/>
                <a:ea typeface="Malacitana-Sans"/>
                <a:cs typeface="Malacitana-Sans"/>
              </a:defRPr>
            </a:pPr>
            <a:r>
              <a:rPr lang="es-ES" sz="1650" b="0" noProof="0" dirty="0">
                <a:solidFill>
                  <a:srgbClr val="004479"/>
                </a:solidFill>
                <a:latin typeface="Malacitana-Sans"/>
                <a:ea typeface="Malacitana-Sans"/>
                <a:cs typeface="Malacitana-Sans"/>
              </a:rPr>
              <a:t>Detección y respuesta</a:t>
            </a:r>
          </a:p>
        </p:txBody>
      </p:sp>
      <p:sp>
        <p:nvSpPr>
          <p:cNvPr id="15" name="text-59">
            <a:extLst>
              <a:ext uri="{FF2B5EF4-FFF2-40B4-BE49-F238E27FC236}">
                <a16:creationId xmlns:a16="http://schemas.microsoft.com/office/drawing/2014/main" id="{49C628CC-2610-495C-B3CA-592411B39F62}"/>
              </a:ext>
            </a:extLst>
          </p:cNvPr>
          <p:cNvSpPr>
            <a:spLocks noGrp="1"/>
          </p:cNvSpPr>
          <p:nvPr/>
        </p:nvSpPr>
        <p:spPr>
          <a:xfrm>
            <a:off x="523875" y="3895725"/>
            <a:ext cx="8096250" cy="4000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Caja negra + caja gris · una condición por prueba</a:t>
            </a:r>
          </a:p>
        </p:txBody>
      </p:sp>
      <p:sp>
        <p:nvSpPr>
          <p:cNvPr id="16" name="text-60">
            <a:extLst>
              <a:ext uri="{FF2B5EF4-FFF2-40B4-BE49-F238E27FC236}">
                <a16:creationId xmlns:a16="http://schemas.microsoft.com/office/drawing/2014/main" id="{F9C2FCA0-796A-4B01-87A6-6D1BF5A63ADF}"/>
              </a:ext>
            </a:extLst>
          </p:cNvPr>
          <p:cNvSpPr>
            <a:spLocks noGrp="1"/>
          </p:cNvSpPr>
          <p:nvPr/>
        </p:nvSpPr>
        <p:spPr>
          <a:xfrm>
            <a:off x="523875" y="4552950"/>
            <a:ext cx="3905250" cy="876300"/>
          </a:xfrm>
          <a:prstGeom prst="rect">
            <a:avLst/>
          </a:prstGeom>
          <a:noFill/>
          <a:ln w="0">
            <a:noFill/>
          </a:ln>
        </p:spPr>
        <p:txBody>
          <a:bodyPr wrap="square" lIns="0" tIns="0" rIns="0" bIns="0" anchor="t">
            <a:noAutofit/>
          </a:bodyPr>
          <a:lstStyle/>
          <a:p>
            <a:pPr algn="l">
              <a:defRPr sz="1875" b="0">
                <a:solidFill>
                  <a:srgbClr val="004479"/>
                </a:solidFill>
                <a:latin typeface="Malacitana-Sans"/>
                <a:ea typeface="Malacitana-Sans"/>
                <a:cs typeface="Malacitana-Sans"/>
              </a:defRPr>
            </a:pPr>
            <a:r>
              <a:rPr lang="es-ES" sz="1875" b="0" noProof="0" dirty="0">
                <a:solidFill>
                  <a:srgbClr val="004479"/>
                </a:solidFill>
                <a:latin typeface="Malacitana-Sans"/>
                <a:ea typeface="Malacitana-Sans"/>
                <a:cs typeface="Malacitana-Sans"/>
              </a:rPr>
              <a:t>Laboratorio reproducible</a:t>
            </a:r>
          </a:p>
          <a:p>
            <a:pPr algn="l">
              <a:defRPr sz="1875" b="0">
                <a:solidFill>
                  <a:srgbClr val="004479"/>
                </a:solidFill>
                <a:latin typeface="Malacitana-Sans"/>
                <a:ea typeface="Malacitana-Sans"/>
                <a:cs typeface="Malacitana-Sans"/>
              </a:defRPr>
            </a:pPr>
            <a:r>
              <a:rPr lang="es-ES" sz="1875" b="0" noProof="0" dirty="0">
                <a:solidFill>
                  <a:srgbClr val="004479"/>
                </a:solidFill>
                <a:latin typeface="Malacitana-Sans"/>
                <a:ea typeface="Malacitana-Sans"/>
                <a:cs typeface="Malacitana-Sans"/>
              </a:rPr>
              <a:t>Límites de integración caracterizados</a:t>
            </a:r>
          </a:p>
        </p:txBody>
      </p:sp>
      <p:sp>
        <p:nvSpPr>
          <p:cNvPr id="17" name="text-61">
            <a:extLst>
              <a:ext uri="{FF2B5EF4-FFF2-40B4-BE49-F238E27FC236}">
                <a16:creationId xmlns:a16="http://schemas.microsoft.com/office/drawing/2014/main" id="{2D321EAA-A5B6-4EBF-BA16-B3451560C3F5}"/>
              </a:ext>
            </a:extLst>
          </p:cNvPr>
          <p:cNvSpPr>
            <a:spLocks noGrp="1"/>
          </p:cNvSpPr>
          <p:nvPr/>
        </p:nvSpPr>
        <p:spPr>
          <a:xfrm>
            <a:off x="4714875" y="4552950"/>
            <a:ext cx="3905250" cy="876300"/>
          </a:xfrm>
          <a:prstGeom prst="rect">
            <a:avLst/>
          </a:prstGeom>
          <a:noFill/>
          <a:ln w="0">
            <a:noFill/>
          </a:ln>
        </p:spPr>
        <p:txBody>
          <a:bodyPr wrap="square" lIns="0" tIns="0" rIns="0" bIns="0" anchor="t">
            <a:noAutofit/>
          </a:bodyPr>
          <a:lstStyle/>
          <a:p>
            <a:pPr algn="l">
              <a:defRPr sz="1875" b="0">
                <a:solidFill>
                  <a:srgbClr val="004479"/>
                </a:solidFill>
                <a:latin typeface="Malacitana-Sans"/>
                <a:ea typeface="Malacitana-Sans"/>
                <a:cs typeface="Malacitana-Sans"/>
              </a:defRPr>
            </a:pPr>
            <a:r>
              <a:rPr lang="es-ES" sz="1875" b="0" noProof="0" dirty="0">
                <a:solidFill>
                  <a:srgbClr val="004479"/>
                </a:solidFill>
                <a:latin typeface="Malacitana-Sans"/>
                <a:ea typeface="Malacitana-Sans"/>
                <a:cs typeface="Malacitana-Sans"/>
              </a:rPr>
              <a:t>Arquitectura en dos etapas</a:t>
            </a:r>
          </a:p>
          <a:p>
            <a:pPr algn="l">
              <a:defRPr sz="1875" b="0">
                <a:solidFill>
                  <a:srgbClr val="004479"/>
                </a:solidFill>
                <a:latin typeface="Malacitana-Sans"/>
                <a:ea typeface="Malacitana-Sans"/>
                <a:cs typeface="Malacitana-Sans"/>
              </a:defRPr>
            </a:pPr>
            <a:r>
              <a:rPr lang="es-ES" sz="1875" b="0" noProof="0" dirty="0">
                <a:solidFill>
                  <a:srgbClr val="004479"/>
                </a:solidFill>
                <a:latin typeface="Malacitana-Sans"/>
                <a:ea typeface="Malacitana-Sans"/>
                <a:cs typeface="Malacitana-Sans"/>
              </a:rPr>
              <a:t>Evidencias y scripts contrastables</a:t>
            </a:r>
          </a:p>
        </p:txBody>
      </p:sp>
      <p:sp>
        <p:nvSpPr>
          <p:cNvPr id="18" name="panel-62">
            <a:extLst>
              <a:ext uri="{FF2B5EF4-FFF2-40B4-BE49-F238E27FC236}">
                <a16:creationId xmlns:a16="http://schemas.microsoft.com/office/drawing/2014/main" id="{04DE9CE4-A66F-413C-AA2A-3A303CA2A2DE}"/>
              </a:ext>
            </a:extLst>
          </p:cNvPr>
          <p:cNvSpPr>
            <a:spLocks noGrp="1"/>
          </p:cNvSpPr>
          <p:nvPr/>
        </p:nvSpPr>
        <p:spPr>
          <a:xfrm>
            <a:off x="523875" y="5724525"/>
            <a:ext cx="8096250" cy="504825"/>
          </a:xfrm>
          <a:prstGeom prst="rect">
            <a:avLst/>
          </a:prstGeom>
          <a:solidFill>
            <a:srgbClr val="004479"/>
          </a:solidFill>
          <a:ln w="0">
            <a:noFill/>
          </a:ln>
        </p:spPr>
        <p:txBody>
          <a:bodyPr/>
          <a:lstStyle/>
          <a:p>
            <a:endParaRPr lang="es-ES" noProof="0" dirty="0"/>
          </a:p>
        </p:txBody>
      </p:sp>
      <p:sp>
        <p:nvSpPr>
          <p:cNvPr id="19" name="text-63">
            <a:extLst>
              <a:ext uri="{FF2B5EF4-FFF2-40B4-BE49-F238E27FC236}">
                <a16:creationId xmlns:a16="http://schemas.microsoft.com/office/drawing/2014/main" id="{686EED3D-1985-490E-BF28-B37C26F9EF63}"/>
              </a:ext>
            </a:extLst>
          </p:cNvPr>
          <p:cNvSpPr>
            <a:spLocks noGrp="1"/>
          </p:cNvSpPr>
          <p:nvPr/>
        </p:nvSpPr>
        <p:spPr>
          <a:xfrm>
            <a:off x="704850" y="5838825"/>
            <a:ext cx="7734300" cy="304800"/>
          </a:xfrm>
          <a:prstGeom prst="rect">
            <a:avLst/>
          </a:prstGeom>
          <a:noFill/>
          <a:ln w="0">
            <a:noFill/>
          </a:ln>
        </p:spPr>
        <p:txBody>
          <a:bodyPr wrap="square" lIns="0" tIns="0" rIns="0" bIns="0" anchor="t">
            <a:noAutofit/>
          </a:bodyPr>
          <a:lstStyle/>
          <a:p>
            <a:pPr algn="l">
              <a:defRPr sz="1725" b="1">
                <a:solidFill>
                  <a:srgbClr val="FFFFFF"/>
                </a:solidFill>
                <a:latin typeface="Malacitana-Sans"/>
                <a:ea typeface="Malacitana-Sans"/>
                <a:cs typeface="Malacitana-Sans"/>
              </a:defRPr>
            </a:pPr>
            <a:r>
              <a:rPr lang="es-ES" sz="1725" b="1" noProof="0" dirty="0">
                <a:solidFill>
                  <a:srgbClr val="FFFFFF"/>
                </a:solidFill>
                <a:latin typeface="Malacitana-Sans"/>
                <a:ea typeface="Malacitana-Sans"/>
                <a:cs typeface="Malacitana-Sans"/>
              </a:rPr>
              <a:t>Navegador + HTTP + tráfico de red + eventos y estado</a:t>
            </a:r>
          </a:p>
        </p:txBody>
      </p:sp>
      <p:sp>
        <p:nvSpPr>
          <p:cNvPr id="22" name="text-7">
            <a:extLst>
              <a:ext uri="{FF2B5EF4-FFF2-40B4-BE49-F238E27FC236}">
                <a16:creationId xmlns:a16="http://schemas.microsoft.com/office/drawing/2014/main" id="{25EB9A20-7BA8-A939-7FCD-149885DB2CE2}"/>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text-64">
            <a:extLst>
              <a:ext uri="{FF2B5EF4-FFF2-40B4-BE49-F238E27FC236}">
                <a16:creationId xmlns:a16="http://schemas.microsoft.com/office/drawing/2014/main" id="{D51A37BF-833C-4C1E-ABF1-2F618FCD37B5}"/>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Un laboratorio, dos planos</a:t>
            </a:r>
          </a:p>
        </p:txBody>
      </p:sp>
      <p:sp>
        <p:nvSpPr>
          <p:cNvPr id="2" name="text-65">
            <a:extLst>
              <a:ext uri="{FF2B5EF4-FFF2-40B4-BE49-F238E27FC236}">
                <a16:creationId xmlns:a16="http://schemas.microsoft.com/office/drawing/2014/main" id="{9C970874-9751-4D49-8D60-D633FAA19E2F}"/>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ARQUITECTURA · VISIÓN GENERAL</a:t>
            </a:r>
          </a:p>
        </p:txBody>
      </p:sp>
      <p:sp>
        <p:nvSpPr>
          <p:cNvPr id="4" name="text-67">
            <a:extLst>
              <a:ext uri="{FF2B5EF4-FFF2-40B4-BE49-F238E27FC236}">
                <a16:creationId xmlns:a16="http://schemas.microsoft.com/office/drawing/2014/main" id="{6360EAD9-AA52-46E5-9D89-837B72CFFE50}"/>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05</a:t>
            </a:r>
          </a:p>
        </p:txBody>
      </p:sp>
      <p:pic>
        <p:nvPicPr>
          <p:cNvPr id="11" name="Imagen 10"/>
          <p:cNvPicPr>
            <a:picLocks noChangeAspect="1"/>
          </p:cNvPicPr>
          <p:nvPr/>
        </p:nvPicPr>
        <p:blipFill>
          <a:blip r:embed="rId4"/>
          <a:stretch/>
        </p:blipFill>
        <p:spPr>
          <a:xfrm>
            <a:off x="716405" y="1495425"/>
            <a:ext cx="7711189" cy="4295775"/>
          </a:xfrm>
          <a:prstGeom prst="rect">
            <a:avLst/>
          </a:prstGeom>
        </p:spPr>
      </p:pic>
      <p:sp>
        <p:nvSpPr>
          <p:cNvPr id="6" name="text-68">
            <a:extLst>
              <a:ext uri="{FF2B5EF4-FFF2-40B4-BE49-F238E27FC236}">
                <a16:creationId xmlns:a16="http://schemas.microsoft.com/office/drawing/2014/main" id="{22667A24-FD53-4EB7-A6C4-1A188C8C2E7F}"/>
              </a:ext>
            </a:extLst>
          </p:cNvPr>
          <p:cNvSpPr>
            <a:spLocks noGrp="1"/>
          </p:cNvSpPr>
          <p:nvPr/>
        </p:nvSpPr>
        <p:spPr>
          <a:xfrm>
            <a:off x="523875" y="5934075"/>
            <a:ext cx="8096250" cy="400050"/>
          </a:xfrm>
          <a:prstGeom prst="rect">
            <a:avLst/>
          </a:prstGeom>
          <a:noFill/>
          <a:ln w="0">
            <a:noFill/>
          </a:ln>
        </p:spPr>
        <p:txBody>
          <a:bodyPr wrap="square" lIns="0" tIns="0" rIns="0" bIns="0" anchor="t">
            <a:noAutofit/>
          </a:bodyPr>
          <a:lstStyle/>
          <a:p>
            <a:pPr algn="l">
              <a:defRPr sz="1650" b="1">
                <a:solidFill>
                  <a:srgbClr val="004479"/>
                </a:solidFill>
                <a:latin typeface="Malacitana-Sans"/>
                <a:ea typeface="Malacitana-Sans"/>
                <a:cs typeface="Malacitana-Sans"/>
              </a:defRPr>
            </a:pPr>
            <a:r>
              <a:rPr lang="es-ES" sz="1650" b="1" noProof="0" dirty="0" err="1">
                <a:solidFill>
                  <a:srgbClr val="004479"/>
                </a:solidFill>
                <a:latin typeface="Malacitana-Sans"/>
                <a:ea typeface="Malacitana-Sans"/>
                <a:cs typeface="Malacitana-Sans"/>
              </a:rPr>
              <a:t>Widevine</a:t>
            </a:r>
            <a:r>
              <a:rPr lang="es-ES" sz="1650" b="1" noProof="0" dirty="0">
                <a:solidFill>
                  <a:srgbClr val="004479"/>
                </a:solidFill>
                <a:latin typeface="Malacitana-Sans"/>
                <a:ea typeface="Malacitana-Sans"/>
                <a:cs typeface="Malacitana-Sans"/>
              </a:rPr>
              <a:t> público: licencias reales   |   CENC local: distribución controlada</a:t>
            </a:r>
          </a:p>
        </p:txBody>
      </p:sp>
      <p:sp>
        <p:nvSpPr>
          <p:cNvPr id="8" name="text-7">
            <a:extLst>
              <a:ext uri="{FF2B5EF4-FFF2-40B4-BE49-F238E27FC236}">
                <a16:creationId xmlns:a16="http://schemas.microsoft.com/office/drawing/2014/main" id="{777E39E9-CF0E-3E97-E975-A2868FCE1FCC}"/>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17" name="text-69">
            <a:extLst>
              <a:ext uri="{FF2B5EF4-FFF2-40B4-BE49-F238E27FC236}">
                <a16:creationId xmlns:a16="http://schemas.microsoft.com/office/drawing/2014/main" id="{609D5F23-E73D-4EE4-B7F2-6153277C2839}"/>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Fase 0: una ruta elude la autorización</a:t>
            </a:r>
          </a:p>
        </p:txBody>
      </p:sp>
      <p:sp>
        <p:nvSpPr>
          <p:cNvPr id="2" name="text-70">
            <a:extLst>
              <a:ext uri="{FF2B5EF4-FFF2-40B4-BE49-F238E27FC236}">
                <a16:creationId xmlns:a16="http://schemas.microsoft.com/office/drawing/2014/main" id="{E0A6744E-6A76-4A19-BC8F-C2B6B71FE41B}"/>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AUDITORÍA · LICENCIAS</a:t>
            </a:r>
          </a:p>
        </p:txBody>
      </p:sp>
      <p:sp>
        <p:nvSpPr>
          <p:cNvPr id="4" name="text-72">
            <a:extLst>
              <a:ext uri="{FF2B5EF4-FFF2-40B4-BE49-F238E27FC236}">
                <a16:creationId xmlns:a16="http://schemas.microsoft.com/office/drawing/2014/main" id="{669E752B-5E39-41A6-97E8-970B353C543A}"/>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06</a:t>
            </a:r>
          </a:p>
        </p:txBody>
      </p:sp>
      <p:sp>
        <p:nvSpPr>
          <p:cNvPr id="5" name="panel-73">
            <a:extLst>
              <a:ext uri="{FF2B5EF4-FFF2-40B4-BE49-F238E27FC236}">
                <a16:creationId xmlns:a16="http://schemas.microsoft.com/office/drawing/2014/main" id="{44010538-6396-491D-8697-F4F14DF75567}"/>
              </a:ext>
            </a:extLst>
          </p:cNvPr>
          <p:cNvSpPr>
            <a:spLocks noGrp="1"/>
          </p:cNvSpPr>
          <p:nvPr/>
        </p:nvSpPr>
        <p:spPr>
          <a:xfrm>
            <a:off x="523875" y="1647825"/>
            <a:ext cx="3924300" cy="2857500"/>
          </a:xfrm>
          <a:prstGeom prst="rect">
            <a:avLst/>
          </a:prstGeom>
          <a:solidFill>
            <a:srgbClr val="EDF6FA"/>
          </a:solidFill>
          <a:ln w="0">
            <a:noFill/>
          </a:ln>
        </p:spPr>
        <p:txBody>
          <a:bodyPr/>
          <a:lstStyle/>
          <a:p>
            <a:endParaRPr lang="es-ES" noProof="0" dirty="0"/>
          </a:p>
        </p:txBody>
      </p:sp>
      <p:sp>
        <p:nvSpPr>
          <p:cNvPr id="6" name="text-74">
            <a:extLst>
              <a:ext uri="{FF2B5EF4-FFF2-40B4-BE49-F238E27FC236}">
                <a16:creationId xmlns:a16="http://schemas.microsoft.com/office/drawing/2014/main" id="{3DFDF730-8165-4EDB-84F4-4CA89BAFE983}"/>
              </a:ext>
            </a:extLst>
          </p:cNvPr>
          <p:cNvSpPr>
            <a:spLocks noGrp="1"/>
          </p:cNvSpPr>
          <p:nvPr/>
        </p:nvSpPr>
        <p:spPr>
          <a:xfrm>
            <a:off x="714375" y="1800225"/>
            <a:ext cx="3543300"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RUTA OFICIAL</a:t>
            </a:r>
          </a:p>
        </p:txBody>
      </p:sp>
      <p:sp>
        <p:nvSpPr>
          <p:cNvPr id="7" name="text-75">
            <a:extLst>
              <a:ext uri="{FF2B5EF4-FFF2-40B4-BE49-F238E27FC236}">
                <a16:creationId xmlns:a16="http://schemas.microsoft.com/office/drawing/2014/main" id="{1E564BB8-15FD-4378-BD74-DF1ED21EACC9}"/>
              </a:ext>
            </a:extLst>
          </p:cNvPr>
          <p:cNvSpPr>
            <a:spLocks noGrp="1"/>
          </p:cNvSpPr>
          <p:nvPr/>
        </p:nvSpPr>
        <p:spPr>
          <a:xfrm>
            <a:off x="714375" y="2266950"/>
            <a:ext cx="3543300"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Identidad + permisos</a:t>
            </a:r>
          </a:p>
        </p:txBody>
      </p:sp>
      <p:sp>
        <p:nvSpPr>
          <p:cNvPr id="8" name="text-76">
            <a:extLst>
              <a:ext uri="{FF2B5EF4-FFF2-40B4-BE49-F238E27FC236}">
                <a16:creationId xmlns:a16="http://schemas.microsoft.com/office/drawing/2014/main" id="{1B0BE35E-E40C-477B-9D61-2082ABB75964}"/>
              </a:ext>
            </a:extLst>
          </p:cNvPr>
          <p:cNvSpPr>
            <a:spLocks noGrp="1"/>
          </p:cNvSpPr>
          <p:nvPr/>
        </p:nvSpPr>
        <p:spPr>
          <a:xfrm>
            <a:off x="714375" y="2943225"/>
            <a:ext cx="3543300" cy="1476375"/>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Cuenta autorizada: reproduce</a:t>
            </a:r>
          </a:p>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Sin permisos: acceso denegado</a:t>
            </a:r>
          </a:p>
        </p:txBody>
      </p:sp>
      <p:sp>
        <p:nvSpPr>
          <p:cNvPr id="9" name="panel-77">
            <a:extLst>
              <a:ext uri="{FF2B5EF4-FFF2-40B4-BE49-F238E27FC236}">
                <a16:creationId xmlns:a16="http://schemas.microsoft.com/office/drawing/2014/main" id="{790C2936-C593-44B1-AF25-66CD942A8577}"/>
              </a:ext>
            </a:extLst>
          </p:cNvPr>
          <p:cNvSpPr>
            <a:spLocks noGrp="1"/>
          </p:cNvSpPr>
          <p:nvPr/>
        </p:nvSpPr>
        <p:spPr>
          <a:xfrm>
            <a:off x="4676775" y="1647825"/>
            <a:ext cx="3943350" cy="2857500"/>
          </a:xfrm>
          <a:prstGeom prst="rect">
            <a:avLst/>
          </a:prstGeom>
          <a:solidFill>
            <a:srgbClr val="EDF6FA"/>
          </a:solidFill>
          <a:ln w="0">
            <a:noFill/>
          </a:ln>
        </p:spPr>
        <p:txBody>
          <a:bodyPr/>
          <a:lstStyle/>
          <a:p>
            <a:endParaRPr lang="es-ES" noProof="0" dirty="0"/>
          </a:p>
        </p:txBody>
      </p:sp>
      <p:sp>
        <p:nvSpPr>
          <p:cNvPr id="10" name="text-78">
            <a:extLst>
              <a:ext uri="{FF2B5EF4-FFF2-40B4-BE49-F238E27FC236}">
                <a16:creationId xmlns:a16="http://schemas.microsoft.com/office/drawing/2014/main" id="{FFBEC3C9-0689-41DE-B469-B237717E8441}"/>
              </a:ext>
            </a:extLst>
          </p:cNvPr>
          <p:cNvSpPr>
            <a:spLocks noGrp="1"/>
          </p:cNvSpPr>
          <p:nvPr/>
        </p:nvSpPr>
        <p:spPr>
          <a:xfrm>
            <a:off x="4867275" y="1800225"/>
            <a:ext cx="3562350"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RUTA ALTERNATIVA</a:t>
            </a:r>
          </a:p>
        </p:txBody>
      </p:sp>
      <p:sp>
        <p:nvSpPr>
          <p:cNvPr id="11" name="text-79">
            <a:extLst>
              <a:ext uri="{FF2B5EF4-FFF2-40B4-BE49-F238E27FC236}">
                <a16:creationId xmlns:a16="http://schemas.microsoft.com/office/drawing/2014/main" id="{AECC423E-DB85-4873-B0AA-570C3B62ACA6}"/>
              </a:ext>
            </a:extLst>
          </p:cNvPr>
          <p:cNvSpPr>
            <a:spLocks noGrp="1"/>
          </p:cNvSpPr>
          <p:nvPr/>
        </p:nvSpPr>
        <p:spPr>
          <a:xfrm>
            <a:off x="4867275" y="2266950"/>
            <a:ext cx="3562350"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a:t>
            </a:r>
            <a:r>
              <a:rPr lang="es-ES" sz="2025" b="1" noProof="0" dirty="0" err="1">
                <a:solidFill>
                  <a:srgbClr val="004479"/>
                </a:solidFill>
                <a:latin typeface="Malacitana-Sans"/>
                <a:ea typeface="Malacitana-Sans"/>
                <a:cs typeface="Malacitana-Sans"/>
              </a:rPr>
              <a:t>license</a:t>
            </a:r>
            <a:r>
              <a:rPr lang="es-ES" sz="2025" b="1" noProof="0" dirty="0">
                <a:solidFill>
                  <a:srgbClr val="004479"/>
                </a:solidFill>
                <a:latin typeface="Malacitana-Sans"/>
                <a:ea typeface="Malacitana-Sans"/>
                <a:cs typeface="Malacitana-Sans"/>
              </a:rPr>
              <a:t>/</a:t>
            </a:r>
            <a:r>
              <a:rPr lang="es-ES" sz="2025" b="1" noProof="0" dirty="0" err="1">
                <a:solidFill>
                  <a:srgbClr val="004479"/>
                </a:solidFill>
                <a:latin typeface="Malacitana-Sans"/>
                <a:ea typeface="Malacitana-Sans"/>
                <a:cs typeface="Malacitana-Sans"/>
              </a:rPr>
              <a:t>no_auth</a:t>
            </a:r>
            <a:endParaRPr lang="es-ES" sz="2025" b="1" noProof="0" dirty="0">
              <a:solidFill>
                <a:srgbClr val="004479"/>
              </a:solidFill>
              <a:latin typeface="Malacitana-Sans"/>
              <a:ea typeface="Malacitana-Sans"/>
              <a:cs typeface="Malacitana-Sans"/>
            </a:endParaRPr>
          </a:p>
        </p:txBody>
      </p:sp>
      <p:sp>
        <p:nvSpPr>
          <p:cNvPr id="12" name="text-80">
            <a:extLst>
              <a:ext uri="{FF2B5EF4-FFF2-40B4-BE49-F238E27FC236}">
                <a16:creationId xmlns:a16="http://schemas.microsoft.com/office/drawing/2014/main" id="{4881ACC6-44FD-4E08-B1AD-78D910697B9D}"/>
              </a:ext>
            </a:extLst>
          </p:cNvPr>
          <p:cNvSpPr>
            <a:spLocks noGrp="1"/>
          </p:cNvSpPr>
          <p:nvPr/>
        </p:nvSpPr>
        <p:spPr>
          <a:xfrm>
            <a:off x="4867275" y="2943225"/>
            <a:ext cx="3562350" cy="1476375"/>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Reproductor externo</a:t>
            </a:r>
          </a:p>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Sin iniciar sesión</a:t>
            </a:r>
          </a:p>
        </p:txBody>
      </p:sp>
      <p:sp>
        <p:nvSpPr>
          <p:cNvPr id="13" name="text-81">
            <a:extLst>
              <a:ext uri="{FF2B5EF4-FFF2-40B4-BE49-F238E27FC236}">
                <a16:creationId xmlns:a16="http://schemas.microsoft.com/office/drawing/2014/main" id="{3DCA7DC2-0F13-467C-B7A0-A04996E5CD17}"/>
              </a:ext>
            </a:extLst>
          </p:cNvPr>
          <p:cNvSpPr>
            <a:spLocks noGrp="1"/>
          </p:cNvSpPr>
          <p:nvPr/>
        </p:nvSpPr>
        <p:spPr>
          <a:xfrm>
            <a:off x="685800" y="4848225"/>
            <a:ext cx="876300" cy="676275"/>
          </a:xfrm>
          <a:prstGeom prst="rect">
            <a:avLst/>
          </a:prstGeom>
          <a:noFill/>
          <a:ln w="0">
            <a:noFill/>
          </a:ln>
        </p:spPr>
        <p:txBody>
          <a:bodyPr wrap="square" lIns="0" tIns="0" rIns="0" bIns="0" anchor="t">
            <a:noAutofit/>
          </a:bodyPr>
          <a:lstStyle/>
          <a:p>
            <a:pPr algn="l">
              <a:defRPr sz="4350" b="1">
                <a:solidFill>
                  <a:srgbClr val="00AAD6"/>
                </a:solidFill>
                <a:latin typeface="Malacitana-Sans"/>
                <a:ea typeface="Malacitana-Sans"/>
                <a:cs typeface="Malacitana-Sans"/>
              </a:defRPr>
            </a:pPr>
            <a:r>
              <a:rPr lang="es-ES" sz="4350" b="1" noProof="0" dirty="0">
                <a:solidFill>
                  <a:srgbClr val="00AAD6"/>
                </a:solidFill>
                <a:latin typeface="Malacitana-Sans"/>
                <a:ea typeface="Malacitana-Sans"/>
                <a:cs typeface="Malacitana-Sans"/>
              </a:rPr>
              <a:t>2</a:t>
            </a:r>
          </a:p>
        </p:txBody>
      </p:sp>
      <p:sp>
        <p:nvSpPr>
          <p:cNvPr id="14" name="text-82">
            <a:extLst>
              <a:ext uri="{FF2B5EF4-FFF2-40B4-BE49-F238E27FC236}">
                <a16:creationId xmlns:a16="http://schemas.microsoft.com/office/drawing/2014/main" id="{0210C5D0-C3BE-4591-B594-C8BC1BDE5C08}"/>
              </a:ext>
            </a:extLst>
          </p:cNvPr>
          <p:cNvSpPr>
            <a:spLocks noGrp="1"/>
          </p:cNvSpPr>
          <p:nvPr/>
        </p:nvSpPr>
        <p:spPr>
          <a:xfrm>
            <a:off x="1676400" y="4867275"/>
            <a:ext cx="6724650" cy="704850"/>
          </a:xfrm>
          <a:prstGeom prst="rect">
            <a:avLst/>
          </a:prstGeom>
          <a:noFill/>
          <a:ln w="0">
            <a:noFill/>
          </a:ln>
        </p:spPr>
        <p:txBody>
          <a:bodyPr wrap="square" lIns="0" tIns="0" rIns="0" bIns="0" anchor="t">
            <a:noAutofit/>
          </a:bodyPr>
          <a:lstStyle/>
          <a:p>
            <a:pPr algn="l">
              <a:defRPr sz="2100" b="1">
                <a:solidFill>
                  <a:srgbClr val="004479"/>
                </a:solidFill>
                <a:latin typeface="Malacitana-Sans"/>
                <a:ea typeface="Malacitana-Sans"/>
                <a:cs typeface="Malacitana-Sans"/>
              </a:defRPr>
            </a:pPr>
            <a:r>
              <a:rPr lang="es-ES" sz="2100" b="1" noProof="0" dirty="0">
                <a:solidFill>
                  <a:srgbClr val="004479"/>
                </a:solidFill>
                <a:latin typeface="Malacitana-Sans"/>
                <a:ea typeface="Malacitana-Sans"/>
                <a:cs typeface="Malacitana-Sans"/>
              </a:rPr>
              <a:t>licencias válidas · HTTP 200</a:t>
            </a:r>
          </a:p>
          <a:p>
            <a:pPr algn="l">
              <a:defRPr sz="2100" b="1">
                <a:solidFill>
                  <a:srgbClr val="004479"/>
                </a:solidFill>
                <a:latin typeface="Malacitana-Sans"/>
                <a:ea typeface="Malacitana-Sans"/>
                <a:cs typeface="Malacitana-Sans"/>
              </a:defRPr>
            </a:pPr>
            <a:r>
              <a:rPr lang="es-ES" sz="2100" b="1" noProof="0" dirty="0">
                <a:solidFill>
                  <a:srgbClr val="004479"/>
                </a:solidFill>
                <a:latin typeface="Malacitana-Sans"/>
                <a:ea typeface="Malacitana-Sans"/>
                <a:cs typeface="Malacitana-Sans"/>
              </a:rPr>
              <a:t>Reproducción </a:t>
            </a:r>
            <a:r>
              <a:rPr lang="es-ES" sz="2100" b="1" noProof="0" dirty="0" err="1">
                <a:solidFill>
                  <a:srgbClr val="004479"/>
                </a:solidFill>
                <a:latin typeface="Malacitana-Sans"/>
                <a:ea typeface="Malacitana-Sans"/>
                <a:cs typeface="Malacitana-Sans"/>
              </a:rPr>
              <a:t>Widevine</a:t>
            </a:r>
            <a:r>
              <a:rPr lang="es-ES" sz="2100" b="1" noProof="0" dirty="0">
                <a:solidFill>
                  <a:srgbClr val="004479"/>
                </a:solidFill>
                <a:latin typeface="Malacitana-Sans"/>
                <a:ea typeface="Malacitana-Sans"/>
                <a:cs typeface="Malacitana-Sans"/>
              </a:rPr>
              <a:t> confirmada</a:t>
            </a:r>
          </a:p>
        </p:txBody>
      </p:sp>
      <p:sp>
        <p:nvSpPr>
          <p:cNvPr id="15" name="panel-83">
            <a:extLst>
              <a:ext uri="{FF2B5EF4-FFF2-40B4-BE49-F238E27FC236}">
                <a16:creationId xmlns:a16="http://schemas.microsoft.com/office/drawing/2014/main" id="{327AD773-E509-40DE-B3A3-C8BD11895FA5}"/>
              </a:ext>
            </a:extLst>
          </p:cNvPr>
          <p:cNvSpPr>
            <a:spLocks noGrp="1"/>
          </p:cNvSpPr>
          <p:nvPr/>
        </p:nvSpPr>
        <p:spPr>
          <a:xfrm>
            <a:off x="523875" y="5724525"/>
            <a:ext cx="8096250" cy="504825"/>
          </a:xfrm>
          <a:prstGeom prst="rect">
            <a:avLst/>
          </a:prstGeom>
          <a:solidFill>
            <a:srgbClr val="004479"/>
          </a:solidFill>
          <a:ln w="0">
            <a:noFill/>
          </a:ln>
        </p:spPr>
        <p:txBody>
          <a:bodyPr/>
          <a:lstStyle/>
          <a:p>
            <a:endParaRPr lang="es-ES" noProof="0" dirty="0"/>
          </a:p>
        </p:txBody>
      </p:sp>
      <p:sp>
        <p:nvSpPr>
          <p:cNvPr id="16" name="text-84">
            <a:extLst>
              <a:ext uri="{FF2B5EF4-FFF2-40B4-BE49-F238E27FC236}">
                <a16:creationId xmlns:a16="http://schemas.microsoft.com/office/drawing/2014/main" id="{A606E89E-3DA1-4C7B-9A72-70210DCCD3EB}"/>
              </a:ext>
            </a:extLst>
          </p:cNvPr>
          <p:cNvSpPr>
            <a:spLocks noGrp="1"/>
          </p:cNvSpPr>
          <p:nvPr/>
        </p:nvSpPr>
        <p:spPr>
          <a:xfrm>
            <a:off x="704850" y="5838825"/>
            <a:ext cx="7734300" cy="304800"/>
          </a:xfrm>
          <a:prstGeom prst="rect">
            <a:avLst/>
          </a:prstGeom>
          <a:noFill/>
          <a:ln w="0">
            <a:noFill/>
          </a:ln>
        </p:spPr>
        <p:txBody>
          <a:bodyPr wrap="square" lIns="0" tIns="0" rIns="0" bIns="0" anchor="t">
            <a:noAutofit/>
          </a:bodyPr>
          <a:lstStyle/>
          <a:p>
            <a:pPr algn="l">
              <a:defRPr sz="1725" b="1">
                <a:solidFill>
                  <a:srgbClr val="FFFFFF"/>
                </a:solidFill>
                <a:latin typeface="Malacitana-Sans"/>
                <a:ea typeface="Malacitana-Sans"/>
                <a:cs typeface="Malacitana-Sans"/>
              </a:defRPr>
            </a:pPr>
            <a:r>
              <a:rPr lang="es-ES" sz="1725" b="1" noProof="0" dirty="0">
                <a:solidFill>
                  <a:srgbClr val="FFFFFF"/>
                </a:solidFill>
                <a:latin typeface="Malacitana-Sans"/>
                <a:ea typeface="Malacitana-Sans"/>
                <a:cs typeface="Malacitana-Sans"/>
              </a:rPr>
              <a:t>Fallo de integración: la criptografía de </a:t>
            </a:r>
            <a:r>
              <a:rPr lang="es-ES" sz="1725" b="1" noProof="0" dirty="0" err="1">
                <a:solidFill>
                  <a:srgbClr val="FFFFFF"/>
                </a:solidFill>
                <a:latin typeface="Malacitana-Sans"/>
                <a:ea typeface="Malacitana-Sans"/>
                <a:cs typeface="Malacitana-Sans"/>
              </a:rPr>
              <a:t>Widevine</a:t>
            </a:r>
            <a:r>
              <a:rPr lang="es-ES" sz="1725" b="1" noProof="0" dirty="0">
                <a:solidFill>
                  <a:srgbClr val="FFFFFF"/>
                </a:solidFill>
                <a:latin typeface="Malacitana-Sans"/>
                <a:ea typeface="Malacitana-Sans"/>
                <a:cs typeface="Malacitana-Sans"/>
              </a:rPr>
              <a:t> sigue intacta.</a:t>
            </a:r>
          </a:p>
        </p:txBody>
      </p:sp>
      <p:sp>
        <p:nvSpPr>
          <p:cNvPr id="19" name="text-7">
            <a:extLst>
              <a:ext uri="{FF2B5EF4-FFF2-40B4-BE49-F238E27FC236}">
                <a16:creationId xmlns:a16="http://schemas.microsoft.com/office/drawing/2014/main" id="{0B343349-7652-A3C9-2593-7A275F3F0D25}"/>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3" name="text-85">
            <a:extLst>
              <a:ext uri="{FF2B5EF4-FFF2-40B4-BE49-F238E27FC236}">
                <a16:creationId xmlns:a16="http://schemas.microsoft.com/office/drawing/2014/main" id="{E91C0C65-97AB-4A67-8D3E-A4F4E8E26D1F}"/>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Fase 0: más allá de la licencia</a:t>
            </a:r>
          </a:p>
        </p:txBody>
      </p:sp>
      <p:sp>
        <p:nvSpPr>
          <p:cNvPr id="2" name="text-86">
            <a:extLst>
              <a:ext uri="{FF2B5EF4-FFF2-40B4-BE49-F238E27FC236}">
                <a16:creationId xmlns:a16="http://schemas.microsoft.com/office/drawing/2014/main" id="{849AF51E-5276-4CD0-AD77-03FE30D3784D}"/>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AUDITORÍA · DISTRIBUCIÓN Y SESIONES</a:t>
            </a:r>
          </a:p>
        </p:txBody>
      </p:sp>
      <p:sp>
        <p:nvSpPr>
          <p:cNvPr id="4" name="text-88">
            <a:extLst>
              <a:ext uri="{FF2B5EF4-FFF2-40B4-BE49-F238E27FC236}">
                <a16:creationId xmlns:a16="http://schemas.microsoft.com/office/drawing/2014/main" id="{D5DEC8F4-52AC-472C-91D9-1A245792C43B}"/>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07</a:t>
            </a:r>
          </a:p>
        </p:txBody>
      </p:sp>
      <p:sp>
        <p:nvSpPr>
          <p:cNvPr id="5" name="panel-89">
            <a:extLst>
              <a:ext uri="{FF2B5EF4-FFF2-40B4-BE49-F238E27FC236}">
                <a16:creationId xmlns:a16="http://schemas.microsoft.com/office/drawing/2014/main" id="{A3876194-7F0C-4D7A-A207-ADEE81B73EA4}"/>
              </a:ext>
            </a:extLst>
          </p:cNvPr>
          <p:cNvSpPr>
            <a:spLocks noGrp="1"/>
          </p:cNvSpPr>
          <p:nvPr/>
        </p:nvSpPr>
        <p:spPr>
          <a:xfrm>
            <a:off x="523875" y="1581150"/>
            <a:ext cx="3952875" cy="1819275"/>
          </a:xfrm>
          <a:prstGeom prst="rect">
            <a:avLst/>
          </a:prstGeom>
          <a:solidFill>
            <a:srgbClr val="EDF6FA"/>
          </a:solidFill>
          <a:ln w="0">
            <a:noFill/>
          </a:ln>
        </p:spPr>
        <p:txBody>
          <a:bodyPr/>
          <a:lstStyle/>
          <a:p>
            <a:endParaRPr lang="es-ES" noProof="0" dirty="0"/>
          </a:p>
        </p:txBody>
      </p:sp>
      <p:sp>
        <p:nvSpPr>
          <p:cNvPr id="6" name="text-90">
            <a:extLst>
              <a:ext uri="{FF2B5EF4-FFF2-40B4-BE49-F238E27FC236}">
                <a16:creationId xmlns:a16="http://schemas.microsoft.com/office/drawing/2014/main" id="{91BE3658-9D9F-4E3B-B7A7-678678037070}"/>
              </a:ext>
            </a:extLst>
          </p:cNvPr>
          <p:cNvSpPr>
            <a:spLocks noGrp="1"/>
          </p:cNvSpPr>
          <p:nvPr/>
        </p:nvSpPr>
        <p:spPr>
          <a:xfrm>
            <a:off x="714375" y="1733550"/>
            <a:ext cx="3571875"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01</a:t>
            </a:r>
          </a:p>
        </p:txBody>
      </p:sp>
      <p:sp>
        <p:nvSpPr>
          <p:cNvPr id="7" name="text-91">
            <a:extLst>
              <a:ext uri="{FF2B5EF4-FFF2-40B4-BE49-F238E27FC236}">
                <a16:creationId xmlns:a16="http://schemas.microsoft.com/office/drawing/2014/main" id="{396F0046-DDD5-409F-A660-A6F710C02EB3}"/>
              </a:ext>
            </a:extLst>
          </p:cNvPr>
          <p:cNvSpPr>
            <a:spLocks noGrp="1"/>
          </p:cNvSpPr>
          <p:nvPr/>
        </p:nvSpPr>
        <p:spPr>
          <a:xfrm>
            <a:off x="714375" y="2200275"/>
            <a:ext cx="3571875"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Medios expuestos</a:t>
            </a:r>
          </a:p>
        </p:txBody>
      </p:sp>
      <p:sp>
        <p:nvSpPr>
          <p:cNvPr id="8" name="text-92">
            <a:extLst>
              <a:ext uri="{FF2B5EF4-FFF2-40B4-BE49-F238E27FC236}">
                <a16:creationId xmlns:a16="http://schemas.microsoft.com/office/drawing/2014/main" id="{0A256986-FE02-4BEE-A74B-2BB152688C7F}"/>
              </a:ext>
            </a:extLst>
          </p:cNvPr>
          <p:cNvSpPr>
            <a:spLocks noGrp="1"/>
          </p:cNvSpPr>
          <p:nvPr/>
        </p:nvSpPr>
        <p:spPr>
          <a:xfrm>
            <a:off x="714375" y="2876550"/>
            <a:ext cx="3571875" cy="438150"/>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Manifiestos y segmentos sin token</a:t>
            </a:r>
          </a:p>
        </p:txBody>
      </p:sp>
      <p:sp>
        <p:nvSpPr>
          <p:cNvPr id="9" name="panel-93">
            <a:extLst>
              <a:ext uri="{FF2B5EF4-FFF2-40B4-BE49-F238E27FC236}">
                <a16:creationId xmlns:a16="http://schemas.microsoft.com/office/drawing/2014/main" id="{D35F5EE7-8641-4931-92EC-8D518A2A18F2}"/>
              </a:ext>
            </a:extLst>
          </p:cNvPr>
          <p:cNvSpPr>
            <a:spLocks noGrp="1"/>
          </p:cNvSpPr>
          <p:nvPr/>
        </p:nvSpPr>
        <p:spPr>
          <a:xfrm>
            <a:off x="4667250" y="1581150"/>
            <a:ext cx="3952875" cy="1819275"/>
          </a:xfrm>
          <a:prstGeom prst="rect">
            <a:avLst/>
          </a:prstGeom>
          <a:solidFill>
            <a:srgbClr val="EDF6FA"/>
          </a:solidFill>
          <a:ln w="0">
            <a:noFill/>
          </a:ln>
        </p:spPr>
        <p:txBody>
          <a:bodyPr/>
          <a:lstStyle/>
          <a:p>
            <a:endParaRPr lang="es-ES" noProof="0" dirty="0"/>
          </a:p>
        </p:txBody>
      </p:sp>
      <p:sp>
        <p:nvSpPr>
          <p:cNvPr id="10" name="text-94">
            <a:extLst>
              <a:ext uri="{FF2B5EF4-FFF2-40B4-BE49-F238E27FC236}">
                <a16:creationId xmlns:a16="http://schemas.microsoft.com/office/drawing/2014/main" id="{A2345503-5221-4A7D-95E2-362B5A86BA4D}"/>
              </a:ext>
            </a:extLst>
          </p:cNvPr>
          <p:cNvSpPr>
            <a:spLocks noGrp="1"/>
          </p:cNvSpPr>
          <p:nvPr/>
        </p:nvSpPr>
        <p:spPr>
          <a:xfrm>
            <a:off x="4857750" y="1733550"/>
            <a:ext cx="3571875"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02</a:t>
            </a:r>
          </a:p>
        </p:txBody>
      </p:sp>
      <p:sp>
        <p:nvSpPr>
          <p:cNvPr id="11" name="text-95">
            <a:extLst>
              <a:ext uri="{FF2B5EF4-FFF2-40B4-BE49-F238E27FC236}">
                <a16:creationId xmlns:a16="http://schemas.microsoft.com/office/drawing/2014/main" id="{42451F15-2019-498C-A641-DBD4EF412BCA}"/>
              </a:ext>
            </a:extLst>
          </p:cNvPr>
          <p:cNvSpPr>
            <a:spLocks noGrp="1"/>
          </p:cNvSpPr>
          <p:nvPr/>
        </p:nvSpPr>
        <p:spPr>
          <a:xfrm>
            <a:off x="4857750" y="2200275"/>
            <a:ext cx="3571875"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Origen accesible</a:t>
            </a:r>
          </a:p>
        </p:txBody>
      </p:sp>
      <p:sp>
        <p:nvSpPr>
          <p:cNvPr id="12" name="text-96">
            <a:extLst>
              <a:ext uri="{FF2B5EF4-FFF2-40B4-BE49-F238E27FC236}">
                <a16:creationId xmlns:a16="http://schemas.microsoft.com/office/drawing/2014/main" id="{842044E3-EA76-4349-A0E0-F39678EA9696}"/>
              </a:ext>
            </a:extLst>
          </p:cNvPr>
          <p:cNvSpPr>
            <a:spLocks noGrp="1"/>
          </p:cNvSpPr>
          <p:nvPr/>
        </p:nvSpPr>
        <p:spPr>
          <a:xfrm>
            <a:off x="4857750" y="2876550"/>
            <a:ext cx="3571875" cy="438150"/>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Acceso directo al servidor de medios</a:t>
            </a:r>
          </a:p>
        </p:txBody>
      </p:sp>
      <p:sp>
        <p:nvSpPr>
          <p:cNvPr id="13" name="panel-97">
            <a:extLst>
              <a:ext uri="{FF2B5EF4-FFF2-40B4-BE49-F238E27FC236}">
                <a16:creationId xmlns:a16="http://schemas.microsoft.com/office/drawing/2014/main" id="{CDA50239-7BA7-4274-9FE5-1A5798234E94}"/>
              </a:ext>
            </a:extLst>
          </p:cNvPr>
          <p:cNvSpPr>
            <a:spLocks noGrp="1"/>
          </p:cNvSpPr>
          <p:nvPr/>
        </p:nvSpPr>
        <p:spPr>
          <a:xfrm>
            <a:off x="523875" y="3581400"/>
            <a:ext cx="3952875" cy="1819275"/>
          </a:xfrm>
          <a:prstGeom prst="rect">
            <a:avLst/>
          </a:prstGeom>
          <a:solidFill>
            <a:srgbClr val="EDF6FA"/>
          </a:solidFill>
          <a:ln w="0">
            <a:noFill/>
          </a:ln>
        </p:spPr>
        <p:txBody>
          <a:bodyPr/>
          <a:lstStyle/>
          <a:p>
            <a:endParaRPr lang="es-ES" noProof="0" dirty="0"/>
          </a:p>
        </p:txBody>
      </p:sp>
      <p:sp>
        <p:nvSpPr>
          <p:cNvPr id="14" name="text-98">
            <a:extLst>
              <a:ext uri="{FF2B5EF4-FFF2-40B4-BE49-F238E27FC236}">
                <a16:creationId xmlns:a16="http://schemas.microsoft.com/office/drawing/2014/main" id="{39358C7C-459C-426A-BBDE-FA8923166497}"/>
              </a:ext>
            </a:extLst>
          </p:cNvPr>
          <p:cNvSpPr>
            <a:spLocks noGrp="1"/>
          </p:cNvSpPr>
          <p:nvPr/>
        </p:nvSpPr>
        <p:spPr>
          <a:xfrm>
            <a:off x="714375" y="3733800"/>
            <a:ext cx="3571875"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03</a:t>
            </a:r>
          </a:p>
        </p:txBody>
      </p:sp>
      <p:sp>
        <p:nvSpPr>
          <p:cNvPr id="15" name="text-99">
            <a:extLst>
              <a:ext uri="{FF2B5EF4-FFF2-40B4-BE49-F238E27FC236}">
                <a16:creationId xmlns:a16="http://schemas.microsoft.com/office/drawing/2014/main" id="{66413CC3-82CE-4A44-B328-A05187F12F23}"/>
              </a:ext>
            </a:extLst>
          </p:cNvPr>
          <p:cNvSpPr>
            <a:spLocks noGrp="1"/>
          </p:cNvSpPr>
          <p:nvPr/>
        </p:nvSpPr>
        <p:spPr>
          <a:xfrm>
            <a:off x="714375" y="4200525"/>
            <a:ext cx="3571875"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Tokens débiles</a:t>
            </a:r>
          </a:p>
        </p:txBody>
      </p:sp>
      <p:sp>
        <p:nvSpPr>
          <p:cNvPr id="16" name="text-100">
            <a:extLst>
              <a:ext uri="{FF2B5EF4-FFF2-40B4-BE49-F238E27FC236}">
                <a16:creationId xmlns:a16="http://schemas.microsoft.com/office/drawing/2014/main" id="{5AB2A79F-72B8-49C5-A7EA-6282D48E8148}"/>
              </a:ext>
            </a:extLst>
          </p:cNvPr>
          <p:cNvSpPr>
            <a:spLocks noGrp="1"/>
          </p:cNvSpPr>
          <p:nvPr/>
        </p:nvSpPr>
        <p:spPr>
          <a:xfrm>
            <a:off x="714375" y="4876800"/>
            <a:ext cx="3571875" cy="438150"/>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Sin caducidad ni vínculo al contexto</a:t>
            </a:r>
          </a:p>
        </p:txBody>
      </p:sp>
      <p:sp>
        <p:nvSpPr>
          <p:cNvPr id="17" name="panel-101">
            <a:extLst>
              <a:ext uri="{FF2B5EF4-FFF2-40B4-BE49-F238E27FC236}">
                <a16:creationId xmlns:a16="http://schemas.microsoft.com/office/drawing/2014/main" id="{73724B0E-7A76-4176-96C4-21C92D8BB459}"/>
              </a:ext>
            </a:extLst>
          </p:cNvPr>
          <p:cNvSpPr>
            <a:spLocks noGrp="1"/>
          </p:cNvSpPr>
          <p:nvPr/>
        </p:nvSpPr>
        <p:spPr>
          <a:xfrm>
            <a:off x="4667250" y="3581400"/>
            <a:ext cx="3952875" cy="1819275"/>
          </a:xfrm>
          <a:prstGeom prst="rect">
            <a:avLst/>
          </a:prstGeom>
          <a:solidFill>
            <a:srgbClr val="EDF6FA"/>
          </a:solidFill>
          <a:ln w="0">
            <a:noFill/>
          </a:ln>
        </p:spPr>
        <p:txBody>
          <a:bodyPr/>
          <a:lstStyle/>
          <a:p>
            <a:endParaRPr lang="es-ES" noProof="0" dirty="0"/>
          </a:p>
        </p:txBody>
      </p:sp>
      <p:sp>
        <p:nvSpPr>
          <p:cNvPr id="18" name="text-102">
            <a:extLst>
              <a:ext uri="{FF2B5EF4-FFF2-40B4-BE49-F238E27FC236}">
                <a16:creationId xmlns:a16="http://schemas.microsoft.com/office/drawing/2014/main" id="{30427935-7E6E-42AB-BA5A-E0C1956659F3}"/>
              </a:ext>
            </a:extLst>
          </p:cNvPr>
          <p:cNvSpPr>
            <a:spLocks noGrp="1"/>
          </p:cNvSpPr>
          <p:nvPr/>
        </p:nvSpPr>
        <p:spPr>
          <a:xfrm>
            <a:off x="4857750" y="3733800"/>
            <a:ext cx="3571875"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04</a:t>
            </a:r>
          </a:p>
        </p:txBody>
      </p:sp>
      <p:sp>
        <p:nvSpPr>
          <p:cNvPr id="19" name="text-103">
            <a:extLst>
              <a:ext uri="{FF2B5EF4-FFF2-40B4-BE49-F238E27FC236}">
                <a16:creationId xmlns:a16="http://schemas.microsoft.com/office/drawing/2014/main" id="{4015020B-E881-4EDB-AE69-330F47DE7D32}"/>
              </a:ext>
            </a:extLst>
          </p:cNvPr>
          <p:cNvSpPr>
            <a:spLocks noGrp="1"/>
          </p:cNvSpPr>
          <p:nvPr/>
        </p:nvSpPr>
        <p:spPr>
          <a:xfrm>
            <a:off x="4857750" y="4200525"/>
            <a:ext cx="3571875"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Sesiones sin control</a:t>
            </a:r>
          </a:p>
        </p:txBody>
      </p:sp>
      <p:sp>
        <p:nvSpPr>
          <p:cNvPr id="20" name="text-104">
            <a:extLst>
              <a:ext uri="{FF2B5EF4-FFF2-40B4-BE49-F238E27FC236}">
                <a16:creationId xmlns:a16="http://schemas.microsoft.com/office/drawing/2014/main" id="{852AA960-9FCD-49D8-851B-0B58830ED25F}"/>
              </a:ext>
            </a:extLst>
          </p:cNvPr>
          <p:cNvSpPr>
            <a:spLocks noGrp="1"/>
          </p:cNvSpPr>
          <p:nvPr/>
        </p:nvSpPr>
        <p:spPr>
          <a:xfrm>
            <a:off x="4857750" y="4876800"/>
            <a:ext cx="3571875" cy="438150"/>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Sin límite efectivo de concurrencia</a:t>
            </a:r>
          </a:p>
        </p:txBody>
      </p:sp>
      <p:sp>
        <p:nvSpPr>
          <p:cNvPr id="21" name="panel-105">
            <a:extLst>
              <a:ext uri="{FF2B5EF4-FFF2-40B4-BE49-F238E27FC236}">
                <a16:creationId xmlns:a16="http://schemas.microsoft.com/office/drawing/2014/main" id="{7F4F84C3-19DA-4466-A283-107D1E5D1479}"/>
              </a:ext>
            </a:extLst>
          </p:cNvPr>
          <p:cNvSpPr>
            <a:spLocks noGrp="1"/>
          </p:cNvSpPr>
          <p:nvPr/>
        </p:nvSpPr>
        <p:spPr>
          <a:xfrm>
            <a:off x="523875" y="5724525"/>
            <a:ext cx="8096250" cy="504825"/>
          </a:xfrm>
          <a:prstGeom prst="rect">
            <a:avLst/>
          </a:prstGeom>
          <a:solidFill>
            <a:srgbClr val="004479"/>
          </a:solidFill>
          <a:ln w="0">
            <a:noFill/>
          </a:ln>
        </p:spPr>
        <p:txBody>
          <a:bodyPr/>
          <a:lstStyle/>
          <a:p>
            <a:endParaRPr lang="es-ES" noProof="0" dirty="0"/>
          </a:p>
        </p:txBody>
      </p:sp>
      <p:sp>
        <p:nvSpPr>
          <p:cNvPr id="22" name="text-106">
            <a:extLst>
              <a:ext uri="{FF2B5EF4-FFF2-40B4-BE49-F238E27FC236}">
                <a16:creationId xmlns:a16="http://schemas.microsoft.com/office/drawing/2014/main" id="{76182142-BD51-4B14-8862-7EABA62084BF}"/>
              </a:ext>
            </a:extLst>
          </p:cNvPr>
          <p:cNvSpPr>
            <a:spLocks noGrp="1"/>
          </p:cNvSpPr>
          <p:nvPr/>
        </p:nvSpPr>
        <p:spPr>
          <a:xfrm>
            <a:off x="704850" y="5838825"/>
            <a:ext cx="7734300" cy="304800"/>
          </a:xfrm>
          <a:prstGeom prst="rect">
            <a:avLst/>
          </a:prstGeom>
          <a:noFill/>
          <a:ln w="0">
            <a:noFill/>
          </a:ln>
        </p:spPr>
        <p:txBody>
          <a:bodyPr wrap="square" lIns="0" tIns="0" rIns="0" bIns="0" anchor="t">
            <a:noAutofit/>
          </a:bodyPr>
          <a:lstStyle/>
          <a:p>
            <a:pPr algn="l">
              <a:defRPr sz="1725" b="1">
                <a:solidFill>
                  <a:srgbClr val="FFFFFF"/>
                </a:solidFill>
                <a:latin typeface="Malacitana-Sans"/>
                <a:ea typeface="Malacitana-Sans"/>
                <a:cs typeface="Malacitana-Sans"/>
              </a:defRPr>
            </a:pPr>
            <a:r>
              <a:rPr lang="es-ES" sz="1725" b="1" noProof="0" dirty="0">
                <a:solidFill>
                  <a:srgbClr val="FFFFFF"/>
                </a:solidFill>
                <a:latin typeface="Malacitana-Sans"/>
                <a:ea typeface="Malacitana-Sans"/>
                <a:cs typeface="Malacitana-Sans"/>
              </a:rPr>
              <a:t>La cadena de distribución necesita una política de acceso común.</a:t>
            </a:r>
          </a:p>
        </p:txBody>
      </p:sp>
      <p:sp>
        <p:nvSpPr>
          <p:cNvPr id="25" name="text-7">
            <a:extLst>
              <a:ext uri="{FF2B5EF4-FFF2-40B4-BE49-F238E27FC236}">
                <a16:creationId xmlns:a16="http://schemas.microsoft.com/office/drawing/2014/main" id="{4E7485B2-273B-E67D-1C33-0F1088B6F35A}"/>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ext-107">
            <a:extLst>
              <a:ext uri="{FF2B5EF4-FFF2-40B4-BE49-F238E27FC236}">
                <a16:creationId xmlns:a16="http://schemas.microsoft.com/office/drawing/2014/main" id="{46A340A3-B096-4688-98DA-F60D39529ADD}"/>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Fase 1: autorizar cada reproducción</a:t>
            </a:r>
          </a:p>
        </p:txBody>
      </p:sp>
      <p:sp>
        <p:nvSpPr>
          <p:cNvPr id="2" name="text-108">
            <a:extLst>
              <a:ext uri="{FF2B5EF4-FFF2-40B4-BE49-F238E27FC236}">
                <a16:creationId xmlns:a16="http://schemas.microsoft.com/office/drawing/2014/main" id="{4860D3B7-F362-4542-A7FA-9FB783D6EEFA}"/>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PREVENCIÓN · FLUJO PROTEGIDO</a:t>
            </a:r>
          </a:p>
        </p:txBody>
      </p:sp>
      <p:sp>
        <p:nvSpPr>
          <p:cNvPr id="4" name="text-110">
            <a:extLst>
              <a:ext uri="{FF2B5EF4-FFF2-40B4-BE49-F238E27FC236}">
                <a16:creationId xmlns:a16="http://schemas.microsoft.com/office/drawing/2014/main" id="{BDE4F561-2785-4815-AB50-F69345A91B58}"/>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08</a:t>
            </a:r>
          </a:p>
        </p:txBody>
      </p:sp>
      <p:pic>
        <p:nvPicPr>
          <p:cNvPr id="10" name="Imagen 9"/>
          <p:cNvPicPr>
            <a:picLocks noChangeAspect="1"/>
          </p:cNvPicPr>
          <p:nvPr/>
        </p:nvPicPr>
        <p:blipFill>
          <a:blip r:embed="rId4"/>
          <a:stretch/>
        </p:blipFill>
        <p:spPr>
          <a:xfrm>
            <a:off x="791308" y="1428750"/>
            <a:ext cx="7561385" cy="4914900"/>
          </a:xfrm>
          <a:prstGeom prst="rect">
            <a:avLst/>
          </a:prstGeom>
        </p:spPr>
      </p:pic>
      <p:sp>
        <p:nvSpPr>
          <p:cNvPr id="7" name="text-7">
            <a:extLst>
              <a:ext uri="{FF2B5EF4-FFF2-40B4-BE49-F238E27FC236}">
                <a16:creationId xmlns:a16="http://schemas.microsoft.com/office/drawing/2014/main" id="{A6DF047E-3EE2-7F86-66EF-50C1987CC00A}"/>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text-111">
            <a:extLst>
              <a:ext uri="{FF2B5EF4-FFF2-40B4-BE49-F238E27FC236}">
                <a16:creationId xmlns:a16="http://schemas.microsoft.com/office/drawing/2014/main" id="{6E50C9F4-AD68-4ED5-B572-CE111C997070}"/>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La autorización tiene contexto y caducidad</a:t>
            </a:r>
          </a:p>
        </p:txBody>
      </p:sp>
      <p:sp>
        <p:nvSpPr>
          <p:cNvPr id="2" name="text-112">
            <a:extLst>
              <a:ext uri="{FF2B5EF4-FFF2-40B4-BE49-F238E27FC236}">
                <a16:creationId xmlns:a16="http://schemas.microsoft.com/office/drawing/2014/main" id="{03D82183-0935-4164-8BA3-1A52D3B153BD}"/>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FASE 1 · SESIÓN ACTIVA</a:t>
            </a:r>
          </a:p>
        </p:txBody>
      </p:sp>
      <p:sp>
        <p:nvSpPr>
          <p:cNvPr id="4" name="text-114">
            <a:extLst>
              <a:ext uri="{FF2B5EF4-FFF2-40B4-BE49-F238E27FC236}">
                <a16:creationId xmlns:a16="http://schemas.microsoft.com/office/drawing/2014/main" id="{90A0EADD-9CAD-48AA-9802-2B1472040822}"/>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09</a:t>
            </a:r>
          </a:p>
        </p:txBody>
      </p:sp>
      <p:sp>
        <p:nvSpPr>
          <p:cNvPr id="5" name="text-115">
            <a:extLst>
              <a:ext uri="{FF2B5EF4-FFF2-40B4-BE49-F238E27FC236}">
                <a16:creationId xmlns:a16="http://schemas.microsoft.com/office/drawing/2014/main" id="{4A348F63-2AD6-4BC7-9A31-7D2CAE12D754}"/>
              </a:ext>
            </a:extLst>
          </p:cNvPr>
          <p:cNvSpPr>
            <a:spLocks noGrp="1"/>
          </p:cNvSpPr>
          <p:nvPr/>
        </p:nvSpPr>
        <p:spPr>
          <a:xfrm>
            <a:off x="523875" y="1609725"/>
            <a:ext cx="8096250" cy="63817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Cuenta · dispositivo · instancia · activo · sesión</a:t>
            </a:r>
          </a:p>
        </p:txBody>
      </p:sp>
      <p:sp>
        <p:nvSpPr>
          <p:cNvPr id="6" name="panel-116">
            <a:extLst>
              <a:ext uri="{FF2B5EF4-FFF2-40B4-BE49-F238E27FC236}">
                <a16:creationId xmlns:a16="http://schemas.microsoft.com/office/drawing/2014/main" id="{C18E1DBF-B30B-4238-B199-7389460BAE2C}"/>
              </a:ext>
            </a:extLst>
          </p:cNvPr>
          <p:cNvSpPr>
            <a:spLocks noGrp="1"/>
          </p:cNvSpPr>
          <p:nvPr/>
        </p:nvSpPr>
        <p:spPr>
          <a:xfrm>
            <a:off x="523875" y="2619375"/>
            <a:ext cx="3952875" cy="1228725"/>
          </a:xfrm>
          <a:prstGeom prst="rect">
            <a:avLst/>
          </a:prstGeom>
          <a:solidFill>
            <a:srgbClr val="EDF6FA"/>
          </a:solidFill>
          <a:ln w="0">
            <a:noFill/>
          </a:ln>
        </p:spPr>
        <p:txBody>
          <a:bodyPr/>
          <a:lstStyle/>
          <a:p>
            <a:endParaRPr lang="es-ES" noProof="0" dirty="0"/>
          </a:p>
        </p:txBody>
      </p:sp>
      <p:sp>
        <p:nvSpPr>
          <p:cNvPr id="7" name="text-117">
            <a:extLst>
              <a:ext uri="{FF2B5EF4-FFF2-40B4-BE49-F238E27FC236}">
                <a16:creationId xmlns:a16="http://schemas.microsoft.com/office/drawing/2014/main" id="{58853D57-F2E7-497F-9E02-022B9A257702}"/>
              </a:ext>
            </a:extLst>
          </p:cNvPr>
          <p:cNvSpPr>
            <a:spLocks noGrp="1"/>
          </p:cNvSpPr>
          <p:nvPr/>
        </p:nvSpPr>
        <p:spPr>
          <a:xfrm>
            <a:off x="733425" y="2733675"/>
            <a:ext cx="3533775" cy="542925"/>
          </a:xfrm>
          <a:prstGeom prst="rect">
            <a:avLst/>
          </a:prstGeom>
          <a:noFill/>
          <a:ln w="0">
            <a:noFill/>
          </a:ln>
        </p:spPr>
        <p:txBody>
          <a:bodyPr wrap="square" lIns="0" tIns="0" rIns="0" bIns="0" anchor="t">
            <a:noAutofit/>
          </a:bodyPr>
          <a:lstStyle/>
          <a:p>
            <a:pPr algn="l">
              <a:defRPr sz="3375" b="1">
                <a:solidFill>
                  <a:srgbClr val="00AAD6"/>
                </a:solidFill>
                <a:latin typeface="Malacitana-Sans"/>
                <a:ea typeface="Malacitana-Sans"/>
                <a:cs typeface="Malacitana-Sans"/>
              </a:defRPr>
            </a:pPr>
            <a:r>
              <a:rPr lang="es-ES" sz="3375" b="1" noProof="0" dirty="0">
                <a:solidFill>
                  <a:srgbClr val="00AAD6"/>
                </a:solidFill>
                <a:latin typeface="Malacitana-Sans"/>
                <a:ea typeface="Malacitana-Sans"/>
                <a:cs typeface="Malacitana-Sans"/>
              </a:rPr>
              <a:t>90 s</a:t>
            </a:r>
          </a:p>
        </p:txBody>
      </p:sp>
      <p:sp>
        <p:nvSpPr>
          <p:cNvPr id="8" name="text-118">
            <a:extLst>
              <a:ext uri="{FF2B5EF4-FFF2-40B4-BE49-F238E27FC236}">
                <a16:creationId xmlns:a16="http://schemas.microsoft.com/office/drawing/2014/main" id="{A9C6AB45-2261-4EB2-B3AB-FD8E08FE17AD}"/>
              </a:ext>
            </a:extLst>
          </p:cNvPr>
          <p:cNvSpPr>
            <a:spLocks noGrp="1"/>
          </p:cNvSpPr>
          <p:nvPr/>
        </p:nvSpPr>
        <p:spPr>
          <a:xfrm>
            <a:off x="733425" y="3362325"/>
            <a:ext cx="3533775" cy="352425"/>
          </a:xfrm>
          <a:prstGeom prst="rect">
            <a:avLst/>
          </a:prstGeom>
          <a:noFill/>
          <a:ln w="0">
            <a:noFill/>
          </a:ln>
        </p:spPr>
        <p:txBody>
          <a:bodyPr wrap="square" lIns="0" tIns="0" rIns="0" bIns="0" anchor="t">
            <a:noAutofit/>
          </a:bodyPr>
          <a:lstStyle/>
          <a:p>
            <a:pPr algn="l">
              <a:defRPr sz="1800" b="0">
                <a:solidFill>
                  <a:srgbClr val="004479"/>
                </a:solidFill>
                <a:latin typeface="Malacitana-Sans"/>
                <a:ea typeface="Malacitana-Sans"/>
                <a:cs typeface="Malacitana-Sans"/>
              </a:defRPr>
            </a:pPr>
            <a:r>
              <a:rPr lang="es-ES" sz="1800" b="0" noProof="0" dirty="0">
                <a:solidFill>
                  <a:srgbClr val="004479"/>
                </a:solidFill>
                <a:latin typeface="Malacitana-Sans"/>
                <a:ea typeface="Malacitana-Sans"/>
                <a:cs typeface="Malacitana-Sans"/>
              </a:rPr>
              <a:t>Token de reproducción</a:t>
            </a:r>
          </a:p>
        </p:txBody>
      </p:sp>
      <p:sp>
        <p:nvSpPr>
          <p:cNvPr id="9" name="panel-119">
            <a:extLst>
              <a:ext uri="{FF2B5EF4-FFF2-40B4-BE49-F238E27FC236}">
                <a16:creationId xmlns:a16="http://schemas.microsoft.com/office/drawing/2014/main" id="{96944B26-5DC1-41FB-82C8-000E25194631}"/>
              </a:ext>
            </a:extLst>
          </p:cNvPr>
          <p:cNvSpPr>
            <a:spLocks noGrp="1"/>
          </p:cNvSpPr>
          <p:nvPr/>
        </p:nvSpPr>
        <p:spPr>
          <a:xfrm>
            <a:off x="4667250" y="2619375"/>
            <a:ext cx="3952875" cy="1228725"/>
          </a:xfrm>
          <a:prstGeom prst="rect">
            <a:avLst/>
          </a:prstGeom>
          <a:solidFill>
            <a:srgbClr val="EDF6FA"/>
          </a:solidFill>
          <a:ln w="0">
            <a:noFill/>
          </a:ln>
        </p:spPr>
        <p:txBody>
          <a:bodyPr/>
          <a:lstStyle/>
          <a:p>
            <a:endParaRPr lang="es-ES" noProof="0" dirty="0"/>
          </a:p>
        </p:txBody>
      </p:sp>
      <p:sp>
        <p:nvSpPr>
          <p:cNvPr id="10" name="text-120">
            <a:extLst>
              <a:ext uri="{FF2B5EF4-FFF2-40B4-BE49-F238E27FC236}">
                <a16:creationId xmlns:a16="http://schemas.microsoft.com/office/drawing/2014/main" id="{1010CABE-BE2A-4B55-B94E-7FCDD394C83F}"/>
              </a:ext>
            </a:extLst>
          </p:cNvPr>
          <p:cNvSpPr>
            <a:spLocks noGrp="1"/>
          </p:cNvSpPr>
          <p:nvPr/>
        </p:nvSpPr>
        <p:spPr>
          <a:xfrm>
            <a:off x="4876800" y="2733675"/>
            <a:ext cx="3533775" cy="542925"/>
          </a:xfrm>
          <a:prstGeom prst="rect">
            <a:avLst/>
          </a:prstGeom>
          <a:noFill/>
          <a:ln w="0">
            <a:noFill/>
          </a:ln>
        </p:spPr>
        <p:txBody>
          <a:bodyPr wrap="square" lIns="0" tIns="0" rIns="0" bIns="0" anchor="t">
            <a:noAutofit/>
          </a:bodyPr>
          <a:lstStyle/>
          <a:p>
            <a:pPr algn="l">
              <a:defRPr sz="3375" b="1">
                <a:solidFill>
                  <a:srgbClr val="00AAD6"/>
                </a:solidFill>
                <a:latin typeface="Malacitana-Sans"/>
                <a:ea typeface="Malacitana-Sans"/>
                <a:cs typeface="Malacitana-Sans"/>
              </a:defRPr>
            </a:pPr>
            <a:r>
              <a:rPr lang="es-ES" sz="3375" b="1" noProof="0" dirty="0">
                <a:solidFill>
                  <a:srgbClr val="00AAD6"/>
                </a:solidFill>
                <a:latin typeface="Malacitana-Sans"/>
                <a:ea typeface="Malacitana-Sans"/>
                <a:cs typeface="Malacitana-Sans"/>
              </a:rPr>
              <a:t>20 s</a:t>
            </a:r>
          </a:p>
        </p:txBody>
      </p:sp>
      <p:sp>
        <p:nvSpPr>
          <p:cNvPr id="11" name="text-121">
            <a:extLst>
              <a:ext uri="{FF2B5EF4-FFF2-40B4-BE49-F238E27FC236}">
                <a16:creationId xmlns:a16="http://schemas.microsoft.com/office/drawing/2014/main" id="{BD30C3DE-DEEF-4557-8C1F-ED8DFBE3E975}"/>
              </a:ext>
            </a:extLst>
          </p:cNvPr>
          <p:cNvSpPr>
            <a:spLocks noGrp="1"/>
          </p:cNvSpPr>
          <p:nvPr/>
        </p:nvSpPr>
        <p:spPr>
          <a:xfrm>
            <a:off x="4876800" y="3362325"/>
            <a:ext cx="3533775" cy="352425"/>
          </a:xfrm>
          <a:prstGeom prst="rect">
            <a:avLst/>
          </a:prstGeom>
          <a:noFill/>
          <a:ln w="0">
            <a:noFill/>
          </a:ln>
        </p:spPr>
        <p:txBody>
          <a:bodyPr wrap="square" lIns="0" tIns="0" rIns="0" bIns="0" anchor="t">
            <a:noAutofit/>
          </a:bodyPr>
          <a:lstStyle/>
          <a:p>
            <a:pPr algn="l">
              <a:defRPr sz="1800" b="0">
                <a:solidFill>
                  <a:srgbClr val="004479"/>
                </a:solidFill>
                <a:latin typeface="Malacitana-Sans"/>
                <a:ea typeface="Malacitana-Sans"/>
                <a:cs typeface="Malacitana-Sans"/>
              </a:defRPr>
            </a:pPr>
            <a:r>
              <a:rPr lang="es-ES" sz="1800" b="0" noProof="0" dirty="0">
                <a:solidFill>
                  <a:srgbClr val="004479"/>
                </a:solidFill>
                <a:latin typeface="Malacitana-Sans"/>
                <a:ea typeface="Malacitana-Sans"/>
                <a:cs typeface="Malacitana-Sans"/>
              </a:rPr>
              <a:t>Intervalo de </a:t>
            </a:r>
            <a:r>
              <a:rPr lang="es-ES" sz="1800" b="0" noProof="0" dirty="0" err="1">
                <a:solidFill>
                  <a:srgbClr val="004479"/>
                </a:solidFill>
                <a:latin typeface="Malacitana-Sans"/>
                <a:ea typeface="Malacitana-Sans"/>
                <a:cs typeface="Malacitana-Sans"/>
              </a:rPr>
              <a:t>heartbeat</a:t>
            </a:r>
            <a:endParaRPr lang="es-ES" sz="1800" b="0" noProof="0" dirty="0">
              <a:solidFill>
                <a:srgbClr val="004479"/>
              </a:solidFill>
              <a:latin typeface="Malacitana-Sans"/>
              <a:ea typeface="Malacitana-Sans"/>
              <a:cs typeface="Malacitana-Sans"/>
            </a:endParaRPr>
          </a:p>
        </p:txBody>
      </p:sp>
      <p:sp>
        <p:nvSpPr>
          <p:cNvPr id="12" name="panel-122">
            <a:extLst>
              <a:ext uri="{FF2B5EF4-FFF2-40B4-BE49-F238E27FC236}">
                <a16:creationId xmlns:a16="http://schemas.microsoft.com/office/drawing/2014/main" id="{379D7179-1FDC-410D-9E5E-669F0E68E719}"/>
              </a:ext>
            </a:extLst>
          </p:cNvPr>
          <p:cNvSpPr>
            <a:spLocks noGrp="1"/>
          </p:cNvSpPr>
          <p:nvPr/>
        </p:nvSpPr>
        <p:spPr>
          <a:xfrm>
            <a:off x="523875" y="4019550"/>
            <a:ext cx="3952875" cy="1228725"/>
          </a:xfrm>
          <a:prstGeom prst="rect">
            <a:avLst/>
          </a:prstGeom>
          <a:solidFill>
            <a:srgbClr val="EDF6FA"/>
          </a:solidFill>
          <a:ln w="0">
            <a:noFill/>
          </a:ln>
        </p:spPr>
        <p:txBody>
          <a:bodyPr/>
          <a:lstStyle/>
          <a:p>
            <a:endParaRPr lang="es-ES" noProof="0" dirty="0"/>
          </a:p>
        </p:txBody>
      </p:sp>
      <p:sp>
        <p:nvSpPr>
          <p:cNvPr id="13" name="text-123">
            <a:extLst>
              <a:ext uri="{FF2B5EF4-FFF2-40B4-BE49-F238E27FC236}">
                <a16:creationId xmlns:a16="http://schemas.microsoft.com/office/drawing/2014/main" id="{07A55E0A-B595-4ADA-8C7D-5039BEB6683F}"/>
              </a:ext>
            </a:extLst>
          </p:cNvPr>
          <p:cNvSpPr>
            <a:spLocks noGrp="1"/>
          </p:cNvSpPr>
          <p:nvPr/>
        </p:nvSpPr>
        <p:spPr>
          <a:xfrm>
            <a:off x="733425" y="4133850"/>
            <a:ext cx="3533775" cy="542925"/>
          </a:xfrm>
          <a:prstGeom prst="rect">
            <a:avLst/>
          </a:prstGeom>
          <a:noFill/>
          <a:ln w="0">
            <a:noFill/>
          </a:ln>
        </p:spPr>
        <p:txBody>
          <a:bodyPr wrap="square" lIns="0" tIns="0" rIns="0" bIns="0" anchor="t">
            <a:noAutofit/>
          </a:bodyPr>
          <a:lstStyle/>
          <a:p>
            <a:pPr algn="l">
              <a:defRPr sz="3375" b="1">
                <a:solidFill>
                  <a:srgbClr val="00AAD6"/>
                </a:solidFill>
                <a:latin typeface="Malacitana-Sans"/>
                <a:ea typeface="Malacitana-Sans"/>
                <a:cs typeface="Malacitana-Sans"/>
              </a:defRPr>
            </a:pPr>
            <a:r>
              <a:rPr lang="es-ES" sz="3375" b="1" noProof="0" dirty="0">
                <a:solidFill>
                  <a:srgbClr val="00AAD6"/>
                </a:solidFill>
                <a:latin typeface="Malacitana-Sans"/>
                <a:ea typeface="Malacitana-Sans"/>
                <a:cs typeface="Malacitana-Sans"/>
              </a:rPr>
              <a:t>45 s</a:t>
            </a:r>
          </a:p>
        </p:txBody>
      </p:sp>
      <p:sp>
        <p:nvSpPr>
          <p:cNvPr id="14" name="text-124">
            <a:extLst>
              <a:ext uri="{FF2B5EF4-FFF2-40B4-BE49-F238E27FC236}">
                <a16:creationId xmlns:a16="http://schemas.microsoft.com/office/drawing/2014/main" id="{1E96A25B-04EA-4F6A-904B-032963B0E9A4}"/>
              </a:ext>
            </a:extLst>
          </p:cNvPr>
          <p:cNvSpPr>
            <a:spLocks noGrp="1"/>
          </p:cNvSpPr>
          <p:nvPr/>
        </p:nvSpPr>
        <p:spPr>
          <a:xfrm>
            <a:off x="733425" y="4762500"/>
            <a:ext cx="3533775" cy="352425"/>
          </a:xfrm>
          <a:prstGeom prst="rect">
            <a:avLst/>
          </a:prstGeom>
          <a:noFill/>
          <a:ln w="0">
            <a:noFill/>
          </a:ln>
        </p:spPr>
        <p:txBody>
          <a:bodyPr wrap="square" lIns="0" tIns="0" rIns="0" bIns="0" anchor="t">
            <a:noAutofit/>
          </a:bodyPr>
          <a:lstStyle/>
          <a:p>
            <a:pPr algn="l">
              <a:defRPr sz="1800" b="0">
                <a:solidFill>
                  <a:srgbClr val="004479"/>
                </a:solidFill>
                <a:latin typeface="Malacitana-Sans"/>
                <a:ea typeface="Malacitana-Sans"/>
                <a:cs typeface="Malacitana-Sans"/>
              </a:defRPr>
            </a:pPr>
            <a:r>
              <a:rPr lang="es-ES" sz="1800" b="0" noProof="0" dirty="0">
                <a:solidFill>
                  <a:srgbClr val="004479"/>
                </a:solidFill>
                <a:latin typeface="Malacitana-Sans"/>
                <a:ea typeface="Malacitana-Sans"/>
                <a:cs typeface="Malacitana-Sans"/>
              </a:rPr>
              <a:t>Margen de inactividad</a:t>
            </a:r>
          </a:p>
        </p:txBody>
      </p:sp>
      <p:sp>
        <p:nvSpPr>
          <p:cNvPr id="15" name="panel-125">
            <a:extLst>
              <a:ext uri="{FF2B5EF4-FFF2-40B4-BE49-F238E27FC236}">
                <a16:creationId xmlns:a16="http://schemas.microsoft.com/office/drawing/2014/main" id="{063AB039-F5A4-4DB7-90F0-AE4F64DECEC4}"/>
              </a:ext>
            </a:extLst>
          </p:cNvPr>
          <p:cNvSpPr>
            <a:spLocks noGrp="1"/>
          </p:cNvSpPr>
          <p:nvPr/>
        </p:nvSpPr>
        <p:spPr>
          <a:xfrm>
            <a:off x="4667250" y="4019550"/>
            <a:ext cx="3952875" cy="1228725"/>
          </a:xfrm>
          <a:prstGeom prst="rect">
            <a:avLst/>
          </a:prstGeom>
          <a:solidFill>
            <a:srgbClr val="EDF6FA"/>
          </a:solidFill>
          <a:ln w="0">
            <a:noFill/>
          </a:ln>
        </p:spPr>
        <p:txBody>
          <a:bodyPr/>
          <a:lstStyle/>
          <a:p>
            <a:endParaRPr lang="es-ES" noProof="0" dirty="0"/>
          </a:p>
        </p:txBody>
      </p:sp>
      <p:sp>
        <p:nvSpPr>
          <p:cNvPr id="16" name="text-126">
            <a:extLst>
              <a:ext uri="{FF2B5EF4-FFF2-40B4-BE49-F238E27FC236}">
                <a16:creationId xmlns:a16="http://schemas.microsoft.com/office/drawing/2014/main" id="{3BB0E0D6-C286-4B73-AB68-2F2E3F8B37A1}"/>
              </a:ext>
            </a:extLst>
          </p:cNvPr>
          <p:cNvSpPr>
            <a:spLocks noGrp="1"/>
          </p:cNvSpPr>
          <p:nvPr/>
        </p:nvSpPr>
        <p:spPr>
          <a:xfrm>
            <a:off x="4876800" y="4133850"/>
            <a:ext cx="3533775" cy="542925"/>
          </a:xfrm>
          <a:prstGeom prst="rect">
            <a:avLst/>
          </a:prstGeom>
          <a:noFill/>
          <a:ln w="0">
            <a:noFill/>
          </a:ln>
        </p:spPr>
        <p:txBody>
          <a:bodyPr wrap="square" lIns="0" tIns="0" rIns="0" bIns="0" anchor="t">
            <a:noAutofit/>
          </a:bodyPr>
          <a:lstStyle/>
          <a:p>
            <a:pPr algn="l">
              <a:defRPr sz="3375" b="1">
                <a:solidFill>
                  <a:srgbClr val="00AAD6"/>
                </a:solidFill>
                <a:latin typeface="Malacitana-Sans"/>
                <a:ea typeface="Malacitana-Sans"/>
                <a:cs typeface="Malacitana-Sans"/>
              </a:defRPr>
            </a:pPr>
            <a:r>
              <a:rPr lang="es-ES" sz="3375" b="1" noProof="0" dirty="0">
                <a:solidFill>
                  <a:srgbClr val="00AAD6"/>
                </a:solidFill>
                <a:latin typeface="Malacitana-Sans"/>
                <a:ea typeface="Malacitana-Sans"/>
                <a:cs typeface="Malacitana-Sans"/>
              </a:rPr>
              <a:t>1</a:t>
            </a:r>
          </a:p>
        </p:txBody>
      </p:sp>
      <p:sp>
        <p:nvSpPr>
          <p:cNvPr id="17" name="text-127">
            <a:extLst>
              <a:ext uri="{FF2B5EF4-FFF2-40B4-BE49-F238E27FC236}">
                <a16:creationId xmlns:a16="http://schemas.microsoft.com/office/drawing/2014/main" id="{6DBF55BC-047A-4C9F-AFD8-D5D0F1C2D5AF}"/>
              </a:ext>
            </a:extLst>
          </p:cNvPr>
          <p:cNvSpPr>
            <a:spLocks noGrp="1"/>
          </p:cNvSpPr>
          <p:nvPr/>
        </p:nvSpPr>
        <p:spPr>
          <a:xfrm>
            <a:off x="4876800" y="4762500"/>
            <a:ext cx="3533775" cy="352425"/>
          </a:xfrm>
          <a:prstGeom prst="rect">
            <a:avLst/>
          </a:prstGeom>
          <a:noFill/>
          <a:ln w="0">
            <a:noFill/>
          </a:ln>
        </p:spPr>
        <p:txBody>
          <a:bodyPr wrap="square" lIns="0" tIns="0" rIns="0" bIns="0" anchor="t">
            <a:noAutofit/>
          </a:bodyPr>
          <a:lstStyle/>
          <a:p>
            <a:pPr algn="l">
              <a:defRPr sz="1800" b="0">
                <a:solidFill>
                  <a:srgbClr val="004479"/>
                </a:solidFill>
                <a:latin typeface="Malacitana-Sans"/>
                <a:ea typeface="Malacitana-Sans"/>
                <a:cs typeface="Malacitana-Sans"/>
              </a:defRPr>
            </a:pPr>
            <a:r>
              <a:rPr lang="es-ES" sz="1800" b="0" noProof="0" dirty="0">
                <a:solidFill>
                  <a:srgbClr val="004479"/>
                </a:solidFill>
                <a:latin typeface="Malacitana-Sans"/>
                <a:ea typeface="Malacitana-Sans"/>
                <a:cs typeface="Malacitana-Sans"/>
              </a:rPr>
              <a:t>Sesión simultánea por cuenta</a:t>
            </a:r>
          </a:p>
        </p:txBody>
      </p:sp>
      <p:sp>
        <p:nvSpPr>
          <p:cNvPr id="18" name="panel-128">
            <a:extLst>
              <a:ext uri="{FF2B5EF4-FFF2-40B4-BE49-F238E27FC236}">
                <a16:creationId xmlns:a16="http://schemas.microsoft.com/office/drawing/2014/main" id="{04831229-A76B-4D83-A582-D6390FCBDAB2}"/>
              </a:ext>
            </a:extLst>
          </p:cNvPr>
          <p:cNvSpPr>
            <a:spLocks noGrp="1"/>
          </p:cNvSpPr>
          <p:nvPr/>
        </p:nvSpPr>
        <p:spPr>
          <a:xfrm>
            <a:off x="523875" y="5724525"/>
            <a:ext cx="8096250" cy="504825"/>
          </a:xfrm>
          <a:prstGeom prst="rect">
            <a:avLst/>
          </a:prstGeom>
          <a:solidFill>
            <a:srgbClr val="004479"/>
          </a:solidFill>
          <a:ln w="0">
            <a:noFill/>
          </a:ln>
        </p:spPr>
        <p:txBody>
          <a:bodyPr/>
          <a:lstStyle/>
          <a:p>
            <a:endParaRPr lang="es-ES" noProof="0" dirty="0"/>
          </a:p>
        </p:txBody>
      </p:sp>
      <p:sp>
        <p:nvSpPr>
          <p:cNvPr id="19" name="text-129">
            <a:extLst>
              <a:ext uri="{FF2B5EF4-FFF2-40B4-BE49-F238E27FC236}">
                <a16:creationId xmlns:a16="http://schemas.microsoft.com/office/drawing/2014/main" id="{E17FC78B-B90B-4988-BE35-3C7442A3F06D}"/>
              </a:ext>
            </a:extLst>
          </p:cNvPr>
          <p:cNvSpPr>
            <a:spLocks noGrp="1"/>
          </p:cNvSpPr>
          <p:nvPr/>
        </p:nvSpPr>
        <p:spPr>
          <a:xfrm>
            <a:off x="704850" y="5838825"/>
            <a:ext cx="7734300" cy="304800"/>
          </a:xfrm>
          <a:prstGeom prst="rect">
            <a:avLst/>
          </a:prstGeom>
          <a:noFill/>
          <a:ln w="0">
            <a:noFill/>
          </a:ln>
        </p:spPr>
        <p:txBody>
          <a:bodyPr wrap="square" lIns="0" tIns="0" rIns="0" bIns="0" anchor="t">
            <a:noAutofit/>
          </a:bodyPr>
          <a:lstStyle/>
          <a:p>
            <a:pPr algn="l">
              <a:defRPr sz="1725" b="1">
                <a:solidFill>
                  <a:srgbClr val="FFFFFF"/>
                </a:solidFill>
                <a:latin typeface="Malacitana-Sans"/>
                <a:ea typeface="Malacitana-Sans"/>
                <a:cs typeface="Malacitana-Sans"/>
              </a:defRPr>
            </a:pPr>
            <a:r>
              <a:rPr lang="es-ES" sz="1725" b="1" noProof="0" dirty="0">
                <a:solidFill>
                  <a:srgbClr val="FFFFFF"/>
                </a:solidFill>
                <a:latin typeface="Malacitana-Sans"/>
                <a:ea typeface="Malacitana-Sans"/>
                <a:cs typeface="Malacitana-Sans"/>
              </a:rPr>
              <a:t>Detener la sesión invalida el acceso posterior.</a:t>
            </a:r>
          </a:p>
        </p:txBody>
      </p:sp>
      <p:sp>
        <p:nvSpPr>
          <p:cNvPr id="22" name="text-7">
            <a:extLst>
              <a:ext uri="{FF2B5EF4-FFF2-40B4-BE49-F238E27FC236}">
                <a16:creationId xmlns:a16="http://schemas.microsoft.com/office/drawing/2014/main" id="{A7795557-47F5-4413-A52E-16125EBCEA0B}"/>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6" name="text-130">
            <a:extLst>
              <a:ext uri="{FF2B5EF4-FFF2-40B4-BE49-F238E27FC236}">
                <a16:creationId xmlns:a16="http://schemas.microsoft.com/office/drawing/2014/main" id="{55FB2C8E-CEF2-4FD2-8A0E-BFF6742E1E9D}"/>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Fase 1: las pruebas negativas se rechazan</a:t>
            </a:r>
          </a:p>
        </p:txBody>
      </p:sp>
      <p:sp>
        <p:nvSpPr>
          <p:cNvPr id="2" name="text-131">
            <a:extLst>
              <a:ext uri="{FF2B5EF4-FFF2-40B4-BE49-F238E27FC236}">
                <a16:creationId xmlns:a16="http://schemas.microsoft.com/office/drawing/2014/main" id="{14FE9269-B85A-4A3E-BE26-0F954BEC067B}"/>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VALIDACIÓN · ACCESO Y CONCURRENCIA</a:t>
            </a:r>
          </a:p>
        </p:txBody>
      </p:sp>
      <p:sp>
        <p:nvSpPr>
          <p:cNvPr id="4" name="text-133">
            <a:extLst>
              <a:ext uri="{FF2B5EF4-FFF2-40B4-BE49-F238E27FC236}">
                <a16:creationId xmlns:a16="http://schemas.microsoft.com/office/drawing/2014/main" id="{A078C720-8F41-4EDE-A34C-468D69EB73B8}"/>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10</a:t>
            </a:r>
          </a:p>
        </p:txBody>
      </p:sp>
      <p:sp>
        <p:nvSpPr>
          <p:cNvPr id="5" name="panel-134">
            <a:extLst>
              <a:ext uri="{FF2B5EF4-FFF2-40B4-BE49-F238E27FC236}">
                <a16:creationId xmlns:a16="http://schemas.microsoft.com/office/drawing/2014/main" id="{1F5C6FE4-C988-4908-B794-08A7665F470B}"/>
              </a:ext>
            </a:extLst>
          </p:cNvPr>
          <p:cNvSpPr>
            <a:spLocks noGrp="1"/>
          </p:cNvSpPr>
          <p:nvPr/>
        </p:nvSpPr>
        <p:spPr>
          <a:xfrm>
            <a:off x="523875" y="1647825"/>
            <a:ext cx="2571750" cy="1438275"/>
          </a:xfrm>
          <a:prstGeom prst="rect">
            <a:avLst/>
          </a:prstGeom>
          <a:solidFill>
            <a:srgbClr val="EDF6FA"/>
          </a:solidFill>
          <a:ln w="0">
            <a:noFill/>
          </a:ln>
        </p:spPr>
        <p:txBody>
          <a:bodyPr/>
          <a:lstStyle/>
          <a:p>
            <a:endParaRPr lang="es-ES" noProof="0" dirty="0"/>
          </a:p>
        </p:txBody>
      </p:sp>
      <p:sp>
        <p:nvSpPr>
          <p:cNvPr id="6" name="text-135">
            <a:extLst>
              <a:ext uri="{FF2B5EF4-FFF2-40B4-BE49-F238E27FC236}">
                <a16:creationId xmlns:a16="http://schemas.microsoft.com/office/drawing/2014/main" id="{AC9E4F8A-F2FE-4CDA-A59A-B3C727F525E4}"/>
              </a:ext>
            </a:extLst>
          </p:cNvPr>
          <p:cNvSpPr>
            <a:spLocks noGrp="1"/>
          </p:cNvSpPr>
          <p:nvPr/>
        </p:nvSpPr>
        <p:spPr>
          <a:xfrm>
            <a:off x="714375" y="1809750"/>
            <a:ext cx="2190750" cy="600075"/>
          </a:xfrm>
          <a:prstGeom prst="rect">
            <a:avLst/>
          </a:prstGeom>
          <a:noFill/>
          <a:ln w="0">
            <a:noFill/>
          </a:ln>
        </p:spPr>
        <p:txBody>
          <a:bodyPr wrap="square" lIns="0" tIns="0" rIns="0" bIns="0" anchor="t">
            <a:noAutofit/>
          </a:bodyPr>
          <a:lstStyle/>
          <a:p>
            <a:pPr algn="l">
              <a:defRPr sz="3525" b="1">
                <a:solidFill>
                  <a:srgbClr val="00AAD6"/>
                </a:solidFill>
                <a:latin typeface="Malacitana-Sans"/>
                <a:ea typeface="Malacitana-Sans"/>
                <a:cs typeface="Malacitana-Sans"/>
              </a:defRPr>
            </a:pPr>
            <a:r>
              <a:rPr lang="es-ES" sz="3525" b="1" noProof="0" dirty="0">
                <a:solidFill>
                  <a:srgbClr val="00AAD6"/>
                </a:solidFill>
                <a:latin typeface="Malacitana-Sans"/>
                <a:ea typeface="Malacitana-Sans"/>
                <a:cs typeface="Malacitana-Sans"/>
              </a:rPr>
              <a:t>401</a:t>
            </a:r>
          </a:p>
        </p:txBody>
      </p:sp>
      <p:sp>
        <p:nvSpPr>
          <p:cNvPr id="7" name="text-136">
            <a:extLst>
              <a:ext uri="{FF2B5EF4-FFF2-40B4-BE49-F238E27FC236}">
                <a16:creationId xmlns:a16="http://schemas.microsoft.com/office/drawing/2014/main" id="{35EB0121-6988-4B45-AA85-F1D080C0F788}"/>
              </a:ext>
            </a:extLst>
          </p:cNvPr>
          <p:cNvSpPr>
            <a:spLocks noGrp="1"/>
          </p:cNvSpPr>
          <p:nvPr/>
        </p:nvSpPr>
        <p:spPr>
          <a:xfrm>
            <a:off x="714375" y="2562225"/>
            <a:ext cx="2190750" cy="428625"/>
          </a:xfrm>
          <a:prstGeom prst="rect">
            <a:avLst/>
          </a:prstGeom>
          <a:noFill/>
          <a:ln w="0">
            <a:noFill/>
          </a:ln>
        </p:spPr>
        <p:txBody>
          <a:bodyPr wrap="square" lIns="0" tIns="0" rIns="0" bIns="0" anchor="t">
            <a:noAutofit/>
          </a:bodyPr>
          <a:lstStyle/>
          <a:p>
            <a:pPr algn="l">
              <a:defRPr sz="1800" b="0">
                <a:solidFill>
                  <a:srgbClr val="004479"/>
                </a:solidFill>
                <a:latin typeface="Malacitana-Sans"/>
                <a:ea typeface="Malacitana-Sans"/>
                <a:cs typeface="Malacitana-Sans"/>
              </a:defRPr>
            </a:pPr>
            <a:r>
              <a:rPr lang="es-ES" sz="1800" b="0" noProof="0" dirty="0">
                <a:solidFill>
                  <a:srgbClr val="004479"/>
                </a:solidFill>
                <a:latin typeface="Malacitana-Sans"/>
                <a:ea typeface="Malacitana-Sans"/>
                <a:cs typeface="Malacitana-Sans"/>
              </a:rPr>
              <a:t>Sin token</a:t>
            </a:r>
          </a:p>
        </p:txBody>
      </p:sp>
      <p:sp>
        <p:nvSpPr>
          <p:cNvPr id="8" name="panel-137">
            <a:extLst>
              <a:ext uri="{FF2B5EF4-FFF2-40B4-BE49-F238E27FC236}">
                <a16:creationId xmlns:a16="http://schemas.microsoft.com/office/drawing/2014/main" id="{EC2C1765-3857-490B-A65E-1C3965B7587E}"/>
              </a:ext>
            </a:extLst>
          </p:cNvPr>
          <p:cNvSpPr>
            <a:spLocks noGrp="1"/>
          </p:cNvSpPr>
          <p:nvPr/>
        </p:nvSpPr>
        <p:spPr>
          <a:xfrm>
            <a:off x="3286125" y="1647825"/>
            <a:ext cx="2571750" cy="1438275"/>
          </a:xfrm>
          <a:prstGeom prst="rect">
            <a:avLst/>
          </a:prstGeom>
          <a:solidFill>
            <a:srgbClr val="EDF6FA"/>
          </a:solidFill>
          <a:ln w="0">
            <a:noFill/>
          </a:ln>
        </p:spPr>
        <p:txBody>
          <a:bodyPr/>
          <a:lstStyle/>
          <a:p>
            <a:endParaRPr lang="es-ES" noProof="0" dirty="0"/>
          </a:p>
        </p:txBody>
      </p:sp>
      <p:sp>
        <p:nvSpPr>
          <p:cNvPr id="9" name="text-138">
            <a:extLst>
              <a:ext uri="{FF2B5EF4-FFF2-40B4-BE49-F238E27FC236}">
                <a16:creationId xmlns:a16="http://schemas.microsoft.com/office/drawing/2014/main" id="{E8EDF0D7-72F9-4DF3-A58D-6B838E88E160}"/>
              </a:ext>
            </a:extLst>
          </p:cNvPr>
          <p:cNvSpPr>
            <a:spLocks noGrp="1"/>
          </p:cNvSpPr>
          <p:nvPr/>
        </p:nvSpPr>
        <p:spPr>
          <a:xfrm>
            <a:off x="3476625" y="1809750"/>
            <a:ext cx="2190750" cy="600075"/>
          </a:xfrm>
          <a:prstGeom prst="rect">
            <a:avLst/>
          </a:prstGeom>
          <a:noFill/>
          <a:ln w="0">
            <a:noFill/>
          </a:ln>
        </p:spPr>
        <p:txBody>
          <a:bodyPr wrap="square" lIns="0" tIns="0" rIns="0" bIns="0" anchor="t">
            <a:noAutofit/>
          </a:bodyPr>
          <a:lstStyle/>
          <a:p>
            <a:pPr algn="l">
              <a:defRPr sz="3525" b="1">
                <a:solidFill>
                  <a:srgbClr val="00AAD6"/>
                </a:solidFill>
                <a:latin typeface="Malacitana-Sans"/>
                <a:ea typeface="Malacitana-Sans"/>
                <a:cs typeface="Malacitana-Sans"/>
              </a:defRPr>
            </a:pPr>
            <a:r>
              <a:rPr lang="es-ES" sz="3525" b="1" noProof="0" dirty="0">
                <a:solidFill>
                  <a:srgbClr val="00AAD6"/>
                </a:solidFill>
                <a:latin typeface="Malacitana-Sans"/>
                <a:ea typeface="Malacitana-Sans"/>
                <a:cs typeface="Malacitana-Sans"/>
              </a:rPr>
              <a:t>401</a:t>
            </a:r>
          </a:p>
        </p:txBody>
      </p:sp>
      <p:sp>
        <p:nvSpPr>
          <p:cNvPr id="10" name="text-139">
            <a:extLst>
              <a:ext uri="{FF2B5EF4-FFF2-40B4-BE49-F238E27FC236}">
                <a16:creationId xmlns:a16="http://schemas.microsoft.com/office/drawing/2014/main" id="{29649F8E-84B5-4F68-B099-8D9AF5E6AE2F}"/>
              </a:ext>
            </a:extLst>
          </p:cNvPr>
          <p:cNvSpPr>
            <a:spLocks noGrp="1"/>
          </p:cNvSpPr>
          <p:nvPr/>
        </p:nvSpPr>
        <p:spPr>
          <a:xfrm>
            <a:off x="3476625" y="2562225"/>
            <a:ext cx="2190750" cy="428625"/>
          </a:xfrm>
          <a:prstGeom prst="rect">
            <a:avLst/>
          </a:prstGeom>
          <a:noFill/>
          <a:ln w="0">
            <a:noFill/>
          </a:ln>
        </p:spPr>
        <p:txBody>
          <a:bodyPr wrap="square" lIns="0" tIns="0" rIns="0" bIns="0" anchor="t">
            <a:noAutofit/>
          </a:bodyPr>
          <a:lstStyle/>
          <a:p>
            <a:pPr algn="l">
              <a:defRPr sz="1800" b="0">
                <a:solidFill>
                  <a:srgbClr val="004479"/>
                </a:solidFill>
                <a:latin typeface="Malacitana-Sans"/>
                <a:ea typeface="Malacitana-Sans"/>
                <a:cs typeface="Malacitana-Sans"/>
              </a:defRPr>
            </a:pPr>
            <a:r>
              <a:rPr lang="es-ES" sz="1800" b="0" noProof="0" dirty="0">
                <a:solidFill>
                  <a:srgbClr val="004479"/>
                </a:solidFill>
                <a:latin typeface="Malacitana-Sans"/>
                <a:ea typeface="Malacitana-Sans"/>
                <a:cs typeface="Malacitana-Sans"/>
              </a:rPr>
              <a:t>Token manipulado</a:t>
            </a:r>
          </a:p>
        </p:txBody>
      </p:sp>
      <p:sp>
        <p:nvSpPr>
          <p:cNvPr id="11" name="panel-140">
            <a:extLst>
              <a:ext uri="{FF2B5EF4-FFF2-40B4-BE49-F238E27FC236}">
                <a16:creationId xmlns:a16="http://schemas.microsoft.com/office/drawing/2014/main" id="{F0FA7AC3-6138-4142-9896-685AEFE881CA}"/>
              </a:ext>
            </a:extLst>
          </p:cNvPr>
          <p:cNvSpPr>
            <a:spLocks noGrp="1"/>
          </p:cNvSpPr>
          <p:nvPr/>
        </p:nvSpPr>
        <p:spPr>
          <a:xfrm>
            <a:off x="6048375" y="1647825"/>
            <a:ext cx="2571750" cy="1438275"/>
          </a:xfrm>
          <a:prstGeom prst="rect">
            <a:avLst/>
          </a:prstGeom>
          <a:solidFill>
            <a:srgbClr val="EDF6FA"/>
          </a:solidFill>
          <a:ln w="0">
            <a:noFill/>
          </a:ln>
        </p:spPr>
        <p:txBody>
          <a:bodyPr/>
          <a:lstStyle/>
          <a:p>
            <a:endParaRPr lang="es-ES" noProof="0" dirty="0"/>
          </a:p>
        </p:txBody>
      </p:sp>
      <p:sp>
        <p:nvSpPr>
          <p:cNvPr id="12" name="text-141">
            <a:extLst>
              <a:ext uri="{FF2B5EF4-FFF2-40B4-BE49-F238E27FC236}">
                <a16:creationId xmlns:a16="http://schemas.microsoft.com/office/drawing/2014/main" id="{CAD6AACE-6460-46A6-B6FF-D3593518F15B}"/>
              </a:ext>
            </a:extLst>
          </p:cNvPr>
          <p:cNvSpPr>
            <a:spLocks noGrp="1"/>
          </p:cNvSpPr>
          <p:nvPr/>
        </p:nvSpPr>
        <p:spPr>
          <a:xfrm>
            <a:off x="6238875" y="1809750"/>
            <a:ext cx="2190750" cy="600075"/>
          </a:xfrm>
          <a:prstGeom prst="rect">
            <a:avLst/>
          </a:prstGeom>
          <a:noFill/>
          <a:ln w="0">
            <a:noFill/>
          </a:ln>
        </p:spPr>
        <p:txBody>
          <a:bodyPr wrap="square" lIns="0" tIns="0" rIns="0" bIns="0" anchor="t">
            <a:noAutofit/>
          </a:bodyPr>
          <a:lstStyle/>
          <a:p>
            <a:pPr algn="l">
              <a:defRPr sz="3525" b="1">
                <a:solidFill>
                  <a:srgbClr val="00AAD6"/>
                </a:solidFill>
                <a:latin typeface="Malacitana-Sans"/>
                <a:ea typeface="Malacitana-Sans"/>
                <a:cs typeface="Malacitana-Sans"/>
              </a:defRPr>
            </a:pPr>
            <a:r>
              <a:rPr lang="es-ES" sz="3525" b="1" noProof="0" dirty="0">
                <a:solidFill>
                  <a:srgbClr val="00AAD6"/>
                </a:solidFill>
                <a:latin typeface="Malacitana-Sans"/>
                <a:ea typeface="Malacitana-Sans"/>
                <a:cs typeface="Malacitana-Sans"/>
              </a:rPr>
              <a:t>409</a:t>
            </a:r>
          </a:p>
        </p:txBody>
      </p:sp>
      <p:sp>
        <p:nvSpPr>
          <p:cNvPr id="13" name="text-142">
            <a:extLst>
              <a:ext uri="{FF2B5EF4-FFF2-40B4-BE49-F238E27FC236}">
                <a16:creationId xmlns:a16="http://schemas.microsoft.com/office/drawing/2014/main" id="{A5E58203-5F14-4133-8C76-BB7B154DFDE9}"/>
              </a:ext>
            </a:extLst>
          </p:cNvPr>
          <p:cNvSpPr>
            <a:spLocks noGrp="1"/>
          </p:cNvSpPr>
          <p:nvPr/>
        </p:nvSpPr>
        <p:spPr>
          <a:xfrm>
            <a:off x="6238875" y="2562225"/>
            <a:ext cx="2190750" cy="428625"/>
          </a:xfrm>
          <a:prstGeom prst="rect">
            <a:avLst/>
          </a:prstGeom>
          <a:noFill/>
          <a:ln w="0">
            <a:noFill/>
          </a:ln>
        </p:spPr>
        <p:txBody>
          <a:bodyPr wrap="square" lIns="0" tIns="0" rIns="0" bIns="0" anchor="t">
            <a:noAutofit/>
          </a:bodyPr>
          <a:lstStyle/>
          <a:p>
            <a:pPr algn="l">
              <a:defRPr sz="1800" b="0">
                <a:solidFill>
                  <a:srgbClr val="004479"/>
                </a:solidFill>
                <a:latin typeface="Malacitana-Sans"/>
                <a:ea typeface="Malacitana-Sans"/>
                <a:cs typeface="Malacitana-Sans"/>
              </a:defRPr>
            </a:pPr>
            <a:r>
              <a:rPr lang="es-ES" sz="1800" b="0" noProof="0" dirty="0">
                <a:solidFill>
                  <a:srgbClr val="004479"/>
                </a:solidFill>
                <a:latin typeface="Malacitana-Sans"/>
                <a:ea typeface="Malacitana-Sans"/>
                <a:cs typeface="Malacitana-Sans"/>
              </a:rPr>
              <a:t>Sesión incorrecta</a:t>
            </a:r>
          </a:p>
        </p:txBody>
      </p:sp>
      <p:sp>
        <p:nvSpPr>
          <p:cNvPr id="14" name="panel-143">
            <a:extLst>
              <a:ext uri="{FF2B5EF4-FFF2-40B4-BE49-F238E27FC236}">
                <a16:creationId xmlns:a16="http://schemas.microsoft.com/office/drawing/2014/main" id="{73CCA79A-613A-4BF5-A7D7-427F28C56077}"/>
              </a:ext>
            </a:extLst>
          </p:cNvPr>
          <p:cNvSpPr>
            <a:spLocks noGrp="1"/>
          </p:cNvSpPr>
          <p:nvPr/>
        </p:nvSpPr>
        <p:spPr>
          <a:xfrm>
            <a:off x="523875" y="3305175"/>
            <a:ext cx="2571750" cy="1438275"/>
          </a:xfrm>
          <a:prstGeom prst="rect">
            <a:avLst/>
          </a:prstGeom>
          <a:solidFill>
            <a:srgbClr val="EDF6FA"/>
          </a:solidFill>
          <a:ln w="0">
            <a:noFill/>
          </a:ln>
        </p:spPr>
        <p:txBody>
          <a:bodyPr/>
          <a:lstStyle/>
          <a:p>
            <a:endParaRPr lang="es-ES" noProof="0" dirty="0"/>
          </a:p>
        </p:txBody>
      </p:sp>
      <p:sp>
        <p:nvSpPr>
          <p:cNvPr id="15" name="text-144">
            <a:extLst>
              <a:ext uri="{FF2B5EF4-FFF2-40B4-BE49-F238E27FC236}">
                <a16:creationId xmlns:a16="http://schemas.microsoft.com/office/drawing/2014/main" id="{A43DF304-574D-41AF-89BD-375B3849CC52}"/>
              </a:ext>
            </a:extLst>
          </p:cNvPr>
          <p:cNvSpPr>
            <a:spLocks noGrp="1"/>
          </p:cNvSpPr>
          <p:nvPr/>
        </p:nvSpPr>
        <p:spPr>
          <a:xfrm>
            <a:off x="714375" y="3467100"/>
            <a:ext cx="2190750" cy="600075"/>
          </a:xfrm>
          <a:prstGeom prst="rect">
            <a:avLst/>
          </a:prstGeom>
          <a:noFill/>
          <a:ln w="0">
            <a:noFill/>
          </a:ln>
        </p:spPr>
        <p:txBody>
          <a:bodyPr wrap="square" lIns="0" tIns="0" rIns="0" bIns="0" anchor="t">
            <a:noAutofit/>
          </a:bodyPr>
          <a:lstStyle/>
          <a:p>
            <a:pPr algn="l">
              <a:defRPr sz="3525" b="1">
                <a:solidFill>
                  <a:srgbClr val="00AAD6"/>
                </a:solidFill>
                <a:latin typeface="Malacitana-Sans"/>
                <a:ea typeface="Malacitana-Sans"/>
                <a:cs typeface="Malacitana-Sans"/>
              </a:defRPr>
            </a:pPr>
            <a:r>
              <a:rPr lang="es-ES" sz="3525" b="1" noProof="0" dirty="0">
                <a:solidFill>
                  <a:srgbClr val="00AAD6"/>
                </a:solidFill>
                <a:latin typeface="Malacitana-Sans"/>
                <a:ea typeface="Malacitana-Sans"/>
                <a:cs typeface="Malacitana-Sans"/>
              </a:rPr>
              <a:t>403</a:t>
            </a:r>
          </a:p>
        </p:txBody>
      </p:sp>
      <p:sp>
        <p:nvSpPr>
          <p:cNvPr id="16" name="text-145">
            <a:extLst>
              <a:ext uri="{FF2B5EF4-FFF2-40B4-BE49-F238E27FC236}">
                <a16:creationId xmlns:a16="http://schemas.microsoft.com/office/drawing/2014/main" id="{CAD86662-27B9-4DE9-9E7A-28006282726E}"/>
              </a:ext>
            </a:extLst>
          </p:cNvPr>
          <p:cNvSpPr>
            <a:spLocks noGrp="1"/>
          </p:cNvSpPr>
          <p:nvPr/>
        </p:nvSpPr>
        <p:spPr>
          <a:xfrm>
            <a:off x="714375" y="4219575"/>
            <a:ext cx="2190750" cy="428625"/>
          </a:xfrm>
          <a:prstGeom prst="rect">
            <a:avLst/>
          </a:prstGeom>
          <a:noFill/>
          <a:ln w="0">
            <a:noFill/>
          </a:ln>
        </p:spPr>
        <p:txBody>
          <a:bodyPr wrap="square" lIns="0" tIns="0" rIns="0" bIns="0" anchor="t">
            <a:noAutofit/>
          </a:bodyPr>
          <a:lstStyle/>
          <a:p>
            <a:pPr algn="l">
              <a:defRPr sz="1800" b="0">
                <a:solidFill>
                  <a:srgbClr val="004479"/>
                </a:solidFill>
                <a:latin typeface="Malacitana-Sans"/>
                <a:ea typeface="Malacitana-Sans"/>
                <a:cs typeface="Malacitana-Sans"/>
              </a:defRPr>
            </a:pPr>
            <a:r>
              <a:rPr lang="es-ES" sz="1800" b="0" noProof="0" dirty="0">
                <a:solidFill>
                  <a:srgbClr val="004479"/>
                </a:solidFill>
                <a:latin typeface="Malacitana-Sans"/>
                <a:ea typeface="Malacitana-Sans"/>
                <a:cs typeface="Malacitana-Sans"/>
              </a:rPr>
              <a:t>Activo no permitido</a:t>
            </a:r>
          </a:p>
        </p:txBody>
      </p:sp>
      <p:sp>
        <p:nvSpPr>
          <p:cNvPr id="17" name="panel-146">
            <a:extLst>
              <a:ext uri="{FF2B5EF4-FFF2-40B4-BE49-F238E27FC236}">
                <a16:creationId xmlns:a16="http://schemas.microsoft.com/office/drawing/2014/main" id="{BCEE7C42-8EBB-450D-8779-BA3C6FC6E373}"/>
              </a:ext>
            </a:extLst>
          </p:cNvPr>
          <p:cNvSpPr>
            <a:spLocks noGrp="1"/>
          </p:cNvSpPr>
          <p:nvPr/>
        </p:nvSpPr>
        <p:spPr>
          <a:xfrm>
            <a:off x="3286125" y="3305175"/>
            <a:ext cx="2571750" cy="1438275"/>
          </a:xfrm>
          <a:prstGeom prst="rect">
            <a:avLst/>
          </a:prstGeom>
          <a:solidFill>
            <a:srgbClr val="EDF6FA"/>
          </a:solidFill>
          <a:ln w="0">
            <a:noFill/>
          </a:ln>
        </p:spPr>
        <p:txBody>
          <a:bodyPr/>
          <a:lstStyle/>
          <a:p>
            <a:endParaRPr lang="es-ES" noProof="0" dirty="0"/>
          </a:p>
        </p:txBody>
      </p:sp>
      <p:sp>
        <p:nvSpPr>
          <p:cNvPr id="18" name="text-147">
            <a:extLst>
              <a:ext uri="{FF2B5EF4-FFF2-40B4-BE49-F238E27FC236}">
                <a16:creationId xmlns:a16="http://schemas.microsoft.com/office/drawing/2014/main" id="{10944747-ED72-4A55-8AA8-76FFB3873752}"/>
              </a:ext>
            </a:extLst>
          </p:cNvPr>
          <p:cNvSpPr>
            <a:spLocks noGrp="1"/>
          </p:cNvSpPr>
          <p:nvPr/>
        </p:nvSpPr>
        <p:spPr>
          <a:xfrm>
            <a:off x="3476625" y="3467100"/>
            <a:ext cx="2190750" cy="600075"/>
          </a:xfrm>
          <a:prstGeom prst="rect">
            <a:avLst/>
          </a:prstGeom>
          <a:noFill/>
          <a:ln w="0">
            <a:noFill/>
          </a:ln>
        </p:spPr>
        <p:txBody>
          <a:bodyPr wrap="square" lIns="0" tIns="0" rIns="0" bIns="0" anchor="t">
            <a:noAutofit/>
          </a:bodyPr>
          <a:lstStyle/>
          <a:p>
            <a:pPr algn="l">
              <a:defRPr sz="3525" b="1">
                <a:solidFill>
                  <a:srgbClr val="00AAD6"/>
                </a:solidFill>
                <a:latin typeface="Malacitana-Sans"/>
                <a:ea typeface="Malacitana-Sans"/>
                <a:cs typeface="Malacitana-Sans"/>
              </a:defRPr>
            </a:pPr>
            <a:r>
              <a:rPr lang="es-ES" sz="3525" b="1" noProof="0" dirty="0">
                <a:solidFill>
                  <a:srgbClr val="00AAD6"/>
                </a:solidFill>
                <a:latin typeface="Malacitana-Sans"/>
                <a:ea typeface="Malacitana-Sans"/>
                <a:cs typeface="Malacitana-Sans"/>
              </a:rPr>
              <a:t>409</a:t>
            </a:r>
          </a:p>
        </p:txBody>
      </p:sp>
      <p:sp>
        <p:nvSpPr>
          <p:cNvPr id="19" name="text-148">
            <a:extLst>
              <a:ext uri="{FF2B5EF4-FFF2-40B4-BE49-F238E27FC236}">
                <a16:creationId xmlns:a16="http://schemas.microsoft.com/office/drawing/2014/main" id="{3173DB05-6756-4151-A07E-10D3A851B64A}"/>
              </a:ext>
            </a:extLst>
          </p:cNvPr>
          <p:cNvSpPr>
            <a:spLocks noGrp="1"/>
          </p:cNvSpPr>
          <p:nvPr/>
        </p:nvSpPr>
        <p:spPr>
          <a:xfrm>
            <a:off x="3476625" y="4219575"/>
            <a:ext cx="2190750" cy="428625"/>
          </a:xfrm>
          <a:prstGeom prst="rect">
            <a:avLst/>
          </a:prstGeom>
          <a:noFill/>
          <a:ln w="0">
            <a:noFill/>
          </a:ln>
        </p:spPr>
        <p:txBody>
          <a:bodyPr wrap="square" lIns="0" tIns="0" rIns="0" bIns="0" anchor="t">
            <a:noAutofit/>
          </a:bodyPr>
          <a:lstStyle/>
          <a:p>
            <a:pPr algn="l">
              <a:defRPr sz="1800" b="0">
                <a:solidFill>
                  <a:srgbClr val="004479"/>
                </a:solidFill>
                <a:latin typeface="Malacitana-Sans"/>
                <a:ea typeface="Malacitana-Sans"/>
                <a:cs typeface="Malacitana-Sans"/>
              </a:defRPr>
            </a:pPr>
            <a:r>
              <a:rPr lang="es-ES" sz="1800" b="0" noProof="0" dirty="0">
                <a:solidFill>
                  <a:srgbClr val="004479"/>
                </a:solidFill>
                <a:latin typeface="Malacitana-Sans"/>
                <a:ea typeface="Malacitana-Sans"/>
                <a:cs typeface="Malacitana-Sans"/>
              </a:rPr>
              <a:t>Segunda sesión</a:t>
            </a:r>
          </a:p>
        </p:txBody>
      </p:sp>
      <p:sp>
        <p:nvSpPr>
          <p:cNvPr id="20" name="panel-149">
            <a:extLst>
              <a:ext uri="{FF2B5EF4-FFF2-40B4-BE49-F238E27FC236}">
                <a16:creationId xmlns:a16="http://schemas.microsoft.com/office/drawing/2014/main" id="{D7D2509F-8210-4F08-BBBA-E78E6A0A7EFB}"/>
              </a:ext>
            </a:extLst>
          </p:cNvPr>
          <p:cNvSpPr>
            <a:spLocks noGrp="1"/>
          </p:cNvSpPr>
          <p:nvPr/>
        </p:nvSpPr>
        <p:spPr>
          <a:xfrm>
            <a:off x="6048375" y="3305175"/>
            <a:ext cx="2571750" cy="1438275"/>
          </a:xfrm>
          <a:prstGeom prst="rect">
            <a:avLst/>
          </a:prstGeom>
          <a:solidFill>
            <a:srgbClr val="EDF6FA"/>
          </a:solidFill>
          <a:ln w="0">
            <a:noFill/>
          </a:ln>
        </p:spPr>
        <p:txBody>
          <a:bodyPr/>
          <a:lstStyle/>
          <a:p>
            <a:endParaRPr lang="es-ES" noProof="0" dirty="0"/>
          </a:p>
        </p:txBody>
      </p:sp>
      <p:sp>
        <p:nvSpPr>
          <p:cNvPr id="21" name="text-150">
            <a:extLst>
              <a:ext uri="{FF2B5EF4-FFF2-40B4-BE49-F238E27FC236}">
                <a16:creationId xmlns:a16="http://schemas.microsoft.com/office/drawing/2014/main" id="{20E43210-F0BC-496D-B6E4-F5A03A6CF543}"/>
              </a:ext>
            </a:extLst>
          </p:cNvPr>
          <p:cNvSpPr>
            <a:spLocks noGrp="1"/>
          </p:cNvSpPr>
          <p:nvPr/>
        </p:nvSpPr>
        <p:spPr>
          <a:xfrm>
            <a:off x="6238875" y="3467100"/>
            <a:ext cx="2190750" cy="600075"/>
          </a:xfrm>
          <a:prstGeom prst="rect">
            <a:avLst/>
          </a:prstGeom>
          <a:noFill/>
          <a:ln w="0">
            <a:noFill/>
          </a:ln>
        </p:spPr>
        <p:txBody>
          <a:bodyPr wrap="square" lIns="0" tIns="0" rIns="0" bIns="0" anchor="t">
            <a:noAutofit/>
          </a:bodyPr>
          <a:lstStyle/>
          <a:p>
            <a:pPr algn="l">
              <a:defRPr sz="3525" b="1">
                <a:solidFill>
                  <a:srgbClr val="00AAD6"/>
                </a:solidFill>
                <a:latin typeface="Malacitana-Sans"/>
                <a:ea typeface="Malacitana-Sans"/>
                <a:cs typeface="Malacitana-Sans"/>
              </a:defRPr>
            </a:pPr>
            <a:r>
              <a:rPr lang="es-ES" sz="3525" b="1" noProof="0" dirty="0">
                <a:solidFill>
                  <a:srgbClr val="00AAD6"/>
                </a:solidFill>
                <a:latin typeface="Malacitana-Sans"/>
                <a:ea typeface="Malacitana-Sans"/>
                <a:cs typeface="Malacitana-Sans"/>
              </a:rPr>
              <a:t>401</a:t>
            </a:r>
          </a:p>
        </p:txBody>
      </p:sp>
      <p:sp>
        <p:nvSpPr>
          <p:cNvPr id="22" name="text-151">
            <a:extLst>
              <a:ext uri="{FF2B5EF4-FFF2-40B4-BE49-F238E27FC236}">
                <a16:creationId xmlns:a16="http://schemas.microsoft.com/office/drawing/2014/main" id="{15512583-4E12-4D0C-B104-CDE2325BBBB6}"/>
              </a:ext>
            </a:extLst>
          </p:cNvPr>
          <p:cNvSpPr>
            <a:spLocks noGrp="1"/>
          </p:cNvSpPr>
          <p:nvPr/>
        </p:nvSpPr>
        <p:spPr>
          <a:xfrm>
            <a:off x="6238875" y="4219575"/>
            <a:ext cx="2190750" cy="428625"/>
          </a:xfrm>
          <a:prstGeom prst="rect">
            <a:avLst/>
          </a:prstGeom>
          <a:noFill/>
          <a:ln w="0">
            <a:noFill/>
          </a:ln>
        </p:spPr>
        <p:txBody>
          <a:bodyPr wrap="square" lIns="0" tIns="0" rIns="0" bIns="0" anchor="t">
            <a:noAutofit/>
          </a:bodyPr>
          <a:lstStyle/>
          <a:p>
            <a:pPr algn="l">
              <a:defRPr sz="1800" b="0">
                <a:solidFill>
                  <a:srgbClr val="004479"/>
                </a:solidFill>
                <a:latin typeface="Malacitana-Sans"/>
                <a:ea typeface="Malacitana-Sans"/>
                <a:cs typeface="Malacitana-Sans"/>
              </a:defRPr>
            </a:pPr>
            <a:r>
              <a:rPr lang="es-ES" sz="1800" b="0" noProof="0" dirty="0">
                <a:solidFill>
                  <a:srgbClr val="004479"/>
                </a:solidFill>
                <a:latin typeface="Malacitana-Sans"/>
                <a:ea typeface="Malacitana-Sans"/>
                <a:cs typeface="Malacitana-Sans"/>
              </a:rPr>
              <a:t>Sesión detenida</a:t>
            </a:r>
          </a:p>
        </p:txBody>
      </p:sp>
      <p:sp>
        <p:nvSpPr>
          <p:cNvPr id="23" name="text-152">
            <a:extLst>
              <a:ext uri="{FF2B5EF4-FFF2-40B4-BE49-F238E27FC236}">
                <a16:creationId xmlns:a16="http://schemas.microsoft.com/office/drawing/2014/main" id="{E34EF4E1-1F79-40C3-8A19-3910A88B449A}"/>
              </a:ext>
            </a:extLst>
          </p:cNvPr>
          <p:cNvSpPr>
            <a:spLocks noGrp="1"/>
          </p:cNvSpPr>
          <p:nvPr/>
        </p:nvSpPr>
        <p:spPr>
          <a:xfrm>
            <a:off x="523875" y="5219700"/>
            <a:ext cx="8096250" cy="409575"/>
          </a:xfrm>
          <a:prstGeom prst="rect">
            <a:avLst/>
          </a:prstGeom>
          <a:noFill/>
          <a:ln w="0">
            <a:noFill/>
          </a:ln>
        </p:spPr>
        <p:txBody>
          <a:bodyPr wrap="square" lIns="0" tIns="0" rIns="0" bIns="0" anchor="t">
            <a:noAutofit/>
          </a:bodyPr>
          <a:lstStyle/>
          <a:p>
            <a:pPr algn="l">
              <a:defRPr sz="2325" b="1">
                <a:solidFill>
                  <a:srgbClr val="004479"/>
                </a:solidFill>
                <a:latin typeface="Malacitana-Sans"/>
                <a:ea typeface="Malacitana-Sans"/>
                <a:cs typeface="Malacitana-Sans"/>
              </a:defRPr>
            </a:pPr>
            <a:r>
              <a:rPr lang="es-ES" sz="2325" b="1" noProof="0" dirty="0">
                <a:solidFill>
                  <a:srgbClr val="004479"/>
                </a:solidFill>
                <a:latin typeface="Malacitana-Sans"/>
                <a:ea typeface="Malacitana-Sans"/>
                <a:cs typeface="Malacitana-Sans"/>
              </a:rPr>
              <a:t>32 / 32 pruebas de Fase 1 superadas</a:t>
            </a:r>
          </a:p>
        </p:txBody>
      </p:sp>
      <p:sp>
        <p:nvSpPr>
          <p:cNvPr id="24" name="panel-153">
            <a:extLst>
              <a:ext uri="{FF2B5EF4-FFF2-40B4-BE49-F238E27FC236}">
                <a16:creationId xmlns:a16="http://schemas.microsoft.com/office/drawing/2014/main" id="{D207E8D8-59B4-4C49-A580-216B9726F2D4}"/>
              </a:ext>
            </a:extLst>
          </p:cNvPr>
          <p:cNvSpPr>
            <a:spLocks noGrp="1"/>
          </p:cNvSpPr>
          <p:nvPr/>
        </p:nvSpPr>
        <p:spPr>
          <a:xfrm>
            <a:off x="523875" y="5724525"/>
            <a:ext cx="8096250" cy="504825"/>
          </a:xfrm>
          <a:prstGeom prst="rect">
            <a:avLst/>
          </a:prstGeom>
          <a:solidFill>
            <a:srgbClr val="004479"/>
          </a:solidFill>
          <a:ln w="0">
            <a:noFill/>
          </a:ln>
        </p:spPr>
        <p:txBody>
          <a:bodyPr/>
          <a:lstStyle/>
          <a:p>
            <a:endParaRPr lang="es-ES" noProof="0" dirty="0"/>
          </a:p>
        </p:txBody>
      </p:sp>
      <p:sp>
        <p:nvSpPr>
          <p:cNvPr id="25" name="text-154">
            <a:extLst>
              <a:ext uri="{FF2B5EF4-FFF2-40B4-BE49-F238E27FC236}">
                <a16:creationId xmlns:a16="http://schemas.microsoft.com/office/drawing/2014/main" id="{6C81A738-C204-4635-9378-7F1132F6792C}"/>
              </a:ext>
            </a:extLst>
          </p:cNvPr>
          <p:cNvSpPr>
            <a:spLocks noGrp="1"/>
          </p:cNvSpPr>
          <p:nvPr/>
        </p:nvSpPr>
        <p:spPr>
          <a:xfrm>
            <a:off x="704850" y="5838825"/>
            <a:ext cx="7734300" cy="304800"/>
          </a:xfrm>
          <a:prstGeom prst="rect">
            <a:avLst/>
          </a:prstGeom>
          <a:noFill/>
          <a:ln w="0">
            <a:noFill/>
          </a:ln>
        </p:spPr>
        <p:txBody>
          <a:bodyPr wrap="square" lIns="0" tIns="0" rIns="0" bIns="0" anchor="t">
            <a:noAutofit/>
          </a:bodyPr>
          <a:lstStyle/>
          <a:p>
            <a:pPr algn="l">
              <a:defRPr sz="1725" b="1">
                <a:solidFill>
                  <a:srgbClr val="FFFFFF"/>
                </a:solidFill>
                <a:latin typeface="Malacitana-Sans"/>
                <a:ea typeface="Malacitana-Sans"/>
                <a:cs typeface="Malacitana-Sans"/>
              </a:defRPr>
            </a:pPr>
            <a:r>
              <a:rPr lang="es-ES" sz="1725" b="1" noProof="0" dirty="0">
                <a:solidFill>
                  <a:srgbClr val="FFFFFF"/>
                </a:solidFill>
                <a:latin typeface="Malacitana-Sans"/>
                <a:ea typeface="Malacitana-Sans"/>
                <a:cs typeface="Malacitana-Sans"/>
              </a:rPr>
              <a:t>Ruta alternativa retirada · origen y proxy de licencia internos</a:t>
            </a:r>
          </a:p>
        </p:txBody>
      </p:sp>
      <p:sp>
        <p:nvSpPr>
          <p:cNvPr id="28" name="text-7">
            <a:extLst>
              <a:ext uri="{FF2B5EF4-FFF2-40B4-BE49-F238E27FC236}">
                <a16:creationId xmlns:a16="http://schemas.microsoft.com/office/drawing/2014/main" id="{73DDFAB6-C412-B90C-2F1A-31AA297EE7BE}"/>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text-155">
            <a:extLst>
              <a:ext uri="{FF2B5EF4-FFF2-40B4-BE49-F238E27FC236}">
                <a16:creationId xmlns:a16="http://schemas.microsoft.com/office/drawing/2014/main" id="{7C9F230B-BDC1-478D-835E-DAE8448A7D57}"/>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Fase 2: convertir señales en respuesta</a:t>
            </a:r>
          </a:p>
        </p:txBody>
      </p:sp>
      <p:sp>
        <p:nvSpPr>
          <p:cNvPr id="2" name="text-156">
            <a:extLst>
              <a:ext uri="{FF2B5EF4-FFF2-40B4-BE49-F238E27FC236}">
                <a16:creationId xmlns:a16="http://schemas.microsoft.com/office/drawing/2014/main" id="{20217074-4346-4B9A-9AF6-A44CAA116BDE}"/>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DETECCIÓN · CORRELACIÓN Y ESTADO</a:t>
            </a:r>
          </a:p>
        </p:txBody>
      </p:sp>
      <p:sp>
        <p:nvSpPr>
          <p:cNvPr id="4" name="text-158">
            <a:extLst>
              <a:ext uri="{FF2B5EF4-FFF2-40B4-BE49-F238E27FC236}">
                <a16:creationId xmlns:a16="http://schemas.microsoft.com/office/drawing/2014/main" id="{EFD75787-F19C-4715-B3DC-E573EB4D48F8}"/>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11</a:t>
            </a:r>
          </a:p>
        </p:txBody>
      </p:sp>
      <p:pic>
        <p:nvPicPr>
          <p:cNvPr id="12" name="Imagen 11"/>
          <p:cNvPicPr>
            <a:picLocks noChangeAspect="1"/>
          </p:cNvPicPr>
          <p:nvPr/>
        </p:nvPicPr>
        <p:blipFill>
          <a:blip r:embed="rId4"/>
          <a:stretch/>
        </p:blipFill>
        <p:spPr>
          <a:xfrm>
            <a:off x="523875" y="1744861"/>
            <a:ext cx="8096250" cy="3663553"/>
          </a:xfrm>
          <a:prstGeom prst="rect">
            <a:avLst/>
          </a:prstGeom>
        </p:spPr>
      </p:pic>
      <p:sp>
        <p:nvSpPr>
          <p:cNvPr id="6" name="panel-159">
            <a:extLst>
              <a:ext uri="{FF2B5EF4-FFF2-40B4-BE49-F238E27FC236}">
                <a16:creationId xmlns:a16="http://schemas.microsoft.com/office/drawing/2014/main" id="{CFB22977-B121-4097-8CE5-79C0AD0E4B48}"/>
              </a:ext>
            </a:extLst>
          </p:cNvPr>
          <p:cNvSpPr>
            <a:spLocks noGrp="1"/>
          </p:cNvSpPr>
          <p:nvPr/>
        </p:nvSpPr>
        <p:spPr>
          <a:xfrm>
            <a:off x="523875" y="5724525"/>
            <a:ext cx="8096250" cy="504825"/>
          </a:xfrm>
          <a:prstGeom prst="rect">
            <a:avLst/>
          </a:prstGeom>
          <a:solidFill>
            <a:srgbClr val="004479"/>
          </a:solidFill>
          <a:ln w="0">
            <a:noFill/>
          </a:ln>
        </p:spPr>
        <p:txBody>
          <a:bodyPr/>
          <a:lstStyle/>
          <a:p>
            <a:endParaRPr lang="es-ES" noProof="0" dirty="0"/>
          </a:p>
        </p:txBody>
      </p:sp>
      <p:sp>
        <p:nvSpPr>
          <p:cNvPr id="7" name="text-160">
            <a:extLst>
              <a:ext uri="{FF2B5EF4-FFF2-40B4-BE49-F238E27FC236}">
                <a16:creationId xmlns:a16="http://schemas.microsoft.com/office/drawing/2014/main" id="{AA10B7AB-9B2B-44B2-A1E1-C83E260CD512}"/>
              </a:ext>
            </a:extLst>
          </p:cNvPr>
          <p:cNvSpPr>
            <a:spLocks noGrp="1"/>
          </p:cNvSpPr>
          <p:nvPr/>
        </p:nvSpPr>
        <p:spPr>
          <a:xfrm>
            <a:off x="704850" y="5838825"/>
            <a:ext cx="7734300" cy="304800"/>
          </a:xfrm>
          <a:prstGeom prst="rect">
            <a:avLst/>
          </a:prstGeom>
          <a:noFill/>
          <a:ln w="0">
            <a:noFill/>
          </a:ln>
        </p:spPr>
        <p:txBody>
          <a:bodyPr wrap="square" lIns="0" tIns="0" rIns="0" bIns="0" anchor="t">
            <a:noAutofit/>
          </a:bodyPr>
          <a:lstStyle/>
          <a:p>
            <a:pPr algn="l">
              <a:defRPr sz="1725" b="1">
                <a:solidFill>
                  <a:srgbClr val="FFFFFF"/>
                </a:solidFill>
                <a:latin typeface="Malacitana-Sans"/>
                <a:ea typeface="Malacitana-Sans"/>
                <a:cs typeface="Malacitana-Sans"/>
              </a:defRPr>
            </a:pPr>
            <a:r>
              <a:rPr lang="es-ES" sz="1725" b="1" noProof="0" dirty="0">
                <a:solidFill>
                  <a:srgbClr val="FFFFFF"/>
                </a:solidFill>
                <a:latin typeface="Malacitana-Sans"/>
                <a:ea typeface="Malacitana-Sans"/>
                <a:cs typeface="Malacitana-Sans"/>
              </a:rPr>
              <a:t>Redis: eventos, contadores temporales y riesgo por cuenta</a:t>
            </a:r>
          </a:p>
        </p:txBody>
      </p:sp>
      <p:sp>
        <p:nvSpPr>
          <p:cNvPr id="9" name="text-7">
            <a:extLst>
              <a:ext uri="{FF2B5EF4-FFF2-40B4-BE49-F238E27FC236}">
                <a16:creationId xmlns:a16="http://schemas.microsoft.com/office/drawing/2014/main" id="{9F8028E6-B24F-0A45-1F55-3097737DD0E6}"/>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15" name="text-161">
            <a:extLst>
              <a:ext uri="{FF2B5EF4-FFF2-40B4-BE49-F238E27FC236}">
                <a16:creationId xmlns:a16="http://schemas.microsoft.com/office/drawing/2014/main" id="{6A1177D6-0760-4AFA-A152-263987738D57}"/>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Fase 2: bloqueo y recuperación comprobados</a:t>
            </a:r>
          </a:p>
        </p:txBody>
      </p:sp>
      <p:sp>
        <p:nvSpPr>
          <p:cNvPr id="2" name="text-162">
            <a:extLst>
              <a:ext uri="{FF2B5EF4-FFF2-40B4-BE49-F238E27FC236}">
                <a16:creationId xmlns:a16="http://schemas.microsoft.com/office/drawing/2014/main" id="{E6038CB6-0275-4038-827C-40FD9973FE2E}"/>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AUDITORÍA · ABUSO REPETIDO</a:t>
            </a:r>
          </a:p>
        </p:txBody>
      </p:sp>
      <p:sp>
        <p:nvSpPr>
          <p:cNvPr id="4" name="text-164">
            <a:extLst>
              <a:ext uri="{FF2B5EF4-FFF2-40B4-BE49-F238E27FC236}">
                <a16:creationId xmlns:a16="http://schemas.microsoft.com/office/drawing/2014/main" id="{0D69A497-EF73-4E87-8F9E-F4DF6BC309B0}"/>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12</a:t>
            </a:r>
          </a:p>
        </p:txBody>
      </p:sp>
      <p:sp>
        <p:nvSpPr>
          <p:cNvPr id="5" name="text-165">
            <a:extLst>
              <a:ext uri="{FF2B5EF4-FFF2-40B4-BE49-F238E27FC236}">
                <a16:creationId xmlns:a16="http://schemas.microsoft.com/office/drawing/2014/main" id="{022877B4-EC7F-4E4C-B2C3-FF9B7B09E187}"/>
              </a:ext>
            </a:extLst>
          </p:cNvPr>
          <p:cNvSpPr>
            <a:spLocks noGrp="1"/>
          </p:cNvSpPr>
          <p:nvPr/>
        </p:nvSpPr>
        <p:spPr>
          <a:xfrm>
            <a:off x="523875" y="1533525"/>
            <a:ext cx="8096250" cy="438150"/>
          </a:xfrm>
          <a:prstGeom prst="rect">
            <a:avLst/>
          </a:prstGeom>
          <a:noFill/>
          <a:ln w="0">
            <a:noFill/>
          </a:ln>
        </p:spPr>
        <p:txBody>
          <a:bodyPr wrap="square" lIns="0" tIns="0" rIns="0" bIns="0" anchor="t">
            <a:noAutofit/>
          </a:bodyPr>
          <a:lstStyle/>
          <a:p>
            <a:pPr algn="l">
              <a:defRPr sz="2175" b="1">
                <a:solidFill>
                  <a:srgbClr val="004479"/>
                </a:solidFill>
                <a:latin typeface="Malacitana-Sans"/>
                <a:ea typeface="Malacitana-Sans"/>
                <a:cs typeface="Malacitana-Sans"/>
              </a:defRPr>
            </a:pPr>
            <a:r>
              <a:rPr lang="es-ES" sz="2175" b="1" noProof="0" dirty="0">
                <a:solidFill>
                  <a:srgbClr val="004479"/>
                </a:solidFill>
                <a:latin typeface="Malacitana-Sans"/>
                <a:ea typeface="Malacitana-Sans"/>
                <a:cs typeface="Malacitana-Sans"/>
              </a:rPr>
              <a:t>Concurrencia: 5 intentos adicionales rechazados</a:t>
            </a:r>
          </a:p>
        </p:txBody>
      </p:sp>
      <p:graphicFrame>
        <p:nvGraphicFramePr>
          <p:cNvPr id="20" name="Chart"/>
          <p:cNvGraphicFramePr/>
          <p:nvPr>
            <p:extLst>
              <p:ext uri="{D42A27DB-BD31-4B8C-83A1-F6EECF244321}">
                <p14:modId xmlns:p14="http://schemas.microsoft.com/office/powerpoint/2010/main" val="637178846"/>
              </p:ext>
            </p:extLst>
          </p:nvPr>
        </p:nvGraphicFramePr>
        <p:xfrm>
          <a:off x="523875" y="2066925"/>
          <a:ext cx="5095875" cy="2990850"/>
        </p:xfrm>
        <a:graphic>
          <a:graphicData uri="http://schemas.openxmlformats.org/drawingml/2006/chart">
            <c:chart xmlns:c="http://schemas.openxmlformats.org/drawingml/2006/chart" xmlns:r="http://schemas.openxmlformats.org/officeDocument/2006/relationships" r:id="rId4"/>
          </a:graphicData>
        </a:graphic>
      </p:graphicFrame>
      <p:sp>
        <p:nvSpPr>
          <p:cNvPr id="7" name="panel-166">
            <a:extLst>
              <a:ext uri="{FF2B5EF4-FFF2-40B4-BE49-F238E27FC236}">
                <a16:creationId xmlns:a16="http://schemas.microsoft.com/office/drawing/2014/main" id="{CDC36F73-65F7-433F-95A9-27A4332F88DD}"/>
              </a:ext>
            </a:extLst>
          </p:cNvPr>
          <p:cNvSpPr>
            <a:spLocks noGrp="1"/>
          </p:cNvSpPr>
          <p:nvPr/>
        </p:nvSpPr>
        <p:spPr>
          <a:xfrm>
            <a:off x="5981700" y="2114550"/>
            <a:ext cx="2638425" cy="1352550"/>
          </a:xfrm>
          <a:prstGeom prst="rect">
            <a:avLst/>
          </a:prstGeom>
          <a:solidFill>
            <a:srgbClr val="EDF6FA"/>
          </a:solidFill>
          <a:ln w="0">
            <a:noFill/>
          </a:ln>
        </p:spPr>
        <p:txBody>
          <a:bodyPr/>
          <a:lstStyle/>
          <a:p>
            <a:endParaRPr lang="es-ES" noProof="0" dirty="0"/>
          </a:p>
        </p:txBody>
      </p:sp>
      <p:sp>
        <p:nvSpPr>
          <p:cNvPr id="8" name="text-167">
            <a:extLst>
              <a:ext uri="{FF2B5EF4-FFF2-40B4-BE49-F238E27FC236}">
                <a16:creationId xmlns:a16="http://schemas.microsoft.com/office/drawing/2014/main" id="{5D3D3E67-F489-4717-892C-4D383B8FA88F}"/>
              </a:ext>
            </a:extLst>
          </p:cNvPr>
          <p:cNvSpPr>
            <a:spLocks noGrp="1"/>
          </p:cNvSpPr>
          <p:nvPr/>
        </p:nvSpPr>
        <p:spPr>
          <a:xfrm>
            <a:off x="6191250" y="2286000"/>
            <a:ext cx="2219325" cy="552450"/>
          </a:xfrm>
          <a:prstGeom prst="rect">
            <a:avLst/>
          </a:prstGeom>
          <a:noFill/>
          <a:ln w="0">
            <a:noFill/>
          </a:ln>
        </p:spPr>
        <p:txBody>
          <a:bodyPr wrap="square" lIns="0" tIns="0" rIns="0" bIns="0" anchor="t">
            <a:noAutofit/>
          </a:bodyPr>
          <a:lstStyle/>
          <a:p>
            <a:pPr algn="l">
              <a:defRPr sz="3225" b="1">
                <a:solidFill>
                  <a:srgbClr val="00AAD6"/>
                </a:solidFill>
                <a:latin typeface="Malacitana-Sans"/>
                <a:ea typeface="Malacitana-Sans"/>
                <a:cs typeface="Malacitana-Sans"/>
              </a:defRPr>
            </a:pPr>
            <a:r>
              <a:rPr lang="es-ES" sz="3225" b="1" noProof="0" dirty="0">
                <a:solidFill>
                  <a:srgbClr val="00AAD6"/>
                </a:solidFill>
                <a:latin typeface="Malacitana-Sans"/>
                <a:ea typeface="Malacitana-Sans"/>
                <a:cs typeface="Malacitana-Sans"/>
              </a:rPr>
              <a:t>30 min</a:t>
            </a:r>
          </a:p>
        </p:txBody>
      </p:sp>
      <p:sp>
        <p:nvSpPr>
          <p:cNvPr id="9" name="text-168">
            <a:extLst>
              <a:ext uri="{FF2B5EF4-FFF2-40B4-BE49-F238E27FC236}">
                <a16:creationId xmlns:a16="http://schemas.microsoft.com/office/drawing/2014/main" id="{68D5A325-281C-4AFB-BC58-9435CE1612BB}"/>
              </a:ext>
            </a:extLst>
          </p:cNvPr>
          <p:cNvSpPr>
            <a:spLocks noGrp="1"/>
          </p:cNvSpPr>
          <p:nvPr/>
        </p:nvSpPr>
        <p:spPr>
          <a:xfrm>
            <a:off x="6191250" y="2943225"/>
            <a:ext cx="2219325" cy="381000"/>
          </a:xfrm>
          <a:prstGeom prst="rect">
            <a:avLst/>
          </a:prstGeom>
          <a:noFill/>
          <a:ln w="0">
            <a:noFill/>
          </a:ln>
        </p:spPr>
        <p:txBody>
          <a:bodyPr wrap="square" lIns="0" tIns="0" rIns="0" bIns="0" anchor="t">
            <a:noAutofit/>
          </a:bodyPr>
          <a:lstStyle/>
          <a:p>
            <a:pPr algn="l">
              <a:defRPr sz="1725" b="0">
                <a:solidFill>
                  <a:srgbClr val="004479"/>
                </a:solidFill>
                <a:latin typeface="Malacitana-Sans"/>
                <a:ea typeface="Malacitana-Sans"/>
                <a:cs typeface="Malacitana-Sans"/>
              </a:defRPr>
            </a:pPr>
            <a:r>
              <a:rPr lang="es-ES" sz="1725" b="0" noProof="0" dirty="0">
                <a:solidFill>
                  <a:srgbClr val="004479"/>
                </a:solidFill>
                <a:latin typeface="Malacitana-Sans"/>
                <a:ea typeface="Malacitana-Sans"/>
                <a:cs typeface="Malacitana-Sans"/>
              </a:rPr>
              <a:t>Bloqueo de cuenta</a:t>
            </a:r>
          </a:p>
        </p:txBody>
      </p:sp>
      <p:sp>
        <p:nvSpPr>
          <p:cNvPr id="10" name="panel-169">
            <a:extLst>
              <a:ext uri="{FF2B5EF4-FFF2-40B4-BE49-F238E27FC236}">
                <a16:creationId xmlns:a16="http://schemas.microsoft.com/office/drawing/2014/main" id="{2C42DD5F-6044-4690-946A-B59FD706D2B7}"/>
              </a:ext>
            </a:extLst>
          </p:cNvPr>
          <p:cNvSpPr>
            <a:spLocks noGrp="1"/>
          </p:cNvSpPr>
          <p:nvPr/>
        </p:nvSpPr>
        <p:spPr>
          <a:xfrm>
            <a:off x="5981700" y="3667125"/>
            <a:ext cx="2638425" cy="1400175"/>
          </a:xfrm>
          <a:prstGeom prst="rect">
            <a:avLst/>
          </a:prstGeom>
          <a:solidFill>
            <a:srgbClr val="EDF6FA"/>
          </a:solidFill>
          <a:ln w="0">
            <a:noFill/>
          </a:ln>
        </p:spPr>
        <p:txBody>
          <a:bodyPr/>
          <a:lstStyle/>
          <a:p>
            <a:endParaRPr lang="es-ES" noProof="0" dirty="0"/>
          </a:p>
        </p:txBody>
      </p:sp>
      <p:sp>
        <p:nvSpPr>
          <p:cNvPr id="11" name="text-170">
            <a:extLst>
              <a:ext uri="{FF2B5EF4-FFF2-40B4-BE49-F238E27FC236}">
                <a16:creationId xmlns:a16="http://schemas.microsoft.com/office/drawing/2014/main" id="{06696B1B-1333-4966-958A-7B5DC12343C5}"/>
              </a:ext>
            </a:extLst>
          </p:cNvPr>
          <p:cNvSpPr>
            <a:spLocks noGrp="1"/>
          </p:cNvSpPr>
          <p:nvPr/>
        </p:nvSpPr>
        <p:spPr>
          <a:xfrm>
            <a:off x="6191250" y="3829050"/>
            <a:ext cx="2219325" cy="523875"/>
          </a:xfrm>
          <a:prstGeom prst="rect">
            <a:avLst/>
          </a:prstGeom>
          <a:noFill/>
          <a:ln w="0">
            <a:noFill/>
          </a:ln>
        </p:spPr>
        <p:txBody>
          <a:bodyPr wrap="square" lIns="0" tIns="0" rIns="0" bIns="0" anchor="t">
            <a:noAutofit/>
          </a:bodyPr>
          <a:lstStyle/>
          <a:p>
            <a:pPr algn="l">
              <a:defRPr sz="2850" b="1">
                <a:solidFill>
                  <a:srgbClr val="00AAD6"/>
                </a:solidFill>
                <a:latin typeface="Malacitana-Sans"/>
                <a:ea typeface="Malacitana-Sans"/>
                <a:cs typeface="Malacitana-Sans"/>
              </a:defRPr>
            </a:pPr>
            <a:r>
              <a:rPr lang="es-ES" sz="2850" b="1" noProof="0" dirty="0">
                <a:solidFill>
                  <a:srgbClr val="00AAD6"/>
                </a:solidFill>
                <a:latin typeface="Malacitana-Sans"/>
                <a:ea typeface="Malacitana-Sans"/>
                <a:cs typeface="Malacitana-Sans"/>
              </a:rPr>
              <a:t>8 fallos</a:t>
            </a:r>
          </a:p>
        </p:txBody>
      </p:sp>
      <p:sp>
        <p:nvSpPr>
          <p:cNvPr id="12" name="text-171">
            <a:extLst>
              <a:ext uri="{FF2B5EF4-FFF2-40B4-BE49-F238E27FC236}">
                <a16:creationId xmlns:a16="http://schemas.microsoft.com/office/drawing/2014/main" id="{0F531F84-EAB6-49EB-A7C1-C7B113A8A6F3}"/>
              </a:ext>
            </a:extLst>
          </p:cNvPr>
          <p:cNvSpPr>
            <a:spLocks noGrp="1"/>
          </p:cNvSpPr>
          <p:nvPr/>
        </p:nvSpPr>
        <p:spPr>
          <a:xfrm>
            <a:off x="6191250" y="4438650"/>
            <a:ext cx="2219325" cy="581025"/>
          </a:xfrm>
          <a:prstGeom prst="rect">
            <a:avLst/>
          </a:prstGeom>
          <a:noFill/>
          <a:ln w="0">
            <a:noFill/>
          </a:ln>
        </p:spPr>
        <p:txBody>
          <a:bodyPr wrap="square" lIns="0" tIns="0" rIns="0" bIns="0" anchor="t">
            <a:noAutofit/>
          </a:bodyPr>
          <a:lstStyle/>
          <a:p>
            <a:pPr algn="l">
              <a:defRPr sz="1650" b="0">
                <a:solidFill>
                  <a:srgbClr val="004479"/>
                </a:solidFill>
                <a:latin typeface="Malacitana-Sans"/>
                <a:ea typeface="Malacitana-Sans"/>
                <a:cs typeface="Malacitana-Sans"/>
              </a:defRPr>
            </a:pPr>
            <a:r>
              <a:rPr lang="es-ES" sz="1650" b="0" noProof="0" dirty="0">
                <a:solidFill>
                  <a:srgbClr val="004479"/>
                </a:solidFill>
                <a:latin typeface="Malacitana-Sans"/>
                <a:ea typeface="Malacitana-Sans"/>
                <a:cs typeface="Malacitana-Sans"/>
              </a:rPr>
              <a:t>Bloqueo de dispositivo</a:t>
            </a:r>
          </a:p>
          <a:p>
            <a:pPr algn="l">
              <a:defRPr sz="1650" b="0">
                <a:solidFill>
                  <a:srgbClr val="004479"/>
                </a:solidFill>
                <a:latin typeface="Malacitana-Sans"/>
                <a:ea typeface="Malacitana-Sans"/>
                <a:cs typeface="Malacitana-Sans"/>
              </a:defRPr>
            </a:pPr>
            <a:r>
              <a:rPr lang="es-ES" sz="1650" b="0" noProof="0" dirty="0">
                <a:solidFill>
                  <a:srgbClr val="004479"/>
                </a:solidFill>
                <a:latin typeface="Malacitana-Sans"/>
                <a:ea typeface="Malacitana-Sans"/>
                <a:cs typeface="Malacitana-Sans"/>
              </a:rPr>
              <a:t>durante 15 min</a:t>
            </a:r>
          </a:p>
        </p:txBody>
      </p:sp>
      <p:sp>
        <p:nvSpPr>
          <p:cNvPr id="13" name="panel-172">
            <a:extLst>
              <a:ext uri="{FF2B5EF4-FFF2-40B4-BE49-F238E27FC236}">
                <a16:creationId xmlns:a16="http://schemas.microsoft.com/office/drawing/2014/main" id="{061DA36E-D83E-4810-B30E-0B2F24B68C1D}"/>
              </a:ext>
            </a:extLst>
          </p:cNvPr>
          <p:cNvSpPr>
            <a:spLocks noGrp="1"/>
          </p:cNvSpPr>
          <p:nvPr/>
        </p:nvSpPr>
        <p:spPr>
          <a:xfrm>
            <a:off x="523875" y="5724525"/>
            <a:ext cx="8096250" cy="504825"/>
          </a:xfrm>
          <a:prstGeom prst="rect">
            <a:avLst/>
          </a:prstGeom>
          <a:solidFill>
            <a:srgbClr val="004479"/>
          </a:solidFill>
          <a:ln w="0">
            <a:noFill/>
          </a:ln>
        </p:spPr>
        <p:txBody>
          <a:bodyPr/>
          <a:lstStyle/>
          <a:p>
            <a:endParaRPr lang="es-ES" noProof="0" dirty="0"/>
          </a:p>
        </p:txBody>
      </p:sp>
      <p:sp>
        <p:nvSpPr>
          <p:cNvPr id="14" name="text-173">
            <a:extLst>
              <a:ext uri="{FF2B5EF4-FFF2-40B4-BE49-F238E27FC236}">
                <a16:creationId xmlns:a16="http://schemas.microsoft.com/office/drawing/2014/main" id="{2C5B2190-A103-40CC-A6D4-3D0AE7479D2E}"/>
              </a:ext>
            </a:extLst>
          </p:cNvPr>
          <p:cNvSpPr>
            <a:spLocks noGrp="1"/>
          </p:cNvSpPr>
          <p:nvPr/>
        </p:nvSpPr>
        <p:spPr>
          <a:xfrm>
            <a:off x="704850" y="5838825"/>
            <a:ext cx="7734300" cy="304800"/>
          </a:xfrm>
          <a:prstGeom prst="rect">
            <a:avLst/>
          </a:prstGeom>
          <a:noFill/>
          <a:ln w="0">
            <a:noFill/>
          </a:ln>
        </p:spPr>
        <p:txBody>
          <a:bodyPr wrap="square" lIns="0" tIns="0" rIns="0" bIns="0" anchor="t">
            <a:noAutofit/>
          </a:bodyPr>
          <a:lstStyle/>
          <a:p>
            <a:pPr algn="l">
              <a:defRPr sz="1725" b="1">
                <a:solidFill>
                  <a:srgbClr val="FFFFFF"/>
                </a:solidFill>
                <a:latin typeface="Malacitana-Sans"/>
                <a:ea typeface="Malacitana-Sans"/>
                <a:cs typeface="Malacitana-Sans"/>
              </a:defRPr>
            </a:pPr>
            <a:r>
              <a:rPr lang="es-ES" sz="1725" b="1" noProof="0" dirty="0">
                <a:solidFill>
                  <a:srgbClr val="FFFFFF"/>
                </a:solidFill>
                <a:latin typeface="Malacitana-Sans"/>
                <a:ea typeface="Malacitana-Sans"/>
                <a:cs typeface="Malacitana-Sans"/>
              </a:rPr>
              <a:t>Recuperación: desbloqueo y renovación de credencial o sesión</a:t>
            </a:r>
          </a:p>
        </p:txBody>
      </p:sp>
      <p:sp>
        <p:nvSpPr>
          <p:cNvPr id="16" name="text-7">
            <a:extLst>
              <a:ext uri="{FF2B5EF4-FFF2-40B4-BE49-F238E27FC236}">
                <a16:creationId xmlns:a16="http://schemas.microsoft.com/office/drawing/2014/main" id="{CB84F8FB-C94F-334D-3D00-68DFCC78C3F8}"/>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text-174">
            <a:extLst>
              <a:ext uri="{FF2B5EF4-FFF2-40B4-BE49-F238E27FC236}">
                <a16:creationId xmlns:a16="http://schemas.microsoft.com/office/drawing/2014/main" id="{5F2FBB14-424C-43E5-A7B6-2054750A1170}"/>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La clave conocida revela un límite residual</a:t>
            </a:r>
          </a:p>
        </p:txBody>
      </p:sp>
      <p:sp>
        <p:nvSpPr>
          <p:cNvPr id="2" name="text-175">
            <a:extLst>
              <a:ext uri="{FF2B5EF4-FFF2-40B4-BE49-F238E27FC236}">
                <a16:creationId xmlns:a16="http://schemas.microsoft.com/office/drawing/2014/main" id="{15E1F3F9-D005-4C85-A712-1302BE0772FF}"/>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PRUEBA CONTROLADA · CENC LOCAL</a:t>
            </a:r>
          </a:p>
        </p:txBody>
      </p:sp>
      <p:sp>
        <p:nvSpPr>
          <p:cNvPr id="4" name="text-177">
            <a:extLst>
              <a:ext uri="{FF2B5EF4-FFF2-40B4-BE49-F238E27FC236}">
                <a16:creationId xmlns:a16="http://schemas.microsoft.com/office/drawing/2014/main" id="{E68630D6-BA1B-4AF2-B377-B91959683C56}"/>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13</a:t>
            </a:r>
          </a:p>
        </p:txBody>
      </p:sp>
      <p:sp>
        <p:nvSpPr>
          <p:cNvPr id="5" name="text-178">
            <a:extLst>
              <a:ext uri="{FF2B5EF4-FFF2-40B4-BE49-F238E27FC236}">
                <a16:creationId xmlns:a16="http://schemas.microsoft.com/office/drawing/2014/main" id="{CD36516D-A4C7-41BC-AFCC-48071F2815FB}"/>
              </a:ext>
            </a:extLst>
          </p:cNvPr>
          <p:cNvSpPr>
            <a:spLocks noGrp="1"/>
          </p:cNvSpPr>
          <p:nvPr/>
        </p:nvSpPr>
        <p:spPr>
          <a:xfrm>
            <a:off x="523875" y="1590675"/>
            <a:ext cx="8096250" cy="790575"/>
          </a:xfrm>
          <a:prstGeom prst="rect">
            <a:avLst/>
          </a:prstGeom>
          <a:noFill/>
          <a:ln w="0">
            <a:noFill/>
          </a:ln>
        </p:spPr>
        <p:txBody>
          <a:bodyPr wrap="square" lIns="0" tIns="0" rIns="0" bIns="0" anchor="t">
            <a:noAutofit/>
          </a:bodyPr>
          <a:lstStyle/>
          <a:p>
            <a:pPr algn="l">
              <a:defRPr sz="2625" b="1">
                <a:solidFill>
                  <a:srgbClr val="004479"/>
                </a:solidFill>
                <a:latin typeface="Malacitana-Sans"/>
                <a:ea typeface="Malacitana-Sans"/>
                <a:cs typeface="Malacitana-Sans"/>
              </a:defRPr>
            </a:pPr>
            <a:r>
              <a:rPr lang="es-ES" sz="2625" b="1" noProof="0" dirty="0">
                <a:solidFill>
                  <a:srgbClr val="004479"/>
                </a:solidFill>
                <a:latin typeface="Malacitana-Sans"/>
                <a:ea typeface="Malacitana-Sans"/>
                <a:cs typeface="Malacitana-Sans"/>
              </a:rPr>
              <a:t>Sesión válida + clave conocida</a:t>
            </a:r>
          </a:p>
        </p:txBody>
      </p:sp>
      <p:sp>
        <p:nvSpPr>
          <p:cNvPr id="6" name="panel-179">
            <a:extLst>
              <a:ext uri="{FF2B5EF4-FFF2-40B4-BE49-F238E27FC236}">
                <a16:creationId xmlns:a16="http://schemas.microsoft.com/office/drawing/2014/main" id="{D4DE351D-3034-4672-A6AA-CF7191A28F25}"/>
              </a:ext>
            </a:extLst>
          </p:cNvPr>
          <p:cNvSpPr>
            <a:spLocks noGrp="1"/>
          </p:cNvSpPr>
          <p:nvPr/>
        </p:nvSpPr>
        <p:spPr>
          <a:xfrm>
            <a:off x="523875" y="2733675"/>
            <a:ext cx="2571750" cy="2181225"/>
          </a:xfrm>
          <a:prstGeom prst="rect">
            <a:avLst/>
          </a:prstGeom>
          <a:solidFill>
            <a:srgbClr val="EDF6FA"/>
          </a:solidFill>
          <a:ln w="0">
            <a:noFill/>
          </a:ln>
        </p:spPr>
        <p:txBody>
          <a:bodyPr/>
          <a:lstStyle/>
          <a:p>
            <a:endParaRPr lang="es-ES" noProof="0" dirty="0"/>
          </a:p>
        </p:txBody>
      </p:sp>
      <p:sp>
        <p:nvSpPr>
          <p:cNvPr id="7" name="text-180">
            <a:extLst>
              <a:ext uri="{FF2B5EF4-FFF2-40B4-BE49-F238E27FC236}">
                <a16:creationId xmlns:a16="http://schemas.microsoft.com/office/drawing/2014/main" id="{051FBB70-43D7-4E13-B442-E365548B73F7}"/>
              </a:ext>
            </a:extLst>
          </p:cNvPr>
          <p:cNvSpPr>
            <a:spLocks noGrp="1"/>
          </p:cNvSpPr>
          <p:nvPr/>
        </p:nvSpPr>
        <p:spPr>
          <a:xfrm>
            <a:off x="714375" y="2886075"/>
            <a:ext cx="2190750"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3 objetos</a:t>
            </a:r>
          </a:p>
        </p:txBody>
      </p:sp>
      <p:sp>
        <p:nvSpPr>
          <p:cNvPr id="8" name="text-181">
            <a:extLst>
              <a:ext uri="{FF2B5EF4-FFF2-40B4-BE49-F238E27FC236}">
                <a16:creationId xmlns:a16="http://schemas.microsoft.com/office/drawing/2014/main" id="{1AFC82EA-06C8-4728-9ED2-302A69727C45}"/>
              </a:ext>
            </a:extLst>
          </p:cNvPr>
          <p:cNvSpPr>
            <a:spLocks noGrp="1"/>
          </p:cNvSpPr>
          <p:nvPr/>
        </p:nvSpPr>
        <p:spPr>
          <a:xfrm>
            <a:off x="714375" y="3352800"/>
            <a:ext cx="2476500"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Contenido recuperado</a:t>
            </a:r>
          </a:p>
          <a:p>
            <a:pPr algn="l">
              <a:defRPr sz="2025" b="1">
                <a:solidFill>
                  <a:srgbClr val="004479"/>
                </a:solidFill>
                <a:latin typeface="Malacitana-Sans"/>
                <a:ea typeface="Malacitana-Sans"/>
                <a:cs typeface="Malacitana-Sans"/>
              </a:defRPr>
            </a:pPr>
            <a:endParaRPr lang="es-ES" sz="2025" b="1" noProof="0" dirty="0">
              <a:solidFill>
                <a:srgbClr val="004479"/>
              </a:solidFill>
              <a:latin typeface="Malacitana-Sans"/>
              <a:ea typeface="Malacitana-Sans"/>
              <a:cs typeface="Malacitana-Sans"/>
            </a:endParaRPr>
          </a:p>
        </p:txBody>
      </p:sp>
      <p:sp>
        <p:nvSpPr>
          <p:cNvPr id="9" name="text-182">
            <a:extLst>
              <a:ext uri="{FF2B5EF4-FFF2-40B4-BE49-F238E27FC236}">
                <a16:creationId xmlns:a16="http://schemas.microsoft.com/office/drawing/2014/main" id="{70784988-1DAE-48D4-8935-06E34358CDAE}"/>
              </a:ext>
            </a:extLst>
          </p:cNvPr>
          <p:cNvSpPr>
            <a:spLocks noGrp="1"/>
          </p:cNvSpPr>
          <p:nvPr/>
        </p:nvSpPr>
        <p:spPr>
          <a:xfrm>
            <a:off x="714375" y="4029075"/>
            <a:ext cx="2190750" cy="800100"/>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endParaRPr lang="es-ES" sz="1650" b="0" noProof="0" dirty="0">
              <a:solidFill>
                <a:srgbClr val="526778"/>
              </a:solidFill>
              <a:latin typeface="Malacitana-Sans"/>
              <a:ea typeface="Malacitana-Sans"/>
              <a:cs typeface="Malacitana-Sans"/>
            </a:endParaRPr>
          </a:p>
        </p:txBody>
      </p:sp>
      <p:sp>
        <p:nvSpPr>
          <p:cNvPr id="10" name="panel-183">
            <a:extLst>
              <a:ext uri="{FF2B5EF4-FFF2-40B4-BE49-F238E27FC236}">
                <a16:creationId xmlns:a16="http://schemas.microsoft.com/office/drawing/2014/main" id="{C33CB8FB-CFB7-4195-8CEF-FB1D20B604BE}"/>
              </a:ext>
            </a:extLst>
          </p:cNvPr>
          <p:cNvSpPr>
            <a:spLocks noGrp="1"/>
          </p:cNvSpPr>
          <p:nvPr/>
        </p:nvSpPr>
        <p:spPr>
          <a:xfrm>
            <a:off x="3286125" y="2733675"/>
            <a:ext cx="2571750" cy="2181225"/>
          </a:xfrm>
          <a:prstGeom prst="rect">
            <a:avLst/>
          </a:prstGeom>
          <a:solidFill>
            <a:srgbClr val="EDF6FA"/>
          </a:solidFill>
          <a:ln w="0">
            <a:noFill/>
          </a:ln>
        </p:spPr>
        <p:txBody>
          <a:bodyPr/>
          <a:lstStyle/>
          <a:p>
            <a:endParaRPr lang="es-ES" noProof="0" dirty="0"/>
          </a:p>
        </p:txBody>
      </p:sp>
      <p:sp>
        <p:nvSpPr>
          <p:cNvPr id="11" name="text-184">
            <a:extLst>
              <a:ext uri="{FF2B5EF4-FFF2-40B4-BE49-F238E27FC236}">
                <a16:creationId xmlns:a16="http://schemas.microsoft.com/office/drawing/2014/main" id="{2E960986-503F-47CD-8FE6-67A9D0E2BD48}"/>
              </a:ext>
            </a:extLst>
          </p:cNvPr>
          <p:cNvSpPr>
            <a:spLocks noGrp="1"/>
          </p:cNvSpPr>
          <p:nvPr/>
        </p:nvSpPr>
        <p:spPr>
          <a:xfrm>
            <a:off x="3476625" y="2886075"/>
            <a:ext cx="2190750"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Sin licencia</a:t>
            </a:r>
          </a:p>
        </p:txBody>
      </p:sp>
      <p:sp>
        <p:nvSpPr>
          <p:cNvPr id="12" name="text-185">
            <a:extLst>
              <a:ext uri="{FF2B5EF4-FFF2-40B4-BE49-F238E27FC236}">
                <a16:creationId xmlns:a16="http://schemas.microsoft.com/office/drawing/2014/main" id="{4092C83E-23C4-468F-A1D8-7B84E3110A93}"/>
              </a:ext>
            </a:extLst>
          </p:cNvPr>
          <p:cNvSpPr>
            <a:spLocks noGrp="1"/>
          </p:cNvSpPr>
          <p:nvPr/>
        </p:nvSpPr>
        <p:spPr>
          <a:xfrm>
            <a:off x="3476625" y="3352800"/>
            <a:ext cx="2190750"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Cliente externo</a:t>
            </a:r>
          </a:p>
        </p:txBody>
      </p:sp>
      <p:sp>
        <p:nvSpPr>
          <p:cNvPr id="13" name="text-186">
            <a:extLst>
              <a:ext uri="{FF2B5EF4-FFF2-40B4-BE49-F238E27FC236}">
                <a16:creationId xmlns:a16="http://schemas.microsoft.com/office/drawing/2014/main" id="{4CF15A35-8C97-45C7-923C-681DBE39FE8C}"/>
              </a:ext>
            </a:extLst>
          </p:cNvPr>
          <p:cNvSpPr>
            <a:spLocks noGrp="1"/>
          </p:cNvSpPr>
          <p:nvPr/>
        </p:nvSpPr>
        <p:spPr>
          <a:xfrm>
            <a:off x="3476625" y="4029075"/>
            <a:ext cx="2190750" cy="800100"/>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Reproducción confirmada</a:t>
            </a:r>
          </a:p>
        </p:txBody>
      </p:sp>
      <p:sp>
        <p:nvSpPr>
          <p:cNvPr id="14" name="panel-187">
            <a:extLst>
              <a:ext uri="{FF2B5EF4-FFF2-40B4-BE49-F238E27FC236}">
                <a16:creationId xmlns:a16="http://schemas.microsoft.com/office/drawing/2014/main" id="{F54DC682-FE51-45F1-A987-FF0208F83BD0}"/>
              </a:ext>
            </a:extLst>
          </p:cNvPr>
          <p:cNvSpPr>
            <a:spLocks noGrp="1"/>
          </p:cNvSpPr>
          <p:nvPr/>
        </p:nvSpPr>
        <p:spPr>
          <a:xfrm>
            <a:off x="6048375" y="2733675"/>
            <a:ext cx="2571750" cy="2181225"/>
          </a:xfrm>
          <a:prstGeom prst="rect">
            <a:avLst/>
          </a:prstGeom>
          <a:solidFill>
            <a:srgbClr val="EDF6FA"/>
          </a:solidFill>
          <a:ln w="0">
            <a:noFill/>
          </a:ln>
        </p:spPr>
        <p:txBody>
          <a:bodyPr/>
          <a:lstStyle/>
          <a:p>
            <a:endParaRPr lang="es-ES" noProof="0" dirty="0"/>
          </a:p>
        </p:txBody>
      </p:sp>
      <p:sp>
        <p:nvSpPr>
          <p:cNvPr id="15" name="text-188">
            <a:extLst>
              <a:ext uri="{FF2B5EF4-FFF2-40B4-BE49-F238E27FC236}">
                <a16:creationId xmlns:a16="http://schemas.microsoft.com/office/drawing/2014/main" id="{032839E2-C036-46AC-A0B6-ADA5908321EC}"/>
              </a:ext>
            </a:extLst>
          </p:cNvPr>
          <p:cNvSpPr>
            <a:spLocks noGrp="1"/>
          </p:cNvSpPr>
          <p:nvPr/>
        </p:nvSpPr>
        <p:spPr>
          <a:xfrm>
            <a:off x="6238875" y="2886075"/>
            <a:ext cx="2190750" cy="400050"/>
          </a:xfrm>
          <a:prstGeom prst="rect">
            <a:avLst/>
          </a:prstGeom>
          <a:noFill/>
          <a:ln w="0">
            <a:noFill/>
          </a:ln>
        </p:spPr>
        <p:txBody>
          <a:bodyPr wrap="square" lIns="0" tIns="0" rIns="0" bIns="0" anchor="t">
            <a:noAutofit/>
          </a:bodyPr>
          <a:lstStyle/>
          <a:p>
            <a:pPr algn="l">
              <a:defRPr sz="2325" b="1">
                <a:solidFill>
                  <a:srgbClr val="00AAD6"/>
                </a:solidFill>
                <a:latin typeface="Malacitana-Sans"/>
                <a:ea typeface="Malacitana-Sans"/>
                <a:cs typeface="Malacitana-Sans"/>
              </a:defRPr>
            </a:pPr>
            <a:r>
              <a:rPr lang="es-ES" sz="2325" b="1" noProof="0" dirty="0">
                <a:solidFill>
                  <a:srgbClr val="00AAD6"/>
                </a:solidFill>
                <a:latin typeface="Malacitana-Sans"/>
                <a:ea typeface="Malacitana-Sans"/>
                <a:cs typeface="Malacitana-Sans"/>
              </a:rPr>
              <a:t>+20 de riesgo</a:t>
            </a:r>
          </a:p>
        </p:txBody>
      </p:sp>
      <p:sp>
        <p:nvSpPr>
          <p:cNvPr id="16" name="text-189">
            <a:extLst>
              <a:ext uri="{FF2B5EF4-FFF2-40B4-BE49-F238E27FC236}">
                <a16:creationId xmlns:a16="http://schemas.microsoft.com/office/drawing/2014/main" id="{B8B423E5-DE79-44AA-9CB0-513C62B36D99}"/>
              </a:ext>
            </a:extLst>
          </p:cNvPr>
          <p:cNvSpPr>
            <a:spLocks noGrp="1"/>
          </p:cNvSpPr>
          <p:nvPr/>
        </p:nvSpPr>
        <p:spPr>
          <a:xfrm>
            <a:off x="6238875" y="3352800"/>
            <a:ext cx="2190750" cy="628650"/>
          </a:xfrm>
          <a:prstGeom prst="rect">
            <a:avLst/>
          </a:prstGeom>
          <a:noFill/>
          <a:ln w="0">
            <a:noFill/>
          </a:ln>
        </p:spPr>
        <p:txBody>
          <a:bodyPr wrap="square" lIns="0" tIns="0" rIns="0" bIns="0" anchor="t">
            <a:noAutofit/>
          </a:bodyPr>
          <a:lstStyle/>
          <a:p>
            <a:pPr algn="l">
              <a:defRPr sz="2025" b="1">
                <a:solidFill>
                  <a:srgbClr val="004479"/>
                </a:solidFill>
                <a:latin typeface="Malacitana-Sans"/>
                <a:ea typeface="Malacitana-Sans"/>
                <a:cs typeface="Malacitana-Sans"/>
              </a:defRPr>
            </a:pPr>
            <a:r>
              <a:rPr lang="es-ES" sz="2025" b="1" noProof="0" dirty="0">
                <a:solidFill>
                  <a:srgbClr val="004479"/>
                </a:solidFill>
                <a:latin typeface="Malacitana-Sans"/>
                <a:ea typeface="Malacitana-Sans"/>
                <a:cs typeface="Malacitana-Sans"/>
              </a:rPr>
              <a:t>Fase 2</a:t>
            </a:r>
          </a:p>
        </p:txBody>
      </p:sp>
      <p:sp>
        <p:nvSpPr>
          <p:cNvPr id="17" name="text-190">
            <a:extLst>
              <a:ext uri="{FF2B5EF4-FFF2-40B4-BE49-F238E27FC236}">
                <a16:creationId xmlns:a16="http://schemas.microsoft.com/office/drawing/2014/main" id="{1F999446-8EEA-440F-9A90-4869D8B66746}"/>
              </a:ext>
            </a:extLst>
          </p:cNvPr>
          <p:cNvSpPr>
            <a:spLocks noGrp="1"/>
          </p:cNvSpPr>
          <p:nvPr/>
        </p:nvSpPr>
        <p:spPr>
          <a:xfrm>
            <a:off x="6238875" y="4029075"/>
            <a:ext cx="2190750" cy="800100"/>
          </a:xfrm>
          <a:prstGeom prst="rect">
            <a:avLst/>
          </a:prstGeom>
          <a:noFill/>
          <a:ln w="0">
            <a:noFill/>
          </a:ln>
        </p:spPr>
        <p:txBody>
          <a:bodyPr wrap="square" lIns="0" tIns="0" rIns="0" bIns="0" anchor="t">
            <a:noAutofit/>
          </a:bodyPr>
          <a:lstStyle/>
          <a:p>
            <a:pPr algn="l">
              <a:defRPr sz="1650" b="0">
                <a:solidFill>
                  <a:srgbClr val="526778"/>
                </a:solidFill>
                <a:latin typeface="Malacitana-Sans"/>
                <a:ea typeface="Malacitana-Sans"/>
                <a:cs typeface="Malacitana-Sans"/>
              </a:defRPr>
            </a:pPr>
            <a:r>
              <a:rPr lang="es-ES" sz="1650" b="0" noProof="0" dirty="0">
                <a:solidFill>
                  <a:srgbClr val="526778"/>
                </a:solidFill>
                <a:latin typeface="Malacitana-Sans"/>
                <a:ea typeface="Malacitana-Sans"/>
                <a:cs typeface="Malacitana-Sans"/>
              </a:rPr>
              <a:t>Una vez por sesión</a:t>
            </a:r>
          </a:p>
        </p:txBody>
      </p:sp>
      <p:sp>
        <p:nvSpPr>
          <p:cNvPr id="21" name="text-7">
            <a:extLst>
              <a:ext uri="{FF2B5EF4-FFF2-40B4-BE49-F238E27FC236}">
                <a16:creationId xmlns:a16="http://schemas.microsoft.com/office/drawing/2014/main" id="{DA87DC58-39BD-CF26-4AD5-550A184FB358}"/>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
        <p:nvSpPr>
          <p:cNvPr id="23" name="CuadroTexto 22">
            <a:extLst>
              <a:ext uri="{FF2B5EF4-FFF2-40B4-BE49-F238E27FC236}">
                <a16:creationId xmlns:a16="http://schemas.microsoft.com/office/drawing/2014/main" id="{C728D040-3060-7837-1134-16B313414D9A}"/>
              </a:ext>
            </a:extLst>
          </p:cNvPr>
          <p:cNvSpPr txBox="1"/>
          <p:nvPr/>
        </p:nvSpPr>
        <p:spPr>
          <a:xfrm>
            <a:off x="619125" y="3943350"/>
            <a:ext cx="4572000" cy="403957"/>
          </a:xfrm>
          <a:prstGeom prst="rect">
            <a:avLst/>
          </a:prstGeom>
          <a:noFill/>
        </p:spPr>
        <p:txBody>
          <a:bodyPr wrap="square">
            <a:spAutoFit/>
          </a:bodyPr>
          <a:lstStyle/>
          <a:p>
            <a:r>
              <a:rPr lang="es-ES" sz="1650" dirty="0">
                <a:solidFill>
                  <a:srgbClr val="526778"/>
                </a:solidFill>
                <a:latin typeface="Malacitana-Sans"/>
              </a:rPr>
              <a:t>253.023</a:t>
            </a:r>
            <a:r>
              <a:rPr lang="es-ES" sz="2025" b="1" noProof="0" dirty="0">
                <a:solidFill>
                  <a:srgbClr val="004479"/>
                </a:solidFill>
                <a:latin typeface="Malacitana-Sans"/>
                <a:ea typeface="Malacitana-Sans"/>
                <a:cs typeface="Malacitana-Sans"/>
              </a:rPr>
              <a:t> </a:t>
            </a:r>
            <a:r>
              <a:rPr lang="es-ES" sz="1650" dirty="0">
                <a:solidFill>
                  <a:srgbClr val="526778"/>
                </a:solidFill>
                <a:latin typeface="Malacitana-Sans"/>
              </a:rPr>
              <a:t>bytes</a:t>
            </a:r>
            <a:r>
              <a:rPr lang="es-ES" sz="2025" b="1" noProof="0" dirty="0">
                <a:solidFill>
                  <a:srgbClr val="004479"/>
                </a:solidFill>
                <a:latin typeface="Malacitana-Sans"/>
                <a:ea typeface="Malacitana-Sans"/>
                <a:cs typeface="Malacitana-Sans"/>
              </a:rPr>
              <a:t> </a:t>
            </a:r>
            <a:endParaRPr lang="es-ES" dirty="0"/>
          </a:p>
        </p:txBody>
      </p:sp>
    </p:spTree>
    <p:extLst>
      <p:ext uri="{BB962C8B-B14F-4D97-AF65-F5344CB8AC3E}">
        <p14:creationId xmlns:p14="http://schemas.microsoft.com/office/powerpoint/2010/main" val="2136667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ext-193">
            <a:extLst>
              <a:ext uri="{FF2B5EF4-FFF2-40B4-BE49-F238E27FC236}">
                <a16:creationId xmlns:a16="http://schemas.microsoft.com/office/drawing/2014/main" id="{275FB044-EB95-4222-BC80-6B4B74DD1107}"/>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Qué se bloquea y qué riesgo permanece</a:t>
            </a:r>
          </a:p>
        </p:txBody>
      </p:sp>
      <p:sp>
        <p:nvSpPr>
          <p:cNvPr id="2" name="text-194">
            <a:extLst>
              <a:ext uri="{FF2B5EF4-FFF2-40B4-BE49-F238E27FC236}">
                <a16:creationId xmlns:a16="http://schemas.microsoft.com/office/drawing/2014/main" id="{63E138AF-B597-4956-9CE9-6354603016C0}"/>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INTERPRETACIÓN DE LA AUDITORÍA</a:t>
            </a:r>
          </a:p>
        </p:txBody>
      </p:sp>
      <p:sp>
        <p:nvSpPr>
          <p:cNvPr id="4" name="text-196">
            <a:extLst>
              <a:ext uri="{FF2B5EF4-FFF2-40B4-BE49-F238E27FC236}">
                <a16:creationId xmlns:a16="http://schemas.microsoft.com/office/drawing/2014/main" id="{114CF545-0240-4E69-A099-1C87E6987923}"/>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14</a:t>
            </a:r>
          </a:p>
        </p:txBody>
      </p:sp>
      <p:sp>
        <p:nvSpPr>
          <p:cNvPr id="5" name="panel-197">
            <a:extLst>
              <a:ext uri="{FF2B5EF4-FFF2-40B4-BE49-F238E27FC236}">
                <a16:creationId xmlns:a16="http://schemas.microsoft.com/office/drawing/2014/main" id="{689535AD-9F9C-41EB-A1D5-698BF41B71FB}"/>
              </a:ext>
            </a:extLst>
          </p:cNvPr>
          <p:cNvSpPr>
            <a:spLocks noGrp="1"/>
          </p:cNvSpPr>
          <p:nvPr/>
        </p:nvSpPr>
        <p:spPr>
          <a:xfrm>
            <a:off x="523875" y="1657350"/>
            <a:ext cx="3924300" cy="3514725"/>
          </a:xfrm>
          <a:prstGeom prst="rect">
            <a:avLst/>
          </a:prstGeom>
          <a:solidFill>
            <a:srgbClr val="EDF6FA"/>
          </a:solidFill>
          <a:ln w="0">
            <a:noFill/>
          </a:ln>
        </p:spPr>
        <p:txBody>
          <a:bodyPr/>
          <a:lstStyle/>
          <a:p>
            <a:endParaRPr lang="es-ES" noProof="0" dirty="0"/>
          </a:p>
        </p:txBody>
      </p:sp>
      <p:sp>
        <p:nvSpPr>
          <p:cNvPr id="6" name="panel-198">
            <a:extLst>
              <a:ext uri="{FF2B5EF4-FFF2-40B4-BE49-F238E27FC236}">
                <a16:creationId xmlns:a16="http://schemas.microsoft.com/office/drawing/2014/main" id="{04CD6B89-D2B2-4DAF-8E43-739F36DE072B}"/>
              </a:ext>
            </a:extLst>
          </p:cNvPr>
          <p:cNvSpPr>
            <a:spLocks noGrp="1"/>
          </p:cNvSpPr>
          <p:nvPr/>
        </p:nvSpPr>
        <p:spPr>
          <a:xfrm>
            <a:off x="4676775" y="1657350"/>
            <a:ext cx="3943350" cy="3514725"/>
          </a:xfrm>
          <a:prstGeom prst="rect">
            <a:avLst/>
          </a:prstGeom>
          <a:solidFill>
            <a:srgbClr val="004479"/>
          </a:solidFill>
          <a:ln w="0">
            <a:noFill/>
          </a:ln>
        </p:spPr>
        <p:txBody>
          <a:bodyPr/>
          <a:lstStyle/>
          <a:p>
            <a:endParaRPr lang="es-ES" noProof="0" dirty="0"/>
          </a:p>
        </p:txBody>
      </p:sp>
      <p:sp>
        <p:nvSpPr>
          <p:cNvPr id="7" name="text-199">
            <a:extLst>
              <a:ext uri="{FF2B5EF4-FFF2-40B4-BE49-F238E27FC236}">
                <a16:creationId xmlns:a16="http://schemas.microsoft.com/office/drawing/2014/main" id="{F2D30652-CFE4-4CE2-A78E-19315966751D}"/>
              </a:ext>
            </a:extLst>
          </p:cNvPr>
          <p:cNvSpPr>
            <a:spLocks noGrp="1"/>
          </p:cNvSpPr>
          <p:nvPr/>
        </p:nvSpPr>
        <p:spPr>
          <a:xfrm>
            <a:off x="733425" y="1895475"/>
            <a:ext cx="3486150" cy="342900"/>
          </a:xfrm>
          <a:prstGeom prst="rect">
            <a:avLst/>
          </a:prstGeom>
          <a:noFill/>
          <a:ln w="0">
            <a:noFill/>
          </a:ln>
        </p:spPr>
        <p:txBody>
          <a:bodyPr wrap="square" lIns="0" tIns="0" rIns="0" bIns="0" anchor="t">
            <a:noAutofit/>
          </a:bodyPr>
          <a:lstStyle/>
          <a:p>
            <a:pPr algn="l">
              <a:defRPr sz="1650" b="1">
                <a:solidFill>
                  <a:srgbClr val="00AAD6"/>
                </a:solidFill>
                <a:latin typeface="Malacitana-Sans"/>
                <a:ea typeface="Malacitana-Sans"/>
                <a:cs typeface="Malacitana-Sans"/>
              </a:defRPr>
            </a:pPr>
            <a:r>
              <a:rPr lang="es-ES" sz="1650" b="1" noProof="0" dirty="0">
                <a:solidFill>
                  <a:srgbClr val="00AAD6"/>
                </a:solidFill>
                <a:latin typeface="Malacitana-Sans"/>
                <a:ea typeface="Malacitana-Sans"/>
                <a:cs typeface="Malacitana-Sans"/>
              </a:rPr>
              <a:t>CONTROLES EFECTIVOS</a:t>
            </a:r>
          </a:p>
        </p:txBody>
      </p:sp>
      <p:sp>
        <p:nvSpPr>
          <p:cNvPr id="8" name="text-200">
            <a:extLst>
              <a:ext uri="{FF2B5EF4-FFF2-40B4-BE49-F238E27FC236}">
                <a16:creationId xmlns:a16="http://schemas.microsoft.com/office/drawing/2014/main" id="{A176AE11-169D-4A2D-9A21-A2C1559F1268}"/>
              </a:ext>
            </a:extLst>
          </p:cNvPr>
          <p:cNvSpPr>
            <a:spLocks noGrp="1"/>
          </p:cNvSpPr>
          <p:nvPr/>
        </p:nvSpPr>
        <p:spPr>
          <a:xfrm>
            <a:off x="733425" y="2524125"/>
            <a:ext cx="3486150" cy="2295525"/>
          </a:xfrm>
          <a:prstGeom prst="rect">
            <a:avLst/>
          </a:prstGeom>
          <a:noFill/>
          <a:ln w="0">
            <a:noFill/>
          </a:ln>
        </p:spPr>
        <p:txBody>
          <a:bodyPr wrap="square" lIns="0" tIns="0" rIns="0" bIns="0" anchor="t">
            <a:noAutofit/>
          </a:bodyPr>
          <a:lstStyle/>
          <a:p>
            <a:pPr algn="l">
              <a:defRPr sz="2250" b="0">
                <a:solidFill>
                  <a:srgbClr val="004479"/>
                </a:solidFill>
                <a:latin typeface="Malacitana-Sans"/>
                <a:ea typeface="Malacitana-Sans"/>
                <a:cs typeface="Malacitana-Sans"/>
              </a:defRPr>
            </a:pPr>
            <a:r>
              <a:rPr lang="es-ES" sz="2250" b="0" noProof="0" dirty="0">
                <a:solidFill>
                  <a:srgbClr val="004479"/>
                </a:solidFill>
                <a:latin typeface="Malacitana-Sans"/>
                <a:ea typeface="Malacitana-Sans"/>
                <a:cs typeface="Malacitana-Sans"/>
              </a:rPr>
              <a:t>Otra instancia → 401</a:t>
            </a:r>
          </a:p>
          <a:p>
            <a:pPr algn="l">
              <a:defRPr sz="2250" b="0">
                <a:solidFill>
                  <a:srgbClr val="004479"/>
                </a:solidFill>
                <a:latin typeface="Malacitana-Sans"/>
                <a:ea typeface="Malacitana-Sans"/>
                <a:cs typeface="Malacitana-Sans"/>
              </a:defRPr>
            </a:pPr>
            <a:r>
              <a:rPr lang="es-ES" sz="2250" b="0" noProof="0" dirty="0">
                <a:solidFill>
                  <a:srgbClr val="004479"/>
                </a:solidFill>
                <a:latin typeface="Malacitana-Sans"/>
                <a:ea typeface="Malacitana-Sans"/>
                <a:cs typeface="Malacitana-Sans"/>
              </a:rPr>
              <a:t>Otro activo → 403</a:t>
            </a:r>
          </a:p>
          <a:p>
            <a:pPr algn="l">
              <a:defRPr sz="2250" b="0">
                <a:solidFill>
                  <a:srgbClr val="004479"/>
                </a:solidFill>
                <a:latin typeface="Malacitana-Sans"/>
                <a:ea typeface="Malacitana-Sans"/>
                <a:cs typeface="Malacitana-Sans"/>
              </a:defRPr>
            </a:pPr>
            <a:r>
              <a:rPr lang="es-ES" sz="2250" b="0" noProof="0" dirty="0">
                <a:solidFill>
                  <a:srgbClr val="004479"/>
                </a:solidFill>
                <a:latin typeface="Malacitana-Sans"/>
                <a:ea typeface="Malacitana-Sans"/>
                <a:cs typeface="Malacitana-Sans"/>
              </a:rPr>
              <a:t>Concurrencia → 409</a:t>
            </a:r>
          </a:p>
          <a:p>
            <a:pPr algn="l">
              <a:defRPr sz="2250" b="0">
                <a:solidFill>
                  <a:srgbClr val="004479"/>
                </a:solidFill>
                <a:latin typeface="Malacitana-Sans"/>
                <a:ea typeface="Malacitana-Sans"/>
                <a:cs typeface="Malacitana-Sans"/>
              </a:defRPr>
            </a:pPr>
            <a:r>
              <a:rPr lang="es-ES" sz="2250" b="0" noProof="0" dirty="0">
                <a:solidFill>
                  <a:srgbClr val="004479"/>
                </a:solidFill>
                <a:latin typeface="Malacitana-Sans"/>
                <a:ea typeface="Malacitana-Sans"/>
                <a:cs typeface="Malacitana-Sans"/>
              </a:rPr>
              <a:t>Sesión detenida → 401</a:t>
            </a:r>
          </a:p>
        </p:txBody>
      </p:sp>
      <p:sp>
        <p:nvSpPr>
          <p:cNvPr id="9" name="text-201">
            <a:extLst>
              <a:ext uri="{FF2B5EF4-FFF2-40B4-BE49-F238E27FC236}">
                <a16:creationId xmlns:a16="http://schemas.microsoft.com/office/drawing/2014/main" id="{51958494-6914-434A-9228-2F2C38CAE3D8}"/>
              </a:ext>
            </a:extLst>
          </p:cNvPr>
          <p:cNvSpPr>
            <a:spLocks noGrp="1"/>
          </p:cNvSpPr>
          <p:nvPr/>
        </p:nvSpPr>
        <p:spPr>
          <a:xfrm>
            <a:off x="4886325" y="1895475"/>
            <a:ext cx="3524250" cy="342900"/>
          </a:xfrm>
          <a:prstGeom prst="rect">
            <a:avLst/>
          </a:prstGeom>
          <a:noFill/>
          <a:ln w="0">
            <a:noFill/>
          </a:ln>
        </p:spPr>
        <p:txBody>
          <a:bodyPr wrap="square" lIns="0" tIns="0" rIns="0" bIns="0" anchor="t">
            <a:noAutofit/>
          </a:bodyPr>
          <a:lstStyle/>
          <a:p>
            <a:pPr algn="l">
              <a:defRPr sz="1650" b="1">
                <a:solidFill>
                  <a:srgbClr val="00AAD6"/>
                </a:solidFill>
                <a:latin typeface="Malacitana-Sans"/>
                <a:ea typeface="Malacitana-Sans"/>
                <a:cs typeface="Malacitana-Sans"/>
              </a:defRPr>
            </a:pPr>
            <a:r>
              <a:rPr lang="es-ES" sz="1650" b="1" noProof="0" dirty="0">
                <a:solidFill>
                  <a:srgbClr val="00AAD6"/>
                </a:solidFill>
                <a:latin typeface="Malacitana-Sans"/>
                <a:ea typeface="Malacitana-Sans"/>
                <a:cs typeface="Malacitana-Sans"/>
              </a:rPr>
              <a:t>RIESGO RESIDUAL</a:t>
            </a:r>
          </a:p>
        </p:txBody>
      </p:sp>
      <p:sp>
        <p:nvSpPr>
          <p:cNvPr id="10" name="text-202">
            <a:extLst>
              <a:ext uri="{FF2B5EF4-FFF2-40B4-BE49-F238E27FC236}">
                <a16:creationId xmlns:a16="http://schemas.microsoft.com/office/drawing/2014/main" id="{8C839DC1-332F-4A3B-AA02-9AA2505308E8}"/>
              </a:ext>
            </a:extLst>
          </p:cNvPr>
          <p:cNvSpPr>
            <a:spLocks noGrp="1"/>
          </p:cNvSpPr>
          <p:nvPr/>
        </p:nvSpPr>
        <p:spPr>
          <a:xfrm>
            <a:off x="4886325" y="2505075"/>
            <a:ext cx="3476625" cy="2390775"/>
          </a:xfrm>
          <a:prstGeom prst="rect">
            <a:avLst/>
          </a:prstGeom>
          <a:noFill/>
          <a:ln w="0">
            <a:noFill/>
          </a:ln>
        </p:spPr>
        <p:txBody>
          <a:bodyPr wrap="square" lIns="0" tIns="0" rIns="0" bIns="0" anchor="t">
            <a:noAutofit/>
          </a:bodyPr>
          <a:lstStyle/>
          <a:p>
            <a:pPr algn="l">
              <a:defRPr sz="2100" b="0">
                <a:solidFill>
                  <a:srgbClr val="FFFFFF"/>
                </a:solidFill>
                <a:latin typeface="Malacitana-Sans"/>
                <a:ea typeface="Malacitana-Sans"/>
                <a:cs typeface="Malacitana-Sans"/>
              </a:defRPr>
            </a:pPr>
            <a:r>
              <a:rPr lang="es-ES" sz="2100" b="0" noProof="0" dirty="0">
                <a:solidFill>
                  <a:srgbClr val="FFFFFF"/>
                </a:solidFill>
                <a:latin typeface="Malacitana-Sans"/>
                <a:ea typeface="Malacitana-Sans"/>
                <a:cs typeface="Malacitana-Sans"/>
              </a:rPr>
              <a:t>Uso externo dentro de</a:t>
            </a:r>
          </a:p>
          <a:p>
            <a:pPr algn="l">
              <a:defRPr sz="2100" b="0">
                <a:solidFill>
                  <a:srgbClr val="FFFFFF"/>
                </a:solidFill>
                <a:latin typeface="Malacitana-Sans"/>
                <a:ea typeface="Malacitana-Sans"/>
                <a:cs typeface="Malacitana-Sans"/>
              </a:defRPr>
            </a:pPr>
            <a:r>
              <a:rPr lang="es-ES" sz="2100" b="0" noProof="0" dirty="0">
                <a:solidFill>
                  <a:srgbClr val="FFFFFF"/>
                </a:solidFill>
                <a:latin typeface="Malacitana-Sans"/>
                <a:ea typeface="Malacitana-Sans"/>
                <a:cs typeface="Malacitana-Sans"/>
              </a:rPr>
              <a:t>un contexto válido</a:t>
            </a:r>
          </a:p>
          <a:p>
            <a:endParaRPr lang="es-ES" sz="2100" b="0" noProof="0" dirty="0">
              <a:solidFill>
                <a:srgbClr val="FFFFFF"/>
              </a:solidFill>
              <a:latin typeface="Malacitana-Sans"/>
              <a:ea typeface="Malacitana-Sans"/>
              <a:cs typeface="Malacitana-Sans"/>
            </a:endParaRPr>
          </a:p>
          <a:p>
            <a:pPr algn="l">
              <a:defRPr sz="2100" b="0">
                <a:solidFill>
                  <a:srgbClr val="FFFFFF"/>
                </a:solidFill>
                <a:latin typeface="Malacitana-Sans"/>
                <a:ea typeface="Malacitana-Sans"/>
                <a:cs typeface="Malacitana-Sans"/>
              </a:defRPr>
            </a:pPr>
            <a:r>
              <a:rPr lang="es-ES" sz="2100" b="0" noProof="0" dirty="0">
                <a:solidFill>
                  <a:srgbClr val="FFFFFF"/>
                </a:solidFill>
                <a:latin typeface="Malacitana-Sans"/>
                <a:ea typeface="Malacitana-Sans"/>
                <a:cs typeface="Malacitana-Sans"/>
              </a:rPr>
              <a:t>Retransmisión secuencial</a:t>
            </a:r>
          </a:p>
          <a:p>
            <a:pPr algn="l">
              <a:defRPr sz="2100" b="0">
                <a:solidFill>
                  <a:srgbClr val="FFFFFF"/>
                </a:solidFill>
                <a:latin typeface="Malacitana-Sans"/>
                <a:ea typeface="Malacitana-Sans"/>
                <a:cs typeface="Malacitana-Sans"/>
              </a:defRPr>
            </a:pPr>
            <a:r>
              <a:rPr lang="es-ES" sz="2100" b="0" noProof="0" dirty="0">
                <a:solidFill>
                  <a:srgbClr val="FFFFFF"/>
                </a:solidFill>
                <a:latin typeface="Malacitana-Sans"/>
                <a:ea typeface="Malacitana-Sans"/>
                <a:cs typeface="Malacitana-Sans"/>
              </a:rPr>
              <a:t>y bytes ya entregados</a:t>
            </a:r>
          </a:p>
        </p:txBody>
      </p:sp>
      <p:sp>
        <p:nvSpPr>
          <p:cNvPr id="11" name="panel-203">
            <a:extLst>
              <a:ext uri="{FF2B5EF4-FFF2-40B4-BE49-F238E27FC236}">
                <a16:creationId xmlns:a16="http://schemas.microsoft.com/office/drawing/2014/main" id="{654291C4-0D14-4B0D-BB48-990E184693AB}"/>
              </a:ext>
            </a:extLst>
          </p:cNvPr>
          <p:cNvSpPr>
            <a:spLocks noGrp="1"/>
          </p:cNvSpPr>
          <p:nvPr/>
        </p:nvSpPr>
        <p:spPr>
          <a:xfrm>
            <a:off x="523875" y="5724525"/>
            <a:ext cx="8096250" cy="504825"/>
          </a:xfrm>
          <a:prstGeom prst="rect">
            <a:avLst/>
          </a:prstGeom>
          <a:solidFill>
            <a:srgbClr val="004479"/>
          </a:solidFill>
          <a:ln w="0">
            <a:noFill/>
          </a:ln>
        </p:spPr>
        <p:txBody>
          <a:bodyPr/>
          <a:lstStyle/>
          <a:p>
            <a:endParaRPr lang="es-ES" noProof="0" dirty="0"/>
          </a:p>
        </p:txBody>
      </p:sp>
      <p:sp>
        <p:nvSpPr>
          <p:cNvPr id="12" name="text-204">
            <a:extLst>
              <a:ext uri="{FF2B5EF4-FFF2-40B4-BE49-F238E27FC236}">
                <a16:creationId xmlns:a16="http://schemas.microsoft.com/office/drawing/2014/main" id="{7672DC4B-A7F0-47AB-8F71-21A1A78FA2F1}"/>
              </a:ext>
            </a:extLst>
          </p:cNvPr>
          <p:cNvSpPr>
            <a:spLocks noGrp="1"/>
          </p:cNvSpPr>
          <p:nvPr/>
        </p:nvSpPr>
        <p:spPr>
          <a:xfrm>
            <a:off x="704850" y="5838825"/>
            <a:ext cx="7734300" cy="304800"/>
          </a:xfrm>
          <a:prstGeom prst="rect">
            <a:avLst/>
          </a:prstGeom>
          <a:noFill/>
          <a:ln w="0">
            <a:noFill/>
          </a:ln>
        </p:spPr>
        <p:txBody>
          <a:bodyPr wrap="square" lIns="0" tIns="0" rIns="0" bIns="0" anchor="t">
            <a:noAutofit/>
          </a:bodyPr>
          <a:lstStyle/>
          <a:p>
            <a:pPr algn="l">
              <a:defRPr sz="1725" b="1">
                <a:solidFill>
                  <a:srgbClr val="FFFFFF"/>
                </a:solidFill>
                <a:latin typeface="Malacitana-Sans"/>
                <a:ea typeface="Malacitana-Sans"/>
                <a:cs typeface="Malacitana-Sans"/>
              </a:defRPr>
            </a:pPr>
            <a:r>
              <a:rPr lang="es-ES" sz="1725" b="1" noProof="0" dirty="0">
                <a:solidFill>
                  <a:srgbClr val="FFFFFF"/>
                </a:solidFill>
                <a:latin typeface="Malacitana-Sans"/>
                <a:ea typeface="Malacitana-Sans"/>
                <a:cs typeface="Malacitana-Sans"/>
              </a:rPr>
              <a:t>CORS limita al navegador; no sustituye a la autorización del servidor.</a:t>
            </a:r>
          </a:p>
        </p:txBody>
      </p:sp>
      <p:sp>
        <p:nvSpPr>
          <p:cNvPr id="15" name="text-7">
            <a:extLst>
              <a:ext uri="{FF2B5EF4-FFF2-40B4-BE49-F238E27FC236}">
                <a16:creationId xmlns:a16="http://schemas.microsoft.com/office/drawing/2014/main" id="{035A030D-3B25-8C33-6E9E-8CE4B97373DE}"/>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19" name="text-205">
            <a:extLst>
              <a:ext uri="{FF2B5EF4-FFF2-40B4-BE49-F238E27FC236}">
                <a16:creationId xmlns:a16="http://schemas.microsoft.com/office/drawing/2014/main" id="{79B68839-0765-42D6-8E87-10A43D02DD6E}"/>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92 pruebas: resultados trazables</a:t>
            </a:r>
          </a:p>
        </p:txBody>
      </p:sp>
      <p:sp>
        <p:nvSpPr>
          <p:cNvPr id="2" name="text-206">
            <a:extLst>
              <a:ext uri="{FF2B5EF4-FFF2-40B4-BE49-F238E27FC236}">
                <a16:creationId xmlns:a16="http://schemas.microsoft.com/office/drawing/2014/main" id="{F2D61897-B03F-4031-8CF6-E75F52291913}"/>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EVALUACIÓN · COBERTURA Y REGRESIÓN</a:t>
            </a:r>
          </a:p>
        </p:txBody>
      </p:sp>
      <p:sp>
        <p:nvSpPr>
          <p:cNvPr id="4" name="text-208">
            <a:extLst>
              <a:ext uri="{FF2B5EF4-FFF2-40B4-BE49-F238E27FC236}">
                <a16:creationId xmlns:a16="http://schemas.microsoft.com/office/drawing/2014/main" id="{E164CBBC-1EC5-4D28-9956-B83E8615B000}"/>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15</a:t>
            </a:r>
          </a:p>
        </p:txBody>
      </p:sp>
      <p:sp>
        <p:nvSpPr>
          <p:cNvPr id="5" name="text-209">
            <a:extLst>
              <a:ext uri="{FF2B5EF4-FFF2-40B4-BE49-F238E27FC236}">
                <a16:creationId xmlns:a16="http://schemas.microsoft.com/office/drawing/2014/main" id="{470F52EA-26A3-47AE-9945-1F46370786F7}"/>
              </a:ext>
            </a:extLst>
          </p:cNvPr>
          <p:cNvSpPr>
            <a:spLocks noGrp="1"/>
          </p:cNvSpPr>
          <p:nvPr/>
        </p:nvSpPr>
        <p:spPr>
          <a:xfrm>
            <a:off x="523875" y="1552575"/>
            <a:ext cx="4476750" cy="971550"/>
          </a:xfrm>
          <a:prstGeom prst="rect">
            <a:avLst/>
          </a:prstGeom>
          <a:noFill/>
          <a:ln w="0">
            <a:noFill/>
          </a:ln>
        </p:spPr>
        <p:txBody>
          <a:bodyPr wrap="square" lIns="0" tIns="0" rIns="0" bIns="0" anchor="t">
            <a:noAutofit/>
          </a:bodyPr>
          <a:lstStyle/>
          <a:p>
            <a:pPr algn="l">
              <a:defRPr sz="5850" b="1">
                <a:solidFill>
                  <a:srgbClr val="00AAD6"/>
                </a:solidFill>
                <a:latin typeface="Malacitana-Sans"/>
                <a:ea typeface="Malacitana-Sans"/>
                <a:cs typeface="Malacitana-Sans"/>
              </a:defRPr>
            </a:pPr>
            <a:r>
              <a:rPr lang="es-ES" sz="5850" b="1" noProof="0" dirty="0">
                <a:solidFill>
                  <a:srgbClr val="00AAD6"/>
                </a:solidFill>
                <a:latin typeface="Malacitana-Sans"/>
                <a:ea typeface="Malacitana-Sans"/>
                <a:cs typeface="Malacitana-Sans"/>
              </a:rPr>
              <a:t>92 / 92</a:t>
            </a:r>
          </a:p>
        </p:txBody>
      </p:sp>
      <p:sp>
        <p:nvSpPr>
          <p:cNvPr id="6" name="text-210">
            <a:extLst>
              <a:ext uri="{FF2B5EF4-FFF2-40B4-BE49-F238E27FC236}">
                <a16:creationId xmlns:a16="http://schemas.microsoft.com/office/drawing/2014/main" id="{3F763C23-422B-440F-B54A-359665913EDF}"/>
              </a:ext>
            </a:extLst>
          </p:cNvPr>
          <p:cNvSpPr>
            <a:spLocks noGrp="1"/>
          </p:cNvSpPr>
          <p:nvPr/>
        </p:nvSpPr>
        <p:spPr>
          <a:xfrm>
            <a:off x="523875" y="2647950"/>
            <a:ext cx="8096250" cy="428625"/>
          </a:xfrm>
          <a:prstGeom prst="rect">
            <a:avLst/>
          </a:prstGeom>
          <a:noFill/>
          <a:ln w="0">
            <a:noFill/>
          </a:ln>
        </p:spPr>
        <p:txBody>
          <a:bodyPr wrap="square" lIns="0" tIns="0" rIns="0" bIns="0" anchor="t">
            <a:noAutofit/>
          </a:bodyPr>
          <a:lstStyle/>
          <a:p>
            <a:pPr algn="l">
              <a:defRPr sz="2175" b="1">
                <a:solidFill>
                  <a:srgbClr val="004479"/>
                </a:solidFill>
                <a:latin typeface="Malacitana-Sans"/>
                <a:ea typeface="Malacitana-Sans"/>
                <a:cs typeface="Malacitana-Sans"/>
              </a:defRPr>
            </a:pPr>
            <a:r>
              <a:rPr lang="es-ES" sz="2175" b="1" noProof="0" dirty="0">
                <a:solidFill>
                  <a:srgbClr val="004479"/>
                </a:solidFill>
                <a:latin typeface="Malacitana-Sans"/>
                <a:ea typeface="Malacitana-Sans"/>
                <a:cs typeface="Malacitana-Sans"/>
              </a:rPr>
              <a:t>65 generales + 27 complementarias</a:t>
            </a:r>
          </a:p>
        </p:txBody>
      </p:sp>
      <p:sp>
        <p:nvSpPr>
          <p:cNvPr id="7" name="panel-211">
            <a:extLst>
              <a:ext uri="{FF2B5EF4-FFF2-40B4-BE49-F238E27FC236}">
                <a16:creationId xmlns:a16="http://schemas.microsoft.com/office/drawing/2014/main" id="{975705C6-934D-44A8-9B37-7F2A35574F25}"/>
              </a:ext>
            </a:extLst>
          </p:cNvPr>
          <p:cNvSpPr>
            <a:spLocks noGrp="1"/>
          </p:cNvSpPr>
          <p:nvPr/>
        </p:nvSpPr>
        <p:spPr>
          <a:xfrm>
            <a:off x="523875" y="3352800"/>
            <a:ext cx="2571750" cy="1266825"/>
          </a:xfrm>
          <a:prstGeom prst="rect">
            <a:avLst/>
          </a:prstGeom>
          <a:solidFill>
            <a:srgbClr val="EDF6FA"/>
          </a:solidFill>
          <a:ln w="0">
            <a:noFill/>
          </a:ln>
        </p:spPr>
        <p:txBody>
          <a:bodyPr/>
          <a:lstStyle/>
          <a:p>
            <a:endParaRPr lang="es-ES" noProof="0" dirty="0"/>
          </a:p>
        </p:txBody>
      </p:sp>
      <p:sp>
        <p:nvSpPr>
          <p:cNvPr id="8" name="text-212">
            <a:extLst>
              <a:ext uri="{FF2B5EF4-FFF2-40B4-BE49-F238E27FC236}">
                <a16:creationId xmlns:a16="http://schemas.microsoft.com/office/drawing/2014/main" id="{36606449-06DA-4440-81EA-B343818A6B88}"/>
              </a:ext>
            </a:extLst>
          </p:cNvPr>
          <p:cNvSpPr>
            <a:spLocks noGrp="1"/>
          </p:cNvSpPr>
          <p:nvPr/>
        </p:nvSpPr>
        <p:spPr>
          <a:xfrm>
            <a:off x="714375" y="3476625"/>
            <a:ext cx="2190750" cy="619125"/>
          </a:xfrm>
          <a:prstGeom prst="rect">
            <a:avLst/>
          </a:prstGeom>
          <a:noFill/>
          <a:ln w="0">
            <a:noFill/>
          </a:ln>
        </p:spPr>
        <p:txBody>
          <a:bodyPr wrap="square" lIns="0" tIns="0" rIns="0" bIns="0" anchor="t">
            <a:noAutofit/>
          </a:bodyPr>
          <a:lstStyle/>
          <a:p>
            <a:pPr algn="l">
              <a:defRPr sz="3600" b="1">
                <a:solidFill>
                  <a:srgbClr val="00AAD6"/>
                </a:solidFill>
                <a:latin typeface="Malacitana-Sans"/>
                <a:ea typeface="Malacitana-Sans"/>
                <a:cs typeface="Malacitana-Sans"/>
              </a:defRPr>
            </a:pPr>
            <a:r>
              <a:rPr lang="es-ES" sz="3600" b="1" noProof="0" dirty="0">
                <a:solidFill>
                  <a:srgbClr val="00AAD6"/>
                </a:solidFill>
                <a:latin typeface="Malacitana-Sans"/>
                <a:ea typeface="Malacitana-Sans"/>
                <a:cs typeface="Malacitana-Sans"/>
              </a:rPr>
              <a:t>15</a:t>
            </a:r>
          </a:p>
        </p:txBody>
      </p:sp>
      <p:sp>
        <p:nvSpPr>
          <p:cNvPr id="9" name="text-213">
            <a:extLst>
              <a:ext uri="{FF2B5EF4-FFF2-40B4-BE49-F238E27FC236}">
                <a16:creationId xmlns:a16="http://schemas.microsoft.com/office/drawing/2014/main" id="{F03A4953-E1D0-428E-AEC2-E9D42D100C56}"/>
              </a:ext>
            </a:extLst>
          </p:cNvPr>
          <p:cNvSpPr>
            <a:spLocks noGrp="1"/>
          </p:cNvSpPr>
          <p:nvPr/>
        </p:nvSpPr>
        <p:spPr>
          <a:xfrm>
            <a:off x="714375" y="4181475"/>
            <a:ext cx="2190750" cy="361950"/>
          </a:xfrm>
          <a:prstGeom prst="rect">
            <a:avLst/>
          </a:prstGeom>
          <a:noFill/>
          <a:ln w="0">
            <a:noFill/>
          </a:ln>
        </p:spPr>
        <p:txBody>
          <a:bodyPr wrap="square" lIns="0" tIns="0" rIns="0" bIns="0" anchor="t">
            <a:noAutofit/>
          </a:bodyPr>
          <a:lstStyle/>
          <a:p>
            <a:pPr algn="l">
              <a:defRPr sz="1875" b="0">
                <a:solidFill>
                  <a:srgbClr val="004479"/>
                </a:solidFill>
                <a:latin typeface="Malacitana-Sans"/>
                <a:ea typeface="Malacitana-Sans"/>
                <a:cs typeface="Malacitana-Sans"/>
              </a:defRPr>
            </a:pPr>
            <a:r>
              <a:rPr lang="es-ES" sz="1875" b="0" noProof="0" dirty="0">
                <a:solidFill>
                  <a:srgbClr val="004479"/>
                </a:solidFill>
                <a:latin typeface="Malacitana-Sans"/>
                <a:ea typeface="Malacitana-Sans"/>
                <a:cs typeface="Malacitana-Sans"/>
              </a:rPr>
              <a:t>Fase 0</a:t>
            </a:r>
          </a:p>
        </p:txBody>
      </p:sp>
      <p:sp>
        <p:nvSpPr>
          <p:cNvPr id="10" name="panel-214">
            <a:extLst>
              <a:ext uri="{FF2B5EF4-FFF2-40B4-BE49-F238E27FC236}">
                <a16:creationId xmlns:a16="http://schemas.microsoft.com/office/drawing/2014/main" id="{FBAAB2BC-2A13-4386-B29C-E807B80FF438}"/>
              </a:ext>
            </a:extLst>
          </p:cNvPr>
          <p:cNvSpPr>
            <a:spLocks noGrp="1"/>
          </p:cNvSpPr>
          <p:nvPr/>
        </p:nvSpPr>
        <p:spPr>
          <a:xfrm>
            <a:off x="3286125" y="3352800"/>
            <a:ext cx="2571750" cy="1266825"/>
          </a:xfrm>
          <a:prstGeom prst="rect">
            <a:avLst/>
          </a:prstGeom>
          <a:solidFill>
            <a:srgbClr val="EDF6FA"/>
          </a:solidFill>
          <a:ln w="0">
            <a:noFill/>
          </a:ln>
        </p:spPr>
        <p:txBody>
          <a:bodyPr/>
          <a:lstStyle/>
          <a:p>
            <a:endParaRPr lang="es-ES" noProof="0" dirty="0"/>
          </a:p>
        </p:txBody>
      </p:sp>
      <p:sp>
        <p:nvSpPr>
          <p:cNvPr id="11" name="text-215">
            <a:extLst>
              <a:ext uri="{FF2B5EF4-FFF2-40B4-BE49-F238E27FC236}">
                <a16:creationId xmlns:a16="http://schemas.microsoft.com/office/drawing/2014/main" id="{DBFD0DFE-6C32-4E0A-BCEA-9C9C5D48E2A7}"/>
              </a:ext>
            </a:extLst>
          </p:cNvPr>
          <p:cNvSpPr>
            <a:spLocks noGrp="1"/>
          </p:cNvSpPr>
          <p:nvPr/>
        </p:nvSpPr>
        <p:spPr>
          <a:xfrm>
            <a:off x="3476625" y="3476625"/>
            <a:ext cx="2190750" cy="619125"/>
          </a:xfrm>
          <a:prstGeom prst="rect">
            <a:avLst/>
          </a:prstGeom>
          <a:noFill/>
          <a:ln w="0">
            <a:noFill/>
          </a:ln>
        </p:spPr>
        <p:txBody>
          <a:bodyPr wrap="square" lIns="0" tIns="0" rIns="0" bIns="0" anchor="t">
            <a:noAutofit/>
          </a:bodyPr>
          <a:lstStyle/>
          <a:p>
            <a:pPr algn="l">
              <a:defRPr sz="3600" b="1">
                <a:solidFill>
                  <a:srgbClr val="00AAD6"/>
                </a:solidFill>
                <a:latin typeface="Malacitana-Sans"/>
                <a:ea typeface="Malacitana-Sans"/>
                <a:cs typeface="Malacitana-Sans"/>
              </a:defRPr>
            </a:pPr>
            <a:r>
              <a:rPr lang="es-ES" sz="3600" b="1" noProof="0" dirty="0">
                <a:solidFill>
                  <a:srgbClr val="00AAD6"/>
                </a:solidFill>
                <a:latin typeface="Malacitana-Sans"/>
                <a:ea typeface="Malacitana-Sans"/>
                <a:cs typeface="Malacitana-Sans"/>
              </a:rPr>
              <a:t>32</a:t>
            </a:r>
          </a:p>
        </p:txBody>
      </p:sp>
      <p:sp>
        <p:nvSpPr>
          <p:cNvPr id="12" name="text-216">
            <a:extLst>
              <a:ext uri="{FF2B5EF4-FFF2-40B4-BE49-F238E27FC236}">
                <a16:creationId xmlns:a16="http://schemas.microsoft.com/office/drawing/2014/main" id="{60781689-2F56-4101-860C-51644A9D0B80}"/>
              </a:ext>
            </a:extLst>
          </p:cNvPr>
          <p:cNvSpPr>
            <a:spLocks noGrp="1"/>
          </p:cNvSpPr>
          <p:nvPr/>
        </p:nvSpPr>
        <p:spPr>
          <a:xfrm>
            <a:off x="3476625" y="4181475"/>
            <a:ext cx="2190750" cy="361950"/>
          </a:xfrm>
          <a:prstGeom prst="rect">
            <a:avLst/>
          </a:prstGeom>
          <a:noFill/>
          <a:ln w="0">
            <a:noFill/>
          </a:ln>
        </p:spPr>
        <p:txBody>
          <a:bodyPr wrap="square" lIns="0" tIns="0" rIns="0" bIns="0" anchor="t">
            <a:noAutofit/>
          </a:bodyPr>
          <a:lstStyle/>
          <a:p>
            <a:pPr algn="l">
              <a:defRPr sz="1875" b="0">
                <a:solidFill>
                  <a:srgbClr val="004479"/>
                </a:solidFill>
                <a:latin typeface="Malacitana-Sans"/>
                <a:ea typeface="Malacitana-Sans"/>
                <a:cs typeface="Malacitana-Sans"/>
              </a:defRPr>
            </a:pPr>
            <a:r>
              <a:rPr lang="es-ES" sz="1875" b="0" noProof="0" dirty="0">
                <a:solidFill>
                  <a:srgbClr val="004479"/>
                </a:solidFill>
                <a:latin typeface="Malacitana-Sans"/>
                <a:ea typeface="Malacitana-Sans"/>
                <a:cs typeface="Malacitana-Sans"/>
              </a:rPr>
              <a:t>Fase 1</a:t>
            </a:r>
          </a:p>
        </p:txBody>
      </p:sp>
      <p:sp>
        <p:nvSpPr>
          <p:cNvPr id="13" name="panel-217">
            <a:extLst>
              <a:ext uri="{FF2B5EF4-FFF2-40B4-BE49-F238E27FC236}">
                <a16:creationId xmlns:a16="http://schemas.microsoft.com/office/drawing/2014/main" id="{B9D3A021-D740-4849-968A-45C165D2B220}"/>
              </a:ext>
            </a:extLst>
          </p:cNvPr>
          <p:cNvSpPr>
            <a:spLocks noGrp="1"/>
          </p:cNvSpPr>
          <p:nvPr/>
        </p:nvSpPr>
        <p:spPr>
          <a:xfrm>
            <a:off x="6048375" y="3352800"/>
            <a:ext cx="2571750" cy="1266825"/>
          </a:xfrm>
          <a:prstGeom prst="rect">
            <a:avLst/>
          </a:prstGeom>
          <a:solidFill>
            <a:srgbClr val="EDF6FA"/>
          </a:solidFill>
          <a:ln w="0">
            <a:noFill/>
          </a:ln>
        </p:spPr>
        <p:txBody>
          <a:bodyPr/>
          <a:lstStyle/>
          <a:p>
            <a:endParaRPr lang="es-ES" noProof="0" dirty="0"/>
          </a:p>
        </p:txBody>
      </p:sp>
      <p:sp>
        <p:nvSpPr>
          <p:cNvPr id="14" name="text-218">
            <a:extLst>
              <a:ext uri="{FF2B5EF4-FFF2-40B4-BE49-F238E27FC236}">
                <a16:creationId xmlns:a16="http://schemas.microsoft.com/office/drawing/2014/main" id="{C80CFB5A-A031-4C9A-BCFF-54CF4BDF1A9B}"/>
              </a:ext>
            </a:extLst>
          </p:cNvPr>
          <p:cNvSpPr>
            <a:spLocks noGrp="1"/>
          </p:cNvSpPr>
          <p:nvPr/>
        </p:nvSpPr>
        <p:spPr>
          <a:xfrm>
            <a:off x="6238875" y="3476625"/>
            <a:ext cx="2190750" cy="619125"/>
          </a:xfrm>
          <a:prstGeom prst="rect">
            <a:avLst/>
          </a:prstGeom>
          <a:noFill/>
          <a:ln w="0">
            <a:noFill/>
          </a:ln>
        </p:spPr>
        <p:txBody>
          <a:bodyPr wrap="square" lIns="0" tIns="0" rIns="0" bIns="0" anchor="t">
            <a:noAutofit/>
          </a:bodyPr>
          <a:lstStyle/>
          <a:p>
            <a:pPr algn="l">
              <a:defRPr sz="3600" b="1">
                <a:solidFill>
                  <a:srgbClr val="00AAD6"/>
                </a:solidFill>
                <a:latin typeface="Malacitana-Sans"/>
                <a:ea typeface="Malacitana-Sans"/>
                <a:cs typeface="Malacitana-Sans"/>
              </a:defRPr>
            </a:pPr>
            <a:r>
              <a:rPr lang="es-ES" sz="3600" b="1" noProof="0" dirty="0">
                <a:solidFill>
                  <a:srgbClr val="00AAD6"/>
                </a:solidFill>
                <a:latin typeface="Malacitana-Sans"/>
                <a:ea typeface="Malacitana-Sans"/>
                <a:cs typeface="Malacitana-Sans"/>
              </a:rPr>
              <a:t>45</a:t>
            </a:r>
          </a:p>
        </p:txBody>
      </p:sp>
      <p:sp>
        <p:nvSpPr>
          <p:cNvPr id="15" name="text-219">
            <a:extLst>
              <a:ext uri="{FF2B5EF4-FFF2-40B4-BE49-F238E27FC236}">
                <a16:creationId xmlns:a16="http://schemas.microsoft.com/office/drawing/2014/main" id="{0A852EE1-1FE7-447E-8046-EA178C357DFC}"/>
              </a:ext>
            </a:extLst>
          </p:cNvPr>
          <p:cNvSpPr>
            <a:spLocks noGrp="1"/>
          </p:cNvSpPr>
          <p:nvPr/>
        </p:nvSpPr>
        <p:spPr>
          <a:xfrm>
            <a:off x="6238875" y="4181475"/>
            <a:ext cx="2190750" cy="361950"/>
          </a:xfrm>
          <a:prstGeom prst="rect">
            <a:avLst/>
          </a:prstGeom>
          <a:noFill/>
          <a:ln w="0">
            <a:noFill/>
          </a:ln>
        </p:spPr>
        <p:txBody>
          <a:bodyPr wrap="square" lIns="0" tIns="0" rIns="0" bIns="0" anchor="t">
            <a:noAutofit/>
          </a:bodyPr>
          <a:lstStyle/>
          <a:p>
            <a:pPr algn="l">
              <a:defRPr sz="1875" b="0">
                <a:solidFill>
                  <a:srgbClr val="004479"/>
                </a:solidFill>
                <a:latin typeface="Malacitana-Sans"/>
                <a:ea typeface="Malacitana-Sans"/>
                <a:cs typeface="Malacitana-Sans"/>
              </a:defRPr>
            </a:pPr>
            <a:r>
              <a:rPr lang="es-ES" sz="1875" b="0" noProof="0" dirty="0">
                <a:solidFill>
                  <a:srgbClr val="004479"/>
                </a:solidFill>
                <a:latin typeface="Malacitana-Sans"/>
                <a:ea typeface="Malacitana-Sans"/>
                <a:cs typeface="Malacitana-Sans"/>
              </a:rPr>
              <a:t>Fase 2</a:t>
            </a:r>
          </a:p>
        </p:txBody>
      </p:sp>
      <p:sp>
        <p:nvSpPr>
          <p:cNvPr id="16" name="text-220">
            <a:extLst>
              <a:ext uri="{FF2B5EF4-FFF2-40B4-BE49-F238E27FC236}">
                <a16:creationId xmlns:a16="http://schemas.microsoft.com/office/drawing/2014/main" id="{95E27F66-96BC-434B-8BC8-5E25B132F0A7}"/>
              </a:ext>
            </a:extLst>
          </p:cNvPr>
          <p:cNvSpPr>
            <a:spLocks noGrp="1"/>
          </p:cNvSpPr>
          <p:nvPr/>
        </p:nvSpPr>
        <p:spPr>
          <a:xfrm>
            <a:off x="523875" y="5029200"/>
            <a:ext cx="8096250" cy="361950"/>
          </a:xfrm>
          <a:prstGeom prst="rect">
            <a:avLst/>
          </a:prstGeom>
          <a:noFill/>
          <a:ln w="0">
            <a:noFill/>
          </a:ln>
        </p:spPr>
        <p:txBody>
          <a:bodyPr wrap="square" lIns="0" tIns="0" rIns="0" bIns="0" anchor="t">
            <a:noAutofit/>
          </a:bodyPr>
          <a:lstStyle/>
          <a:p>
            <a:pPr>
              <a:defRPr sz="1950" b="1">
                <a:solidFill>
                  <a:srgbClr val="004479"/>
                </a:solidFill>
                <a:latin typeface="Malacitana-Sans"/>
                <a:ea typeface="Malacitana-Sans"/>
                <a:cs typeface="Malacitana-Sans"/>
              </a:defRPr>
            </a:pPr>
            <a:r>
              <a:rPr lang="es-ES" sz="1950" b="1" dirty="0">
                <a:solidFill>
                  <a:srgbClr val="004479"/>
                </a:solidFill>
                <a:latin typeface="Malacitana-Sans"/>
              </a:rPr>
              <a:t>Corrección y revalidación</a:t>
            </a:r>
            <a:r>
              <a:rPr lang="es-ES" sz="1950" b="1" noProof="0" dirty="0">
                <a:solidFill>
                  <a:srgbClr val="004479"/>
                </a:solidFill>
                <a:latin typeface="Malacitana-Sans"/>
                <a:ea typeface="Malacitana-Sans"/>
                <a:cs typeface="Malacitana-Sans"/>
              </a:rPr>
              <a:t>: cabecera de sesión en /</a:t>
            </a:r>
            <a:r>
              <a:rPr lang="es-ES" sz="1950" b="1" noProof="0" dirty="0" err="1">
                <a:solidFill>
                  <a:srgbClr val="004479"/>
                </a:solidFill>
                <a:latin typeface="Malacitana-Sans"/>
                <a:ea typeface="Malacitana-Sans"/>
                <a:cs typeface="Malacitana-Sans"/>
              </a:rPr>
              <a:t>license</a:t>
            </a:r>
            <a:endParaRPr lang="es-ES" sz="1950" b="1" noProof="0" dirty="0">
              <a:solidFill>
                <a:srgbClr val="004479"/>
              </a:solidFill>
              <a:latin typeface="Malacitana-Sans"/>
              <a:ea typeface="Malacitana-Sans"/>
              <a:cs typeface="Malacitana-Sans"/>
            </a:endParaRPr>
          </a:p>
        </p:txBody>
      </p:sp>
      <p:sp>
        <p:nvSpPr>
          <p:cNvPr id="17" name="text-221">
            <a:extLst>
              <a:ext uri="{FF2B5EF4-FFF2-40B4-BE49-F238E27FC236}">
                <a16:creationId xmlns:a16="http://schemas.microsoft.com/office/drawing/2014/main" id="{9962B1DA-1F1D-4621-8E10-39C04455A102}"/>
              </a:ext>
            </a:extLst>
          </p:cNvPr>
          <p:cNvSpPr>
            <a:spLocks noGrp="1"/>
          </p:cNvSpPr>
          <p:nvPr/>
        </p:nvSpPr>
        <p:spPr>
          <a:xfrm>
            <a:off x="523875" y="5467350"/>
            <a:ext cx="8096250" cy="466725"/>
          </a:xfrm>
          <a:prstGeom prst="rect">
            <a:avLst/>
          </a:prstGeom>
          <a:noFill/>
          <a:ln w="0">
            <a:noFill/>
          </a:ln>
        </p:spPr>
        <p:txBody>
          <a:bodyPr wrap="square" lIns="0" tIns="0" rIns="0" bIns="0" anchor="t">
            <a:noAutofit/>
          </a:bodyPr>
          <a:lstStyle/>
          <a:p>
            <a:pPr algn="l">
              <a:defRPr sz="1800" b="0">
                <a:solidFill>
                  <a:srgbClr val="004479"/>
                </a:solidFill>
                <a:latin typeface="Malacitana-Sans"/>
                <a:ea typeface="Malacitana-Sans"/>
                <a:cs typeface="Malacitana-Sans"/>
              </a:defRPr>
            </a:pPr>
            <a:r>
              <a:rPr lang="es-ES" sz="1800" b="0" noProof="0" dirty="0">
                <a:solidFill>
                  <a:srgbClr val="004479"/>
                </a:solidFill>
                <a:latin typeface="Malacitana-Sans"/>
                <a:ea typeface="Malacitana-Sans"/>
                <a:cs typeface="Malacitana-Sans"/>
              </a:rPr>
              <a:t>HTTP 500 → 409 SESSION_MISMATCH · 64/65 → 65/65</a:t>
            </a:r>
          </a:p>
        </p:txBody>
      </p:sp>
      <p:sp>
        <p:nvSpPr>
          <p:cNvPr id="18" name="text-222">
            <a:extLst>
              <a:ext uri="{FF2B5EF4-FFF2-40B4-BE49-F238E27FC236}">
                <a16:creationId xmlns:a16="http://schemas.microsoft.com/office/drawing/2014/main" id="{B897EFFD-69A8-428E-BE6D-9CBCCBD845A5}"/>
              </a:ext>
            </a:extLst>
          </p:cNvPr>
          <p:cNvSpPr>
            <a:spLocks noGrp="1"/>
          </p:cNvSpPr>
          <p:nvPr/>
        </p:nvSpPr>
        <p:spPr>
          <a:xfrm>
            <a:off x="523875" y="6086475"/>
            <a:ext cx="8096250" cy="276225"/>
          </a:xfrm>
          <a:prstGeom prst="rect">
            <a:avLst/>
          </a:prstGeom>
          <a:noFill/>
          <a:ln w="0">
            <a:noFill/>
          </a:ln>
        </p:spPr>
        <p:txBody>
          <a:bodyPr wrap="square" lIns="0" tIns="0" rIns="0" bIns="0" anchor="t">
            <a:noAutofit/>
          </a:bodyPr>
          <a:lstStyle/>
          <a:p>
            <a:pPr algn="l">
              <a:defRPr sz="1350" b="0">
                <a:solidFill>
                  <a:srgbClr val="526778"/>
                </a:solidFill>
                <a:latin typeface="Malacitana-Sans"/>
                <a:ea typeface="Malacitana-Sans"/>
                <a:cs typeface="Malacitana-Sans"/>
              </a:defRPr>
            </a:pPr>
            <a:r>
              <a:rPr lang="es-ES" sz="1350" b="0" noProof="0" dirty="0">
                <a:solidFill>
                  <a:srgbClr val="526778"/>
                </a:solidFill>
                <a:latin typeface="Malacitana-Sans"/>
                <a:ea typeface="Malacitana-Sans"/>
                <a:cs typeface="Malacitana-Sans"/>
              </a:rPr>
              <a:t>En Fase 0, superar una prueba también puede confirmar una debilidad esperada.</a:t>
            </a:r>
          </a:p>
        </p:txBody>
      </p:sp>
      <p:sp>
        <p:nvSpPr>
          <p:cNvPr id="21" name="text-7">
            <a:extLst>
              <a:ext uri="{FF2B5EF4-FFF2-40B4-BE49-F238E27FC236}">
                <a16:creationId xmlns:a16="http://schemas.microsoft.com/office/drawing/2014/main" id="{BA9D3C94-8C37-13A8-D777-AF0523A26A79}"/>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text-223">
            <a:extLst>
              <a:ext uri="{FF2B5EF4-FFF2-40B4-BE49-F238E27FC236}">
                <a16:creationId xmlns:a16="http://schemas.microsoft.com/office/drawing/2014/main" id="{C229A121-7D37-4131-973B-CCEC4DD35139}"/>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El control adicional tiene un coste medible</a:t>
            </a:r>
          </a:p>
        </p:txBody>
      </p:sp>
      <p:sp>
        <p:nvSpPr>
          <p:cNvPr id="2" name="text-224">
            <a:extLst>
              <a:ext uri="{FF2B5EF4-FFF2-40B4-BE49-F238E27FC236}">
                <a16:creationId xmlns:a16="http://schemas.microsoft.com/office/drawing/2014/main" id="{751C1322-5C4F-4B0D-9781-494DF0393049}"/>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EVALUACIÓN · LATENCIA LOCAL</a:t>
            </a:r>
          </a:p>
        </p:txBody>
      </p:sp>
      <p:sp>
        <p:nvSpPr>
          <p:cNvPr id="4" name="text-226">
            <a:extLst>
              <a:ext uri="{FF2B5EF4-FFF2-40B4-BE49-F238E27FC236}">
                <a16:creationId xmlns:a16="http://schemas.microsoft.com/office/drawing/2014/main" id="{59E06017-FD90-4206-AA5D-49B35F9255C4}"/>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16</a:t>
            </a:r>
          </a:p>
        </p:txBody>
      </p:sp>
      <p:graphicFrame>
        <p:nvGraphicFramePr>
          <p:cNvPr id="12" name="Chart"/>
          <p:cNvGraphicFramePr/>
          <p:nvPr>
            <p:extLst>
              <p:ext uri="{D42A27DB-BD31-4B8C-83A1-F6EECF244321}">
                <p14:modId xmlns:p14="http://schemas.microsoft.com/office/powerpoint/2010/main" val="1814759624"/>
              </p:ext>
            </p:extLst>
          </p:nvPr>
        </p:nvGraphicFramePr>
        <p:xfrm>
          <a:off x="523875" y="1524000"/>
          <a:ext cx="8096250" cy="3457575"/>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227">
            <a:extLst>
              <a:ext uri="{FF2B5EF4-FFF2-40B4-BE49-F238E27FC236}">
                <a16:creationId xmlns:a16="http://schemas.microsoft.com/office/drawing/2014/main" id="{E7ECD631-9406-416B-9F5B-685808CC9183}"/>
              </a:ext>
            </a:extLst>
          </p:cNvPr>
          <p:cNvSpPr>
            <a:spLocks noGrp="1"/>
          </p:cNvSpPr>
          <p:nvPr/>
        </p:nvSpPr>
        <p:spPr>
          <a:xfrm>
            <a:off x="523875" y="5257800"/>
            <a:ext cx="8096250" cy="400050"/>
          </a:xfrm>
          <a:prstGeom prst="rect">
            <a:avLst/>
          </a:prstGeom>
          <a:noFill/>
          <a:ln w="0">
            <a:noFill/>
          </a:ln>
        </p:spPr>
        <p:txBody>
          <a:bodyPr wrap="square" lIns="0" tIns="0" rIns="0" bIns="0" anchor="t">
            <a:noAutofit/>
          </a:bodyPr>
          <a:lstStyle/>
          <a:p>
            <a:pPr algn="l">
              <a:defRPr sz="2175" b="1">
                <a:solidFill>
                  <a:srgbClr val="004479"/>
                </a:solidFill>
                <a:latin typeface="Malacitana-Sans"/>
                <a:ea typeface="Malacitana-Sans"/>
                <a:cs typeface="Malacitana-Sans"/>
              </a:defRPr>
            </a:pPr>
            <a:r>
              <a:rPr lang="es-ES" sz="2175" b="1" noProof="0" dirty="0">
                <a:solidFill>
                  <a:srgbClr val="004479"/>
                </a:solidFill>
                <a:latin typeface="Malacitana-Sans"/>
                <a:ea typeface="Malacitana-Sans"/>
                <a:cs typeface="Malacitana-Sans"/>
              </a:rPr>
              <a:t>240 mediciones · 20 por fase y operación</a:t>
            </a:r>
          </a:p>
        </p:txBody>
      </p:sp>
      <p:sp>
        <p:nvSpPr>
          <p:cNvPr id="7" name="text-228">
            <a:extLst>
              <a:ext uri="{FF2B5EF4-FFF2-40B4-BE49-F238E27FC236}">
                <a16:creationId xmlns:a16="http://schemas.microsoft.com/office/drawing/2014/main" id="{2CCA03D9-64B9-4916-A47D-F191FD1925CF}"/>
              </a:ext>
            </a:extLst>
          </p:cNvPr>
          <p:cNvSpPr>
            <a:spLocks noGrp="1"/>
          </p:cNvSpPr>
          <p:nvPr/>
        </p:nvSpPr>
        <p:spPr>
          <a:xfrm>
            <a:off x="523875" y="5800725"/>
            <a:ext cx="8096250" cy="533400"/>
          </a:xfrm>
          <a:prstGeom prst="rect">
            <a:avLst/>
          </a:prstGeom>
          <a:noFill/>
          <a:ln w="0">
            <a:noFill/>
          </a:ln>
        </p:spPr>
        <p:txBody>
          <a:bodyPr wrap="square" lIns="0" tIns="0" rIns="0" bIns="0" anchor="t">
            <a:noAutofit/>
          </a:bodyPr>
          <a:lstStyle/>
          <a:p>
            <a:pPr algn="l">
              <a:defRPr sz="1575" b="0">
                <a:solidFill>
                  <a:srgbClr val="526778"/>
                </a:solidFill>
                <a:latin typeface="Malacitana-Sans"/>
                <a:ea typeface="Malacitana-Sans"/>
                <a:cs typeface="Malacitana-Sans"/>
              </a:defRPr>
            </a:pPr>
            <a:r>
              <a:rPr lang="es-ES" sz="1575" b="0" noProof="0" dirty="0">
                <a:solidFill>
                  <a:srgbClr val="526778"/>
                </a:solidFill>
                <a:latin typeface="Malacitana-Sans"/>
                <a:ea typeface="Malacitana-Sans"/>
                <a:cs typeface="Malacitana-Sans"/>
              </a:rPr>
              <a:t>Entorno local y secuencial. El manifiesto incluye el servicio externo.</a:t>
            </a:r>
          </a:p>
        </p:txBody>
      </p:sp>
      <p:sp>
        <p:nvSpPr>
          <p:cNvPr id="9" name="text-7">
            <a:extLst>
              <a:ext uri="{FF2B5EF4-FFF2-40B4-BE49-F238E27FC236}">
                <a16:creationId xmlns:a16="http://schemas.microsoft.com/office/drawing/2014/main" id="{CCFE6B30-BC60-ECC4-08D2-2587C60641B4}"/>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18" name="text-229">
            <a:extLst>
              <a:ext uri="{FF2B5EF4-FFF2-40B4-BE49-F238E27FC236}">
                <a16:creationId xmlns:a16="http://schemas.microsoft.com/office/drawing/2014/main" id="{3D386FED-CBF4-4842-A6D0-1FEE97464B6E}"/>
              </a:ext>
            </a:extLst>
          </p:cNvPr>
          <p:cNvSpPr>
            <a:spLocks noGrp="1"/>
          </p:cNvSpPr>
          <p:nvPr/>
        </p:nvSpPr>
        <p:spPr>
          <a:xfrm>
            <a:off x="514350" y="209550"/>
            <a:ext cx="8096250" cy="466725"/>
          </a:xfrm>
          <a:prstGeom prst="rect">
            <a:avLst/>
          </a:prstGeom>
          <a:noFill/>
          <a:ln w="0">
            <a:noFill/>
          </a:ln>
        </p:spPr>
        <p:txBody>
          <a:bodyPr wrap="square" lIns="0" tIns="0" rIns="0" bIns="0" anchor="t">
            <a:noAutofit/>
          </a:bodyPr>
          <a:lstStyle/>
          <a:p>
            <a:pPr algn="l">
              <a:defRPr sz="2400" b="1">
                <a:solidFill>
                  <a:srgbClr val="004479"/>
                </a:solidFill>
                <a:latin typeface="Malacitana-Sans"/>
                <a:ea typeface="Malacitana-Sans"/>
                <a:cs typeface="Malacitana-Sans"/>
              </a:defRPr>
            </a:pPr>
            <a:r>
              <a:rPr lang="es-ES" sz="2400" b="1" noProof="0" dirty="0">
                <a:solidFill>
                  <a:srgbClr val="004479"/>
                </a:solidFill>
                <a:latin typeface="Malacitana-Sans"/>
                <a:ea typeface="Malacitana-Sans"/>
                <a:cs typeface="Malacitana-Sans"/>
              </a:rPr>
              <a:t>Límites actuales y siguientes pasos</a:t>
            </a:r>
          </a:p>
        </p:txBody>
      </p:sp>
      <p:sp>
        <p:nvSpPr>
          <p:cNvPr id="2" name="text-230">
            <a:extLst>
              <a:ext uri="{FF2B5EF4-FFF2-40B4-BE49-F238E27FC236}">
                <a16:creationId xmlns:a16="http://schemas.microsoft.com/office/drawing/2014/main" id="{D1D99B36-C480-4340-A7CF-C4BF787E0505}"/>
              </a:ext>
            </a:extLst>
          </p:cNvPr>
          <p:cNvSpPr>
            <a:spLocks noGrp="1"/>
          </p:cNvSpPr>
          <p:nvPr/>
        </p:nvSpPr>
        <p:spPr>
          <a:xfrm>
            <a:off x="523875" y="1066800"/>
            <a:ext cx="7715250" cy="257175"/>
          </a:xfrm>
          <a:prstGeom prst="rect">
            <a:avLst/>
          </a:prstGeom>
          <a:noFill/>
          <a:ln w="0">
            <a:noFill/>
          </a:ln>
        </p:spPr>
        <p:txBody>
          <a:bodyPr wrap="square" lIns="0" tIns="0" rIns="0" bIns="0" anchor="t">
            <a:noAutofit/>
          </a:bodyPr>
          <a:lstStyle/>
          <a:p>
            <a:pPr algn="l">
              <a:defRPr sz="1275" b="1">
                <a:solidFill>
                  <a:srgbClr val="00AAD6"/>
                </a:solidFill>
                <a:latin typeface="Malacitana-Sans"/>
                <a:ea typeface="Malacitana-Sans"/>
                <a:cs typeface="Malacitana-Sans"/>
              </a:defRPr>
            </a:pPr>
            <a:r>
              <a:rPr lang="es-ES" sz="1275" b="1" noProof="0" dirty="0">
                <a:solidFill>
                  <a:srgbClr val="00AAD6"/>
                </a:solidFill>
                <a:latin typeface="Malacitana-Sans"/>
                <a:ea typeface="Malacitana-Sans"/>
                <a:cs typeface="Malacitana-Sans"/>
              </a:rPr>
              <a:t>ALCANCE DE LOS RESULTADOS</a:t>
            </a:r>
          </a:p>
        </p:txBody>
      </p:sp>
      <p:sp>
        <p:nvSpPr>
          <p:cNvPr id="4" name="text-232">
            <a:extLst>
              <a:ext uri="{FF2B5EF4-FFF2-40B4-BE49-F238E27FC236}">
                <a16:creationId xmlns:a16="http://schemas.microsoft.com/office/drawing/2014/main" id="{657597BC-E4C7-4502-A84C-F1D8542289B9}"/>
              </a:ext>
            </a:extLst>
          </p:cNvPr>
          <p:cNvSpPr>
            <a:spLocks noGrp="1"/>
          </p:cNvSpPr>
          <p:nvPr/>
        </p:nvSpPr>
        <p:spPr>
          <a:xfrm>
            <a:off x="8143875" y="6438900"/>
            <a:ext cx="476250" cy="238125"/>
          </a:xfrm>
          <a:prstGeom prst="rect">
            <a:avLst/>
          </a:prstGeom>
          <a:noFill/>
          <a:ln w="0">
            <a:noFill/>
          </a:ln>
        </p:spPr>
        <p:txBody>
          <a:bodyPr wrap="square" lIns="0" tIns="0" rIns="0" bIns="0" anchor="t">
            <a:noAutofit/>
          </a:bodyPr>
          <a:lstStyle/>
          <a:p>
            <a:pPr algn="r">
              <a:defRPr sz="1200" b="0">
                <a:solidFill>
                  <a:srgbClr val="526778"/>
                </a:solidFill>
                <a:latin typeface="Malacitana-Sans"/>
                <a:ea typeface="Malacitana-Sans"/>
                <a:cs typeface="Malacitana-Sans"/>
              </a:defRPr>
            </a:pPr>
            <a:r>
              <a:rPr lang="es-ES" sz="1200" b="0" noProof="0" dirty="0">
                <a:solidFill>
                  <a:srgbClr val="526778"/>
                </a:solidFill>
                <a:latin typeface="Malacitana-Sans"/>
                <a:ea typeface="Malacitana-Sans"/>
                <a:cs typeface="Malacitana-Sans"/>
              </a:rPr>
              <a:t>17</a:t>
            </a:r>
          </a:p>
        </p:txBody>
      </p:sp>
      <p:sp>
        <p:nvSpPr>
          <p:cNvPr id="5" name="text-233">
            <a:extLst>
              <a:ext uri="{FF2B5EF4-FFF2-40B4-BE49-F238E27FC236}">
                <a16:creationId xmlns:a16="http://schemas.microsoft.com/office/drawing/2014/main" id="{6EF1B814-BB01-4620-B1B1-75AD904D3391}"/>
              </a:ext>
            </a:extLst>
          </p:cNvPr>
          <p:cNvSpPr>
            <a:spLocks noGrp="1"/>
          </p:cNvSpPr>
          <p:nvPr/>
        </p:nvSpPr>
        <p:spPr>
          <a:xfrm>
            <a:off x="523875" y="1590675"/>
            <a:ext cx="3829050" cy="361950"/>
          </a:xfrm>
          <a:prstGeom prst="rect">
            <a:avLst/>
          </a:prstGeom>
          <a:noFill/>
          <a:ln w="0">
            <a:noFill/>
          </a:ln>
        </p:spPr>
        <p:txBody>
          <a:bodyPr wrap="square" lIns="0" tIns="0" rIns="0" bIns="0" anchor="t">
            <a:noAutofit/>
          </a:bodyPr>
          <a:lstStyle/>
          <a:p>
            <a:pPr algn="l">
              <a:defRPr sz="1575" b="1">
                <a:solidFill>
                  <a:srgbClr val="00AAD6"/>
                </a:solidFill>
                <a:latin typeface="Malacitana-Sans"/>
                <a:ea typeface="Malacitana-Sans"/>
                <a:cs typeface="Malacitana-Sans"/>
              </a:defRPr>
            </a:pPr>
            <a:r>
              <a:rPr lang="es-ES" sz="1575" b="1" noProof="0" dirty="0">
                <a:solidFill>
                  <a:srgbClr val="00AAD6"/>
                </a:solidFill>
                <a:latin typeface="Malacitana-Sans"/>
                <a:ea typeface="Malacitana-Sans"/>
                <a:cs typeface="Malacitana-Sans"/>
              </a:rPr>
              <a:t>LÍMITE OBSERVADO</a:t>
            </a:r>
          </a:p>
        </p:txBody>
      </p:sp>
      <p:sp>
        <p:nvSpPr>
          <p:cNvPr id="6" name="text-234">
            <a:extLst>
              <a:ext uri="{FF2B5EF4-FFF2-40B4-BE49-F238E27FC236}">
                <a16:creationId xmlns:a16="http://schemas.microsoft.com/office/drawing/2014/main" id="{1AFA6B37-15BA-4DBD-A30C-A68BCF4E9E82}"/>
              </a:ext>
            </a:extLst>
          </p:cNvPr>
          <p:cNvSpPr>
            <a:spLocks noGrp="1"/>
          </p:cNvSpPr>
          <p:nvPr/>
        </p:nvSpPr>
        <p:spPr>
          <a:xfrm>
            <a:off x="4676775" y="1590675"/>
            <a:ext cx="3943350" cy="361950"/>
          </a:xfrm>
          <a:prstGeom prst="rect">
            <a:avLst/>
          </a:prstGeom>
          <a:noFill/>
          <a:ln w="0">
            <a:noFill/>
          </a:ln>
        </p:spPr>
        <p:txBody>
          <a:bodyPr wrap="square" lIns="0" tIns="0" rIns="0" bIns="0" anchor="t">
            <a:noAutofit/>
          </a:bodyPr>
          <a:lstStyle/>
          <a:p>
            <a:pPr algn="l">
              <a:defRPr sz="1575" b="1">
                <a:solidFill>
                  <a:srgbClr val="00AAD6"/>
                </a:solidFill>
                <a:latin typeface="Malacitana-Sans"/>
                <a:ea typeface="Malacitana-Sans"/>
                <a:cs typeface="Malacitana-Sans"/>
              </a:defRPr>
            </a:pPr>
            <a:r>
              <a:rPr lang="es-ES" sz="1575" b="1" noProof="0" dirty="0">
                <a:solidFill>
                  <a:srgbClr val="00AAD6"/>
                </a:solidFill>
                <a:latin typeface="Malacitana-Sans"/>
                <a:ea typeface="Malacitana-Sans"/>
                <a:cs typeface="Malacitana-Sans"/>
              </a:rPr>
              <a:t>SIGUIENTE VALIDACIÓN</a:t>
            </a:r>
          </a:p>
        </p:txBody>
      </p:sp>
      <p:sp>
        <p:nvSpPr>
          <p:cNvPr id="7" name="panel-235">
            <a:extLst>
              <a:ext uri="{FF2B5EF4-FFF2-40B4-BE49-F238E27FC236}">
                <a16:creationId xmlns:a16="http://schemas.microsoft.com/office/drawing/2014/main" id="{E5E4CC73-F934-4B9D-9CC8-B60384E8C026}"/>
              </a:ext>
            </a:extLst>
          </p:cNvPr>
          <p:cNvSpPr>
            <a:spLocks noGrp="1"/>
          </p:cNvSpPr>
          <p:nvPr/>
        </p:nvSpPr>
        <p:spPr>
          <a:xfrm>
            <a:off x="523875" y="2171700"/>
            <a:ext cx="8096250" cy="895350"/>
          </a:xfrm>
          <a:prstGeom prst="rect">
            <a:avLst/>
          </a:prstGeom>
          <a:solidFill>
            <a:srgbClr val="EDF6FA"/>
          </a:solidFill>
          <a:ln w="0">
            <a:noFill/>
          </a:ln>
        </p:spPr>
        <p:txBody>
          <a:bodyPr/>
          <a:lstStyle/>
          <a:p>
            <a:endParaRPr lang="es-ES" noProof="0" dirty="0"/>
          </a:p>
        </p:txBody>
      </p:sp>
      <p:sp>
        <p:nvSpPr>
          <p:cNvPr id="8" name="text-236">
            <a:extLst>
              <a:ext uri="{FF2B5EF4-FFF2-40B4-BE49-F238E27FC236}">
                <a16:creationId xmlns:a16="http://schemas.microsoft.com/office/drawing/2014/main" id="{3602C32F-6255-40AC-878A-10F5E66F6B50}"/>
              </a:ext>
            </a:extLst>
          </p:cNvPr>
          <p:cNvSpPr>
            <a:spLocks noGrp="1"/>
          </p:cNvSpPr>
          <p:nvPr/>
        </p:nvSpPr>
        <p:spPr>
          <a:xfrm>
            <a:off x="714375" y="2362200"/>
            <a:ext cx="3524250" cy="619125"/>
          </a:xfrm>
          <a:prstGeom prst="rect">
            <a:avLst/>
          </a:prstGeom>
          <a:noFill/>
          <a:ln w="0">
            <a:noFill/>
          </a:ln>
        </p:spPr>
        <p:txBody>
          <a:bodyPr wrap="square" lIns="0" tIns="0" rIns="0" bIns="0" anchor="t">
            <a:noAutofit/>
          </a:bodyPr>
          <a:lstStyle/>
          <a:p>
            <a:pPr algn="l">
              <a:defRPr sz="1950" b="1">
                <a:solidFill>
                  <a:srgbClr val="004479"/>
                </a:solidFill>
                <a:latin typeface="Malacitana-Sans"/>
                <a:ea typeface="Malacitana-Sans"/>
                <a:cs typeface="Malacitana-Sans"/>
              </a:defRPr>
            </a:pPr>
            <a:r>
              <a:rPr lang="es-ES" sz="1950" b="1" noProof="0" dirty="0">
                <a:solidFill>
                  <a:srgbClr val="004479"/>
                </a:solidFill>
                <a:latin typeface="Malacitana-Sans"/>
                <a:ea typeface="Malacitana-Sans"/>
                <a:cs typeface="Malacitana-Sans"/>
              </a:rPr>
              <a:t>VOD y una sola máquina</a:t>
            </a:r>
          </a:p>
        </p:txBody>
      </p:sp>
      <p:sp>
        <p:nvSpPr>
          <p:cNvPr id="9" name="text-237">
            <a:extLst>
              <a:ext uri="{FF2B5EF4-FFF2-40B4-BE49-F238E27FC236}">
                <a16:creationId xmlns:a16="http://schemas.microsoft.com/office/drawing/2014/main" id="{7D7EA87C-3ED0-4498-938A-98510B741C5A}"/>
              </a:ext>
            </a:extLst>
          </p:cNvPr>
          <p:cNvSpPr>
            <a:spLocks noGrp="1"/>
          </p:cNvSpPr>
          <p:nvPr/>
        </p:nvSpPr>
        <p:spPr>
          <a:xfrm>
            <a:off x="4867275" y="2362200"/>
            <a:ext cx="3524250" cy="619125"/>
          </a:xfrm>
          <a:prstGeom prst="rect">
            <a:avLst/>
          </a:prstGeom>
          <a:noFill/>
          <a:ln w="0">
            <a:noFill/>
          </a:ln>
        </p:spPr>
        <p:txBody>
          <a:bodyPr wrap="square" lIns="0" tIns="0" rIns="0" bIns="0" anchor="t">
            <a:noAutofit/>
          </a:bodyPr>
          <a:lstStyle/>
          <a:p>
            <a:pPr algn="l">
              <a:defRPr sz="1875" b="0">
                <a:solidFill>
                  <a:srgbClr val="004479"/>
                </a:solidFill>
                <a:latin typeface="Malacitana-Sans"/>
                <a:ea typeface="Malacitana-Sans"/>
                <a:cs typeface="Malacitana-Sans"/>
              </a:defRPr>
            </a:pPr>
            <a:r>
              <a:rPr lang="es-ES" sz="1875" b="0" noProof="0" dirty="0">
                <a:solidFill>
                  <a:srgbClr val="004479"/>
                </a:solidFill>
                <a:latin typeface="Malacitana-Sans"/>
                <a:ea typeface="Malacitana-Sans"/>
                <a:cs typeface="Malacitana-Sans"/>
              </a:rPr>
              <a:t>Directo, carga y alta disponibilidad</a:t>
            </a:r>
          </a:p>
        </p:txBody>
      </p:sp>
      <p:sp>
        <p:nvSpPr>
          <p:cNvPr id="10" name="panel-238">
            <a:extLst>
              <a:ext uri="{FF2B5EF4-FFF2-40B4-BE49-F238E27FC236}">
                <a16:creationId xmlns:a16="http://schemas.microsoft.com/office/drawing/2014/main" id="{0D4EB0C5-72C4-4482-BDE5-9BAF343D0DD8}"/>
              </a:ext>
            </a:extLst>
          </p:cNvPr>
          <p:cNvSpPr>
            <a:spLocks noGrp="1"/>
          </p:cNvSpPr>
          <p:nvPr/>
        </p:nvSpPr>
        <p:spPr>
          <a:xfrm>
            <a:off x="523875" y="3267075"/>
            <a:ext cx="8096250" cy="895350"/>
          </a:xfrm>
          <a:prstGeom prst="rect">
            <a:avLst/>
          </a:prstGeom>
          <a:solidFill>
            <a:srgbClr val="EDF6FA"/>
          </a:solidFill>
          <a:ln w="0">
            <a:noFill/>
          </a:ln>
        </p:spPr>
        <p:txBody>
          <a:bodyPr/>
          <a:lstStyle/>
          <a:p>
            <a:endParaRPr lang="es-ES" noProof="0" dirty="0"/>
          </a:p>
        </p:txBody>
      </p:sp>
      <p:sp>
        <p:nvSpPr>
          <p:cNvPr id="11" name="text-239">
            <a:extLst>
              <a:ext uri="{FF2B5EF4-FFF2-40B4-BE49-F238E27FC236}">
                <a16:creationId xmlns:a16="http://schemas.microsoft.com/office/drawing/2014/main" id="{02BC8D6F-8216-4E6B-ADFC-0D34CE85BAAA}"/>
              </a:ext>
            </a:extLst>
          </p:cNvPr>
          <p:cNvSpPr>
            <a:spLocks noGrp="1"/>
          </p:cNvSpPr>
          <p:nvPr/>
        </p:nvSpPr>
        <p:spPr>
          <a:xfrm>
            <a:off x="714375" y="3457575"/>
            <a:ext cx="3524250" cy="619125"/>
          </a:xfrm>
          <a:prstGeom prst="rect">
            <a:avLst/>
          </a:prstGeom>
          <a:noFill/>
          <a:ln w="0">
            <a:noFill/>
          </a:ln>
        </p:spPr>
        <p:txBody>
          <a:bodyPr wrap="square" lIns="0" tIns="0" rIns="0" bIns="0" anchor="t">
            <a:noAutofit/>
          </a:bodyPr>
          <a:lstStyle/>
          <a:p>
            <a:pPr algn="l">
              <a:defRPr sz="1950" b="1">
                <a:solidFill>
                  <a:srgbClr val="004479"/>
                </a:solidFill>
                <a:latin typeface="Malacitana-Sans"/>
                <a:ea typeface="Malacitana-Sans"/>
                <a:cs typeface="Malacitana-Sans"/>
              </a:defRPr>
            </a:pPr>
            <a:r>
              <a:rPr lang="es-ES" sz="1950" b="1" noProof="0" dirty="0">
                <a:solidFill>
                  <a:srgbClr val="004479"/>
                </a:solidFill>
                <a:latin typeface="Malacitana-Sans"/>
                <a:ea typeface="Malacitana-Sans"/>
                <a:cs typeface="Malacitana-Sans"/>
              </a:rPr>
              <a:t>Identificadores del cliente no atestados</a:t>
            </a:r>
          </a:p>
        </p:txBody>
      </p:sp>
      <p:sp>
        <p:nvSpPr>
          <p:cNvPr id="12" name="text-240">
            <a:extLst>
              <a:ext uri="{FF2B5EF4-FFF2-40B4-BE49-F238E27FC236}">
                <a16:creationId xmlns:a16="http://schemas.microsoft.com/office/drawing/2014/main" id="{4D0B26CD-3A3C-4E10-B151-12F4C5FD595E}"/>
              </a:ext>
            </a:extLst>
          </p:cNvPr>
          <p:cNvSpPr>
            <a:spLocks noGrp="1"/>
          </p:cNvSpPr>
          <p:nvPr/>
        </p:nvSpPr>
        <p:spPr>
          <a:xfrm>
            <a:off x="4867275" y="3457575"/>
            <a:ext cx="3524250" cy="619125"/>
          </a:xfrm>
          <a:prstGeom prst="rect">
            <a:avLst/>
          </a:prstGeom>
          <a:noFill/>
          <a:ln w="0">
            <a:noFill/>
          </a:ln>
        </p:spPr>
        <p:txBody>
          <a:bodyPr wrap="square" lIns="0" tIns="0" rIns="0" bIns="0" anchor="t">
            <a:noAutofit/>
          </a:bodyPr>
          <a:lstStyle/>
          <a:p>
            <a:pPr algn="l">
              <a:defRPr sz="1875" b="0">
                <a:solidFill>
                  <a:srgbClr val="004479"/>
                </a:solidFill>
                <a:latin typeface="Malacitana-Sans"/>
                <a:ea typeface="Malacitana-Sans"/>
                <a:cs typeface="Malacitana-Sans"/>
              </a:defRPr>
            </a:pPr>
            <a:r>
              <a:rPr lang="es-ES" sz="1875" b="0" noProof="0" dirty="0">
                <a:solidFill>
                  <a:srgbClr val="004479"/>
                </a:solidFill>
                <a:latin typeface="Malacitana-Sans"/>
                <a:ea typeface="Malacitana-Sans"/>
                <a:cs typeface="Malacitana-Sans"/>
              </a:rPr>
              <a:t>Identidad robusta, TLS y atestación</a:t>
            </a:r>
          </a:p>
        </p:txBody>
      </p:sp>
      <p:sp>
        <p:nvSpPr>
          <p:cNvPr id="13" name="panel-241">
            <a:extLst>
              <a:ext uri="{FF2B5EF4-FFF2-40B4-BE49-F238E27FC236}">
                <a16:creationId xmlns:a16="http://schemas.microsoft.com/office/drawing/2014/main" id="{611CD1B5-087C-4F76-9718-E273C9DAFDC4}"/>
              </a:ext>
            </a:extLst>
          </p:cNvPr>
          <p:cNvSpPr>
            <a:spLocks noGrp="1"/>
          </p:cNvSpPr>
          <p:nvPr/>
        </p:nvSpPr>
        <p:spPr>
          <a:xfrm>
            <a:off x="523875" y="4362450"/>
            <a:ext cx="8096250" cy="895350"/>
          </a:xfrm>
          <a:prstGeom prst="rect">
            <a:avLst/>
          </a:prstGeom>
          <a:solidFill>
            <a:srgbClr val="EDF6FA"/>
          </a:solidFill>
          <a:ln w="0">
            <a:noFill/>
          </a:ln>
        </p:spPr>
        <p:txBody>
          <a:bodyPr/>
          <a:lstStyle/>
          <a:p>
            <a:endParaRPr lang="es-ES" noProof="0" dirty="0"/>
          </a:p>
        </p:txBody>
      </p:sp>
      <p:sp>
        <p:nvSpPr>
          <p:cNvPr id="14" name="text-242">
            <a:extLst>
              <a:ext uri="{FF2B5EF4-FFF2-40B4-BE49-F238E27FC236}">
                <a16:creationId xmlns:a16="http://schemas.microsoft.com/office/drawing/2014/main" id="{7A977317-E1AA-4488-AD99-BF6EB57DDC8B}"/>
              </a:ext>
            </a:extLst>
          </p:cNvPr>
          <p:cNvSpPr>
            <a:spLocks noGrp="1"/>
          </p:cNvSpPr>
          <p:nvPr/>
        </p:nvSpPr>
        <p:spPr>
          <a:xfrm>
            <a:off x="714375" y="4552950"/>
            <a:ext cx="3524250" cy="619125"/>
          </a:xfrm>
          <a:prstGeom prst="rect">
            <a:avLst/>
          </a:prstGeom>
          <a:noFill/>
          <a:ln w="0">
            <a:noFill/>
          </a:ln>
        </p:spPr>
        <p:txBody>
          <a:bodyPr wrap="square" lIns="0" tIns="0" rIns="0" bIns="0" anchor="t">
            <a:noAutofit/>
          </a:bodyPr>
          <a:lstStyle/>
          <a:p>
            <a:pPr algn="l">
              <a:defRPr sz="1950" b="1">
                <a:solidFill>
                  <a:srgbClr val="004479"/>
                </a:solidFill>
                <a:latin typeface="Malacitana-Sans"/>
                <a:ea typeface="Malacitana-Sans"/>
                <a:cs typeface="Malacitana-Sans"/>
              </a:defRPr>
            </a:pPr>
            <a:r>
              <a:rPr lang="es-ES" sz="1950" b="1" noProof="0" dirty="0">
                <a:solidFill>
                  <a:srgbClr val="004479"/>
                </a:solidFill>
                <a:latin typeface="Malacitana-Sans"/>
                <a:ea typeface="Malacitana-Sans"/>
                <a:cs typeface="Malacitana-Sans"/>
              </a:rPr>
              <a:t>Reglas sin calibrar con tráfico real</a:t>
            </a:r>
          </a:p>
        </p:txBody>
      </p:sp>
      <p:sp>
        <p:nvSpPr>
          <p:cNvPr id="15" name="text-243">
            <a:extLst>
              <a:ext uri="{FF2B5EF4-FFF2-40B4-BE49-F238E27FC236}">
                <a16:creationId xmlns:a16="http://schemas.microsoft.com/office/drawing/2014/main" id="{A0A2C500-0A36-4B8E-A2FE-DF2D5AF2FC09}"/>
              </a:ext>
            </a:extLst>
          </p:cNvPr>
          <p:cNvSpPr>
            <a:spLocks noGrp="1"/>
          </p:cNvSpPr>
          <p:nvPr/>
        </p:nvSpPr>
        <p:spPr>
          <a:xfrm>
            <a:off x="4867275" y="4552950"/>
            <a:ext cx="3524250" cy="619125"/>
          </a:xfrm>
          <a:prstGeom prst="rect">
            <a:avLst/>
          </a:prstGeom>
          <a:noFill/>
          <a:ln w="0">
            <a:noFill/>
          </a:ln>
        </p:spPr>
        <p:txBody>
          <a:bodyPr wrap="square" lIns="0" tIns="0" rIns="0" bIns="0" anchor="t">
            <a:noAutofit/>
          </a:bodyPr>
          <a:lstStyle/>
          <a:p>
            <a:pPr algn="l">
              <a:defRPr sz="1875" b="0">
                <a:solidFill>
                  <a:srgbClr val="004479"/>
                </a:solidFill>
                <a:latin typeface="Malacitana-Sans"/>
                <a:ea typeface="Malacitana-Sans"/>
                <a:cs typeface="Malacitana-Sans"/>
              </a:defRPr>
            </a:pPr>
            <a:r>
              <a:rPr lang="es-ES" sz="1875" b="0" noProof="0" dirty="0">
                <a:solidFill>
                  <a:srgbClr val="004479"/>
                </a:solidFill>
                <a:latin typeface="Malacitana-Sans"/>
                <a:ea typeface="Malacitana-Sans"/>
                <a:cs typeface="Malacitana-Sans"/>
              </a:rPr>
              <a:t>Falsos positivos y </a:t>
            </a:r>
            <a:r>
              <a:rPr lang="es-ES" sz="1875" b="0" noProof="0" dirty="0" err="1">
                <a:solidFill>
                  <a:srgbClr val="004479"/>
                </a:solidFill>
                <a:latin typeface="Malacitana-Sans"/>
                <a:ea typeface="Malacitana-Sans"/>
                <a:cs typeface="Malacitana-Sans"/>
              </a:rPr>
              <a:t>observabilidad</a:t>
            </a:r>
            <a:endParaRPr lang="es-ES" sz="1875" b="0" noProof="0" dirty="0">
              <a:solidFill>
                <a:srgbClr val="004479"/>
              </a:solidFill>
              <a:latin typeface="Malacitana-Sans"/>
              <a:ea typeface="Malacitana-Sans"/>
              <a:cs typeface="Malacitana-Sans"/>
            </a:endParaRPr>
          </a:p>
        </p:txBody>
      </p:sp>
      <p:sp>
        <p:nvSpPr>
          <p:cNvPr id="16" name="panel-244">
            <a:extLst>
              <a:ext uri="{FF2B5EF4-FFF2-40B4-BE49-F238E27FC236}">
                <a16:creationId xmlns:a16="http://schemas.microsoft.com/office/drawing/2014/main" id="{3372DEA6-6FBF-4F35-BC6B-3AB68CD4A1A9}"/>
              </a:ext>
            </a:extLst>
          </p:cNvPr>
          <p:cNvSpPr>
            <a:spLocks noGrp="1"/>
          </p:cNvSpPr>
          <p:nvPr/>
        </p:nvSpPr>
        <p:spPr>
          <a:xfrm>
            <a:off x="523875" y="5724525"/>
            <a:ext cx="8096250" cy="504825"/>
          </a:xfrm>
          <a:prstGeom prst="rect">
            <a:avLst/>
          </a:prstGeom>
          <a:solidFill>
            <a:srgbClr val="004479"/>
          </a:solidFill>
          <a:ln w="0">
            <a:noFill/>
          </a:ln>
        </p:spPr>
        <p:txBody>
          <a:bodyPr/>
          <a:lstStyle/>
          <a:p>
            <a:endParaRPr lang="es-ES" noProof="0" dirty="0"/>
          </a:p>
        </p:txBody>
      </p:sp>
      <p:sp>
        <p:nvSpPr>
          <p:cNvPr id="17" name="text-245">
            <a:extLst>
              <a:ext uri="{FF2B5EF4-FFF2-40B4-BE49-F238E27FC236}">
                <a16:creationId xmlns:a16="http://schemas.microsoft.com/office/drawing/2014/main" id="{A66C33F7-4D92-495C-BF39-0616978E46C2}"/>
              </a:ext>
            </a:extLst>
          </p:cNvPr>
          <p:cNvSpPr>
            <a:spLocks noGrp="1"/>
          </p:cNvSpPr>
          <p:nvPr/>
        </p:nvSpPr>
        <p:spPr>
          <a:xfrm>
            <a:off x="704850" y="5838825"/>
            <a:ext cx="7734300" cy="304800"/>
          </a:xfrm>
          <a:prstGeom prst="rect">
            <a:avLst/>
          </a:prstGeom>
          <a:noFill/>
          <a:ln w="0">
            <a:noFill/>
          </a:ln>
        </p:spPr>
        <p:txBody>
          <a:bodyPr wrap="square" lIns="0" tIns="0" rIns="0" bIns="0" anchor="t">
            <a:noAutofit/>
          </a:bodyPr>
          <a:lstStyle/>
          <a:p>
            <a:pPr algn="l">
              <a:defRPr sz="1725" b="1">
                <a:solidFill>
                  <a:srgbClr val="FFFFFF"/>
                </a:solidFill>
                <a:latin typeface="Malacitana-Sans"/>
                <a:ea typeface="Malacitana-Sans"/>
                <a:cs typeface="Malacitana-Sans"/>
              </a:defRPr>
            </a:pPr>
            <a:r>
              <a:rPr lang="es-ES" sz="1725" b="1" noProof="0" dirty="0">
                <a:solidFill>
                  <a:srgbClr val="FFFFFF"/>
                </a:solidFill>
                <a:latin typeface="Malacitana-Sans"/>
                <a:ea typeface="Malacitana-Sans"/>
                <a:cs typeface="Malacitana-Sans"/>
              </a:rPr>
              <a:t>La defensa reduce el abuso; no recupera copias ya obtenidas.</a:t>
            </a:r>
          </a:p>
        </p:txBody>
      </p:sp>
      <p:sp>
        <p:nvSpPr>
          <p:cNvPr id="20" name="text-7">
            <a:extLst>
              <a:ext uri="{FF2B5EF4-FFF2-40B4-BE49-F238E27FC236}">
                <a16:creationId xmlns:a16="http://schemas.microsoft.com/office/drawing/2014/main" id="{F8A3F543-6AD7-66E4-A17A-663937E3B467}"/>
              </a:ext>
            </a:extLst>
          </p:cNvPr>
          <p:cNvSpPr>
            <a:spLocks noGrp="1"/>
          </p:cNvSpPr>
          <p:nvPr/>
        </p:nvSpPr>
        <p:spPr>
          <a:xfrm>
            <a:off x="523875" y="6486525"/>
            <a:ext cx="7239000" cy="190500"/>
          </a:xfrm>
          <a:prstGeom prst="rect">
            <a:avLst/>
          </a:prstGeom>
          <a:noFill/>
          <a:ln w="0">
            <a:noFill/>
          </a:ln>
        </p:spPr>
        <p:txBody>
          <a:bodyPr wrap="square" lIns="0" tIns="0" rIns="0" bIns="0" anchor="t">
            <a:noAutofit/>
          </a:bodyPr>
          <a:lstStyle/>
          <a:p>
            <a:pPr>
              <a:defRPr sz="900" b="0">
                <a:solidFill>
                  <a:srgbClr val="526778"/>
                </a:solidFill>
                <a:latin typeface="Malacitana-Sans"/>
                <a:ea typeface="Malacitana-Sans"/>
                <a:cs typeface="Malacitana-Sans"/>
              </a:defRPr>
            </a:pPr>
            <a:r>
              <a:rPr lang="es-ES" sz="900" dirty="0">
                <a:solidFill>
                  <a:srgbClr val="526778"/>
                </a:solidFill>
                <a:latin typeface="Malacitana-Sans"/>
              </a:rPr>
              <a:t>EVALUACIÓN DE SEGURIDAD EN ECOSISTEMAS WIDEVINE DRM </a:t>
            </a:r>
            <a:r>
              <a:rPr lang="es-ES" sz="900" b="0" noProof="0" dirty="0">
                <a:solidFill>
                  <a:srgbClr val="526778"/>
                </a:solidFill>
                <a:latin typeface="Malacitana-Sans"/>
                <a:ea typeface="Malacitana-Sans"/>
                <a:cs typeface="Malacitana-Sans"/>
              </a:rPr>
              <a:t>· JESÚS RAMÍREZ GÁLVEZ</a:t>
            </a:r>
          </a:p>
        </p:txBody>
      </p:sp>
    </p:spTree>
    <p:extLst>
      <p:ext uri="{BB962C8B-B14F-4D97-AF65-F5344CB8AC3E}">
        <p14:creationId xmlns:p14="http://schemas.microsoft.com/office/powerpoint/2010/main" val="2136667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9" name="text-246">
            <a:extLst>
              <a:ext uri="{FF2B5EF4-FFF2-40B4-BE49-F238E27FC236}">
                <a16:creationId xmlns:a16="http://schemas.microsoft.com/office/drawing/2014/main" id="{FAFC7C67-C427-4EDA-9743-3C9670D0A453}"/>
              </a:ext>
            </a:extLst>
          </p:cNvPr>
          <p:cNvSpPr>
            <a:spLocks noGrp="1"/>
          </p:cNvSpPr>
          <p:nvPr/>
        </p:nvSpPr>
        <p:spPr>
          <a:xfrm>
            <a:off x="609600" y="619125"/>
            <a:ext cx="7924800" cy="1066800"/>
          </a:xfrm>
          <a:prstGeom prst="rect">
            <a:avLst/>
          </a:prstGeom>
          <a:noFill/>
          <a:ln w="0">
            <a:noFill/>
          </a:ln>
        </p:spPr>
        <p:txBody>
          <a:bodyPr wrap="square" lIns="0" tIns="0" rIns="0" bIns="0" anchor="t">
            <a:noAutofit/>
          </a:bodyPr>
          <a:lstStyle/>
          <a:p>
            <a:pPr algn="ctr">
              <a:defRPr sz="3075" b="1">
                <a:solidFill>
                  <a:srgbClr val="FFFFFF"/>
                </a:solidFill>
                <a:latin typeface="Malacitana-Sans"/>
                <a:ea typeface="Malacitana-Sans"/>
                <a:cs typeface="Malacitana-Sans"/>
              </a:defRPr>
            </a:pPr>
            <a:r>
              <a:rPr lang="es-ES" sz="3075" b="1" noProof="0" dirty="0">
                <a:solidFill>
                  <a:srgbClr val="FFFFFF"/>
                </a:solidFill>
                <a:latin typeface="Malacitana-Sans"/>
                <a:ea typeface="Malacitana-Sans"/>
                <a:cs typeface="Malacitana-Sans"/>
              </a:rPr>
              <a:t>La seguridad debe acompañar</a:t>
            </a:r>
          </a:p>
          <a:p>
            <a:pPr algn="ctr">
              <a:defRPr sz="3075" b="1">
                <a:solidFill>
                  <a:srgbClr val="FFFFFF"/>
                </a:solidFill>
                <a:latin typeface="Malacitana-Sans"/>
                <a:ea typeface="Malacitana-Sans"/>
                <a:cs typeface="Malacitana-Sans"/>
              </a:defRPr>
            </a:pPr>
            <a:r>
              <a:rPr lang="es-ES" sz="3075" b="1" noProof="0" dirty="0">
                <a:solidFill>
                  <a:srgbClr val="FFFFFF"/>
                </a:solidFill>
                <a:latin typeface="Malacitana-Sans"/>
                <a:ea typeface="Malacitana-Sans"/>
                <a:cs typeface="Malacitana-Sans"/>
              </a:rPr>
              <a:t>a toda la reproducción</a:t>
            </a:r>
          </a:p>
        </p:txBody>
      </p:sp>
      <p:sp>
        <p:nvSpPr>
          <p:cNvPr id="2" name="text-247">
            <a:extLst>
              <a:ext uri="{FF2B5EF4-FFF2-40B4-BE49-F238E27FC236}">
                <a16:creationId xmlns:a16="http://schemas.microsoft.com/office/drawing/2014/main" id="{2013F5E3-A0E7-4896-9FB5-D2F20970DDEC}"/>
              </a:ext>
            </a:extLst>
          </p:cNvPr>
          <p:cNvSpPr>
            <a:spLocks noGrp="1"/>
          </p:cNvSpPr>
          <p:nvPr/>
        </p:nvSpPr>
        <p:spPr>
          <a:xfrm>
            <a:off x="523875" y="4581525"/>
            <a:ext cx="2571750" cy="409575"/>
          </a:xfrm>
          <a:prstGeom prst="rect">
            <a:avLst/>
          </a:prstGeom>
          <a:noFill/>
          <a:ln w="0">
            <a:noFill/>
          </a:ln>
        </p:spPr>
        <p:txBody>
          <a:bodyPr wrap="square" lIns="0" tIns="0" rIns="0" bIns="0" anchor="t">
            <a:noAutofit/>
          </a:bodyPr>
          <a:lstStyle/>
          <a:p>
            <a:pPr algn="ctr">
              <a:defRPr sz="2175" b="1">
                <a:solidFill>
                  <a:srgbClr val="00AAD6"/>
                </a:solidFill>
                <a:latin typeface="Malacitana-Sans"/>
                <a:ea typeface="Malacitana-Sans"/>
                <a:cs typeface="Malacitana-Sans"/>
              </a:defRPr>
            </a:pPr>
            <a:r>
              <a:rPr lang="es-ES" sz="2175" b="1" noProof="0" dirty="0">
                <a:solidFill>
                  <a:srgbClr val="00AAD6"/>
                </a:solidFill>
                <a:latin typeface="Malacitana-Sans"/>
                <a:ea typeface="Malacitana-Sans"/>
                <a:cs typeface="Malacitana-Sans"/>
              </a:rPr>
              <a:t>Fase 0</a:t>
            </a:r>
          </a:p>
        </p:txBody>
      </p:sp>
      <p:sp>
        <p:nvSpPr>
          <p:cNvPr id="3" name="text-248">
            <a:extLst>
              <a:ext uri="{FF2B5EF4-FFF2-40B4-BE49-F238E27FC236}">
                <a16:creationId xmlns:a16="http://schemas.microsoft.com/office/drawing/2014/main" id="{EE5703AD-3A6D-4CA1-99F9-B1C0D5F56814}"/>
              </a:ext>
            </a:extLst>
          </p:cNvPr>
          <p:cNvSpPr>
            <a:spLocks noGrp="1"/>
          </p:cNvSpPr>
          <p:nvPr/>
        </p:nvSpPr>
        <p:spPr>
          <a:xfrm>
            <a:off x="523875" y="5057775"/>
            <a:ext cx="2571750" cy="542925"/>
          </a:xfrm>
          <a:prstGeom prst="rect">
            <a:avLst/>
          </a:prstGeom>
          <a:noFill/>
          <a:ln w="0">
            <a:noFill/>
          </a:ln>
        </p:spPr>
        <p:txBody>
          <a:bodyPr wrap="square" lIns="0" tIns="0" rIns="0" bIns="0" anchor="t">
            <a:noAutofit/>
          </a:bodyPr>
          <a:lstStyle/>
          <a:p>
            <a:pPr algn="ctr">
              <a:defRPr sz="1950" b="0">
                <a:solidFill>
                  <a:srgbClr val="FFFFFF"/>
                </a:solidFill>
                <a:latin typeface="Malacitana-Sans"/>
                <a:ea typeface="Malacitana-Sans"/>
                <a:cs typeface="Malacitana-Sans"/>
              </a:defRPr>
            </a:pPr>
            <a:r>
              <a:rPr lang="es-ES" sz="1950" b="0" noProof="0" dirty="0">
                <a:solidFill>
                  <a:srgbClr val="FFFFFF"/>
                </a:solidFill>
                <a:latin typeface="Malacitana-Sans"/>
                <a:ea typeface="Malacitana-Sans"/>
                <a:cs typeface="Malacitana-Sans"/>
              </a:rPr>
              <a:t>DRM funcional</a:t>
            </a:r>
          </a:p>
        </p:txBody>
      </p:sp>
      <p:sp>
        <p:nvSpPr>
          <p:cNvPr id="4" name="text-249">
            <a:extLst>
              <a:ext uri="{FF2B5EF4-FFF2-40B4-BE49-F238E27FC236}">
                <a16:creationId xmlns:a16="http://schemas.microsoft.com/office/drawing/2014/main" id="{EF315FC1-B13D-4128-99B4-DE8B805D5A39}"/>
              </a:ext>
            </a:extLst>
          </p:cNvPr>
          <p:cNvSpPr>
            <a:spLocks noGrp="1"/>
          </p:cNvSpPr>
          <p:nvPr/>
        </p:nvSpPr>
        <p:spPr>
          <a:xfrm>
            <a:off x="3286125" y="4581525"/>
            <a:ext cx="2571750" cy="409575"/>
          </a:xfrm>
          <a:prstGeom prst="rect">
            <a:avLst/>
          </a:prstGeom>
          <a:noFill/>
          <a:ln w="0">
            <a:noFill/>
          </a:ln>
        </p:spPr>
        <p:txBody>
          <a:bodyPr wrap="square" lIns="0" tIns="0" rIns="0" bIns="0" anchor="t">
            <a:noAutofit/>
          </a:bodyPr>
          <a:lstStyle/>
          <a:p>
            <a:pPr algn="ctr">
              <a:defRPr sz="2175" b="1">
                <a:solidFill>
                  <a:srgbClr val="00AAD6"/>
                </a:solidFill>
                <a:latin typeface="Malacitana-Sans"/>
                <a:ea typeface="Malacitana-Sans"/>
                <a:cs typeface="Malacitana-Sans"/>
              </a:defRPr>
            </a:pPr>
            <a:r>
              <a:rPr lang="es-ES" sz="2175" b="1" noProof="0" dirty="0">
                <a:solidFill>
                  <a:srgbClr val="00AAD6"/>
                </a:solidFill>
                <a:latin typeface="Malacitana-Sans"/>
                <a:ea typeface="Malacitana-Sans"/>
                <a:cs typeface="Malacitana-Sans"/>
              </a:rPr>
              <a:t>Fase 1</a:t>
            </a:r>
          </a:p>
        </p:txBody>
      </p:sp>
      <p:sp>
        <p:nvSpPr>
          <p:cNvPr id="5" name="text-250">
            <a:extLst>
              <a:ext uri="{FF2B5EF4-FFF2-40B4-BE49-F238E27FC236}">
                <a16:creationId xmlns:a16="http://schemas.microsoft.com/office/drawing/2014/main" id="{175EF2ED-3D1B-41EB-8D69-A6621EB78000}"/>
              </a:ext>
            </a:extLst>
          </p:cNvPr>
          <p:cNvSpPr>
            <a:spLocks noGrp="1"/>
          </p:cNvSpPr>
          <p:nvPr/>
        </p:nvSpPr>
        <p:spPr>
          <a:xfrm>
            <a:off x="3286125" y="5057775"/>
            <a:ext cx="2571750" cy="542925"/>
          </a:xfrm>
          <a:prstGeom prst="rect">
            <a:avLst/>
          </a:prstGeom>
          <a:noFill/>
          <a:ln w="0">
            <a:noFill/>
          </a:ln>
        </p:spPr>
        <p:txBody>
          <a:bodyPr wrap="square" lIns="0" tIns="0" rIns="0" bIns="0" anchor="t">
            <a:noAutofit/>
          </a:bodyPr>
          <a:lstStyle/>
          <a:p>
            <a:pPr algn="ctr">
              <a:defRPr sz="1950" b="0">
                <a:solidFill>
                  <a:srgbClr val="FFFFFF"/>
                </a:solidFill>
                <a:latin typeface="Malacitana-Sans"/>
                <a:ea typeface="Malacitana-Sans"/>
                <a:cs typeface="Malacitana-Sans"/>
              </a:defRPr>
            </a:pPr>
            <a:r>
              <a:rPr lang="es-ES" sz="1950" b="0" noProof="0" dirty="0">
                <a:solidFill>
                  <a:srgbClr val="FFFFFF"/>
                </a:solidFill>
                <a:latin typeface="Malacitana-Sans"/>
                <a:ea typeface="Malacitana-Sans"/>
                <a:cs typeface="Malacitana-Sans"/>
              </a:rPr>
              <a:t>Acceso controlado</a:t>
            </a:r>
          </a:p>
        </p:txBody>
      </p:sp>
      <p:sp>
        <p:nvSpPr>
          <p:cNvPr id="6" name="text-251">
            <a:extLst>
              <a:ext uri="{FF2B5EF4-FFF2-40B4-BE49-F238E27FC236}">
                <a16:creationId xmlns:a16="http://schemas.microsoft.com/office/drawing/2014/main" id="{F5048AE7-6F76-4B66-958E-C76DF332A536}"/>
              </a:ext>
            </a:extLst>
          </p:cNvPr>
          <p:cNvSpPr>
            <a:spLocks noGrp="1"/>
          </p:cNvSpPr>
          <p:nvPr/>
        </p:nvSpPr>
        <p:spPr>
          <a:xfrm>
            <a:off x="6048375" y="4581525"/>
            <a:ext cx="2571750" cy="409575"/>
          </a:xfrm>
          <a:prstGeom prst="rect">
            <a:avLst/>
          </a:prstGeom>
          <a:noFill/>
          <a:ln w="0">
            <a:noFill/>
          </a:ln>
        </p:spPr>
        <p:txBody>
          <a:bodyPr wrap="square" lIns="0" tIns="0" rIns="0" bIns="0" anchor="t">
            <a:noAutofit/>
          </a:bodyPr>
          <a:lstStyle/>
          <a:p>
            <a:pPr algn="ctr">
              <a:defRPr sz="2175" b="1">
                <a:solidFill>
                  <a:srgbClr val="00AAD6"/>
                </a:solidFill>
                <a:latin typeface="Malacitana-Sans"/>
                <a:ea typeface="Malacitana-Sans"/>
                <a:cs typeface="Malacitana-Sans"/>
              </a:defRPr>
            </a:pPr>
            <a:r>
              <a:rPr lang="es-ES" sz="2175" b="1" noProof="0" dirty="0">
                <a:solidFill>
                  <a:srgbClr val="00AAD6"/>
                </a:solidFill>
                <a:latin typeface="Malacitana-Sans"/>
                <a:ea typeface="Malacitana-Sans"/>
                <a:cs typeface="Malacitana-Sans"/>
              </a:rPr>
              <a:t>Fase 2</a:t>
            </a:r>
          </a:p>
        </p:txBody>
      </p:sp>
      <p:sp>
        <p:nvSpPr>
          <p:cNvPr id="7" name="text-252">
            <a:extLst>
              <a:ext uri="{FF2B5EF4-FFF2-40B4-BE49-F238E27FC236}">
                <a16:creationId xmlns:a16="http://schemas.microsoft.com/office/drawing/2014/main" id="{8FB50A9F-B393-4AA3-AE47-3AC0C64A0138}"/>
              </a:ext>
            </a:extLst>
          </p:cNvPr>
          <p:cNvSpPr>
            <a:spLocks noGrp="1"/>
          </p:cNvSpPr>
          <p:nvPr/>
        </p:nvSpPr>
        <p:spPr>
          <a:xfrm>
            <a:off x="6048375" y="5057775"/>
            <a:ext cx="2571750" cy="542925"/>
          </a:xfrm>
          <a:prstGeom prst="rect">
            <a:avLst/>
          </a:prstGeom>
          <a:noFill/>
          <a:ln w="0">
            <a:noFill/>
          </a:ln>
        </p:spPr>
        <p:txBody>
          <a:bodyPr wrap="square" lIns="0" tIns="0" rIns="0" bIns="0" anchor="t">
            <a:noAutofit/>
          </a:bodyPr>
          <a:lstStyle/>
          <a:p>
            <a:pPr algn="ctr">
              <a:defRPr sz="1950" b="0">
                <a:solidFill>
                  <a:srgbClr val="FFFFFF"/>
                </a:solidFill>
                <a:latin typeface="Malacitana-Sans"/>
                <a:ea typeface="Malacitana-Sans"/>
                <a:cs typeface="Malacitana-Sans"/>
              </a:defRPr>
            </a:pPr>
            <a:r>
              <a:rPr lang="es-ES" sz="1950" b="0" noProof="0" dirty="0">
                <a:solidFill>
                  <a:srgbClr val="FFFFFF"/>
                </a:solidFill>
                <a:latin typeface="Malacitana-Sans"/>
                <a:ea typeface="Malacitana-Sans"/>
                <a:cs typeface="Malacitana-Sans"/>
              </a:rPr>
              <a:t>Detección y respuesta</a:t>
            </a:r>
          </a:p>
        </p:txBody>
      </p:sp>
      <p:sp>
        <p:nvSpPr>
          <p:cNvPr id="8" name="text-253">
            <a:extLst>
              <a:ext uri="{FF2B5EF4-FFF2-40B4-BE49-F238E27FC236}">
                <a16:creationId xmlns:a16="http://schemas.microsoft.com/office/drawing/2014/main" id="{21B6E321-43A7-40E3-ABFA-3ABEFCCDC355}"/>
              </a:ext>
            </a:extLst>
          </p:cNvPr>
          <p:cNvSpPr>
            <a:spLocks noGrp="1"/>
          </p:cNvSpPr>
          <p:nvPr/>
        </p:nvSpPr>
        <p:spPr>
          <a:xfrm>
            <a:off x="523875" y="5905500"/>
            <a:ext cx="8096250" cy="419100"/>
          </a:xfrm>
          <a:prstGeom prst="rect">
            <a:avLst/>
          </a:prstGeom>
          <a:noFill/>
          <a:ln w="0">
            <a:noFill/>
          </a:ln>
        </p:spPr>
        <p:txBody>
          <a:bodyPr wrap="square" lIns="0" tIns="0" rIns="0" bIns="0" anchor="t">
            <a:noAutofit/>
          </a:bodyPr>
          <a:lstStyle/>
          <a:p>
            <a:pPr algn="ctr">
              <a:defRPr sz="2250" b="1">
                <a:solidFill>
                  <a:srgbClr val="FFFFFF"/>
                </a:solidFill>
                <a:latin typeface="Malacitana-Sans"/>
                <a:ea typeface="Malacitana-Sans"/>
                <a:cs typeface="Malacitana-Sans"/>
              </a:defRPr>
            </a:pPr>
            <a:r>
              <a:rPr lang="es-ES" sz="2250" b="1" noProof="0" dirty="0">
                <a:solidFill>
                  <a:srgbClr val="FFFFFF"/>
                </a:solidFill>
                <a:latin typeface="Malacitana-Sans"/>
                <a:ea typeface="Malacitana-Sans"/>
                <a:cs typeface="Malacitana-Sans"/>
              </a:rPr>
              <a:t>Identidad · permisos · sesión · telemetría</a:t>
            </a:r>
          </a:p>
        </p:txBody>
      </p:sp>
    </p:spTree>
    <p:extLst>
      <p:ext uri="{BB962C8B-B14F-4D97-AF65-F5344CB8AC3E}">
        <p14:creationId xmlns:p14="http://schemas.microsoft.com/office/powerpoint/2010/main" val="412381360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TotalTime>
  <Words>5236</Words>
  <Application>Microsoft Office PowerPoint</Application>
  <DocSecurity>0</DocSecurity>
  <PresentationFormat>Presentación en pantalla (4:3)</PresentationFormat>
  <Paragraphs>429</Paragraphs>
  <Slides>18</Slides>
  <Notes>18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Calibri Light</vt:lpstr>
      <vt:lpstr>Malacitana-Sans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Jesus Ramirez Galvez</cp:lastModifiedBy>
  <cp:revision>8</cp:revision>
  <dcterms:created xsi:type="dcterms:W3CDTF">2026-09-19T21:34:25Z</dcterms:created>
  <dcterms:modified xsi:type="dcterms:W3CDTF">2026-09-21T19:46:17Z</dcterms:modified>
</cp:coreProperties>
</file>